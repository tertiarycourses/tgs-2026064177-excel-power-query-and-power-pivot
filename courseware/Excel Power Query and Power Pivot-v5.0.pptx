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603504"/>
            <a:ext cx="1874519" cy="1024128"/>
          </a:xfrm>
          <a:prstGeom prst="rect">
            <a:avLst/>
          </a:prstGeom>
          <a:solidFill>
            <a:srgbClr val="217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46920" y="694944"/>
            <a:ext cx="1874519" cy="457200"/>
          </a:xfrm>
          <a:prstGeom prst="rect">
            <a:avLst/>
          </a:prstGeom>
          <a:noFill/>
        </p:spPr>
        <p:txBody>
          <a:bodyPr wrap="square" anchor="t">
            <a:spAutoFit/>
          </a:bodyPr>
          <a:lstStyle/>
          <a:p>
            <a:pPr algn="ctr">
              <a:spcAft>
                <a:spcPts val="400"/>
              </a:spcAft>
            </a:pPr>
            <a:r>
              <a:rPr sz="2100" b="1">
                <a:solidFill>
                  <a:srgbClr val="FFFFFF"/>
                </a:solidFill>
                <a:latin typeface="Arial"/>
              </a:rPr>
              <a:t>EXCEL</a:t>
            </a:r>
          </a:p>
        </p:txBody>
      </p:sp>
      <p:sp>
        <p:nvSpPr>
          <p:cNvPr id="8" name="TextBox 7"/>
          <p:cNvSpPr txBox="1"/>
          <p:nvPr/>
        </p:nvSpPr>
        <p:spPr>
          <a:xfrm>
            <a:off x="9646920" y="1152144"/>
            <a:ext cx="1874519" cy="384048"/>
          </a:xfrm>
          <a:prstGeom prst="rect">
            <a:avLst/>
          </a:prstGeom>
          <a:noFill/>
        </p:spPr>
        <p:txBody>
          <a:bodyPr wrap="square" anchor="t">
            <a:spAutoFit/>
          </a:bodyPr>
          <a:lstStyle/>
          <a:p>
            <a:pPr algn="ctr">
              <a:spcAft>
                <a:spcPts val="400"/>
              </a:spcAft>
            </a:pPr>
            <a:r>
              <a:rPr sz="850" b="1">
                <a:solidFill>
                  <a:srgbClr val="FFFFFF"/>
                </a:solidFill>
                <a:latin typeface="Arial"/>
              </a:rPr>
              <a:t>POWER QUERY · PIVOT</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Excel Power Query and Power Pivot</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TGS-2026064177</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v5.0  ·  12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30551"/>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3055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1" name="TextBox 10"/>
          <p:cNvSpPr txBox="1"/>
          <p:nvPr/>
        </p:nvSpPr>
        <p:spPr>
          <a:xfrm>
            <a:off x="1645920" y="2148839"/>
            <a:ext cx="4114800" cy="411480"/>
          </a:xfrm>
          <a:prstGeom prst="rect">
            <a:avLst/>
          </a:prstGeom>
          <a:noFill/>
        </p:spPr>
        <p:txBody>
          <a:bodyPr wrap="square" anchor="t">
            <a:spAutoFit/>
          </a:bodyPr>
          <a:lstStyle/>
          <a:p>
            <a:pPr algn="l">
              <a:spcAft>
                <a:spcPts val="400"/>
              </a:spcAft>
            </a:pPr>
            <a:r>
              <a:rPr sz="1500" b="1">
                <a:solidFill>
                  <a:srgbClr val="1F6FEB"/>
                </a:solidFill>
                <a:latin typeface="Arial"/>
              </a:rPr>
              <a:t>AM Attendance</a:t>
            </a:r>
          </a:p>
        </p:txBody>
      </p:sp>
      <p:sp>
        <p:nvSpPr>
          <p:cNvPr id="12" name="TextBox 11"/>
          <p:cNvSpPr txBox="1"/>
          <p:nvPr/>
        </p:nvSpPr>
        <p:spPr>
          <a:xfrm>
            <a:off x="1069848" y="271576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Scan at the start of each training day.</a:t>
            </a:r>
          </a:p>
        </p:txBody>
      </p:sp>
      <p:sp>
        <p:nvSpPr>
          <p:cNvPr id="13" name="Rectangle 12"/>
          <p:cNvSpPr/>
          <p:nvPr/>
        </p:nvSpPr>
        <p:spPr>
          <a:xfrm>
            <a:off x="6217920" y="187451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74519"/>
            <a:ext cx="91440"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73952" y="213055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213055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17" name="TextBox 16"/>
          <p:cNvSpPr txBox="1"/>
          <p:nvPr/>
        </p:nvSpPr>
        <p:spPr>
          <a:xfrm>
            <a:off x="7086600" y="2148839"/>
            <a:ext cx="4114800" cy="411480"/>
          </a:xfrm>
          <a:prstGeom prst="rect">
            <a:avLst/>
          </a:prstGeom>
          <a:noFill/>
        </p:spPr>
        <p:txBody>
          <a:bodyPr wrap="square" anchor="t">
            <a:spAutoFit/>
          </a:bodyPr>
          <a:lstStyle/>
          <a:p>
            <a:pPr algn="l">
              <a:spcAft>
                <a:spcPts val="400"/>
              </a:spcAft>
            </a:pPr>
            <a:r>
              <a:rPr sz="1500" b="1">
                <a:solidFill>
                  <a:srgbClr val="10B981"/>
                </a:solidFill>
                <a:latin typeface="Arial"/>
              </a:rPr>
              <a:t>PM Attendance</a:t>
            </a:r>
          </a:p>
        </p:txBody>
      </p:sp>
      <p:sp>
        <p:nvSpPr>
          <p:cNvPr id="18" name="TextBox 17"/>
          <p:cNvSpPr txBox="1"/>
          <p:nvPr/>
        </p:nvSpPr>
        <p:spPr>
          <a:xfrm>
            <a:off x="6510528" y="271576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Scan after the lunch break.</a:t>
            </a:r>
          </a:p>
        </p:txBody>
      </p:sp>
      <p:sp>
        <p:nvSpPr>
          <p:cNvPr id="19" name="Rectangle 18"/>
          <p:cNvSpPr/>
          <p:nvPr/>
        </p:nvSpPr>
        <p:spPr>
          <a:xfrm>
            <a:off x="777240" y="402335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23359"/>
            <a:ext cx="91440"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33272" y="4279391"/>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 y="427939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23" name="TextBox 22"/>
          <p:cNvSpPr txBox="1"/>
          <p:nvPr/>
        </p:nvSpPr>
        <p:spPr>
          <a:xfrm>
            <a:off x="1645920" y="4297679"/>
            <a:ext cx="4114800" cy="411480"/>
          </a:xfrm>
          <a:prstGeom prst="rect">
            <a:avLst/>
          </a:prstGeom>
          <a:noFill/>
        </p:spPr>
        <p:txBody>
          <a:bodyPr wrap="square" anchor="t">
            <a:spAutoFit/>
          </a:bodyPr>
          <a:lstStyle/>
          <a:p>
            <a:pPr algn="l">
              <a:spcAft>
                <a:spcPts val="400"/>
              </a:spcAft>
            </a:pPr>
            <a:r>
              <a:rPr sz="1500" b="1">
                <a:solidFill>
                  <a:srgbClr val="7C3AED"/>
                </a:solidFill>
                <a:latin typeface="Arial"/>
              </a:rPr>
              <a:t>Assessment Attendance</a:t>
            </a:r>
          </a:p>
        </p:txBody>
      </p:sp>
      <p:sp>
        <p:nvSpPr>
          <p:cNvPr id="24" name="TextBox 23"/>
          <p:cNvSpPr txBox="1"/>
          <p:nvPr/>
        </p:nvSpPr>
        <p:spPr>
          <a:xfrm>
            <a:off x="1069848" y="486460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Scan before the final assessment begins.</a:t>
            </a:r>
          </a:p>
        </p:txBody>
      </p:sp>
      <p:sp>
        <p:nvSpPr>
          <p:cNvPr id="25" name="Rectangle 24"/>
          <p:cNvSpPr/>
          <p:nvPr/>
        </p:nvSpPr>
        <p:spPr>
          <a:xfrm>
            <a:off x="6217920" y="402335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4023359"/>
            <a:ext cx="91440"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73952" y="4279391"/>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427939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29" name="TextBox 28"/>
          <p:cNvSpPr txBox="1"/>
          <p:nvPr/>
        </p:nvSpPr>
        <p:spPr>
          <a:xfrm>
            <a:off x="7086600" y="4297679"/>
            <a:ext cx="4114800" cy="411480"/>
          </a:xfrm>
          <a:prstGeom prst="rect">
            <a:avLst/>
          </a:prstGeom>
          <a:noFill/>
        </p:spPr>
        <p:txBody>
          <a:bodyPr wrap="square" anchor="t">
            <a:spAutoFit/>
          </a:bodyPr>
          <a:lstStyle/>
          <a:p>
            <a:pPr algn="l">
              <a:spcAft>
                <a:spcPts val="400"/>
              </a:spcAft>
            </a:pPr>
            <a:r>
              <a:rPr sz="1500" b="1">
                <a:solidFill>
                  <a:srgbClr val="F59E0B"/>
                </a:solidFill>
                <a:latin typeface="Arial"/>
              </a:rPr>
              <a:t>75% Minimum</a:t>
            </a:r>
          </a:p>
        </p:txBody>
      </p:sp>
      <p:sp>
        <p:nvSpPr>
          <p:cNvPr id="30" name="TextBox 29"/>
          <p:cNvSpPr txBox="1"/>
          <p:nvPr/>
        </p:nvSpPr>
        <p:spPr>
          <a:xfrm>
            <a:off x="6510528" y="486460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Attendance below 75% forfeits funding and certification.</a:t>
            </a:r>
          </a:p>
        </p:txBody>
      </p:sp>
      <p:sp>
        <p:nvSpPr>
          <p:cNvPr id="31" name="TextBox 30"/>
          <p:cNvSpPr txBox="1"/>
          <p:nvPr/>
        </p:nvSpPr>
        <p:spPr>
          <a:xfrm>
            <a:off x="777240" y="5943600"/>
            <a:ext cx="10634472" cy="457200"/>
          </a:xfrm>
          <a:prstGeom prst="rect">
            <a:avLst/>
          </a:prstGeom>
          <a:noFill/>
        </p:spPr>
        <p:txBody>
          <a:bodyPr wrap="square" anchor="t">
            <a:spAutoFit/>
          </a:bodyPr>
          <a:lstStyle/>
          <a:p>
            <a:pPr algn="l">
              <a:spcAft>
                <a:spcPts val="400"/>
              </a:spcAft>
            </a:pPr>
            <a:r>
              <a:rPr sz="1200" b="0">
                <a:solidFill>
                  <a:srgbClr val="5B6372"/>
                </a:solidFill>
                <a:latin typeface="Arial"/>
              </a:rPr>
              <a:t>The trainer will display the SSG digital attendance QR code — scan it with your phone camera and submit.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29184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9184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91640" y="2240280"/>
            <a:ext cx="1463040" cy="146304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91640" y="2240280"/>
            <a:ext cx="1463040" cy="1463040"/>
          </a:xfrm>
          <a:prstGeom prst="rect">
            <a:avLst/>
          </a:prstGeom>
          <a:noFill/>
        </p:spPr>
        <p:txBody>
          <a:bodyPr wrap="square" anchor="ctr">
            <a:spAutoFit/>
          </a:bodyPr>
          <a:lstStyle/>
          <a:p>
            <a:pPr algn="ctr">
              <a:spcAft>
                <a:spcPts val="400"/>
              </a:spcAft>
            </a:pPr>
            <a:r>
              <a:rPr sz="4400" b="1">
                <a:solidFill>
                  <a:srgbClr val="FFFFFF"/>
                </a:solidFill>
                <a:latin typeface="Arial"/>
              </a:rPr>
              <a:t>T</a:t>
            </a:r>
          </a:p>
        </p:txBody>
      </p:sp>
      <p:sp>
        <p:nvSpPr>
          <p:cNvPr id="11" name="TextBox 10"/>
          <p:cNvSpPr txBox="1"/>
          <p:nvPr/>
        </p:nvSpPr>
        <p:spPr>
          <a:xfrm>
            <a:off x="960120" y="3886200"/>
            <a:ext cx="2926080" cy="457200"/>
          </a:xfrm>
          <a:prstGeom prst="rect">
            <a:avLst/>
          </a:prstGeom>
          <a:noFill/>
        </p:spPr>
        <p:txBody>
          <a:bodyPr wrap="square" anchor="t">
            <a:spAutoFit/>
          </a:bodyPr>
          <a:lstStyle/>
          <a:p>
            <a:pPr algn="ctr">
              <a:spcAft>
                <a:spcPts val="400"/>
              </a:spcAft>
            </a:pPr>
            <a:r>
              <a:rPr sz="1800" b="1">
                <a:solidFill>
                  <a:srgbClr val="161B26"/>
                </a:solidFill>
                <a:latin typeface="Arial"/>
              </a:rPr>
              <a:t>Your Trainer</a:t>
            </a:r>
          </a:p>
        </p:txBody>
      </p:sp>
      <p:sp>
        <p:nvSpPr>
          <p:cNvPr id="12" name="TextBox 11"/>
          <p:cNvSpPr txBox="1"/>
          <p:nvPr/>
        </p:nvSpPr>
        <p:spPr>
          <a:xfrm>
            <a:off x="960120" y="4343400"/>
            <a:ext cx="2926080" cy="914400"/>
          </a:xfrm>
          <a:prstGeom prst="rect">
            <a:avLst/>
          </a:prstGeom>
          <a:noFill/>
        </p:spPr>
        <p:txBody>
          <a:bodyPr wrap="square" anchor="t">
            <a:spAutoFit/>
          </a:bodyPr>
          <a:lstStyle/>
          <a:p>
            <a:pPr algn="ctr">
              <a:spcAft>
                <a:spcPts val="400"/>
              </a:spcAft>
            </a:pPr>
            <a:r>
              <a:rPr sz="1200" b="0">
                <a:solidFill>
                  <a:srgbClr val="5B6372"/>
                </a:solidFill>
                <a:latin typeface="Arial"/>
              </a:rPr>
              <a:t>WSQ Certified Trainer &amp; Assessor (ACTA / ACLP)</a:t>
            </a:r>
          </a:p>
        </p:txBody>
      </p:sp>
      <p:sp>
        <p:nvSpPr>
          <p:cNvPr id="13" name="Rectangle 12"/>
          <p:cNvSpPr/>
          <p:nvPr/>
        </p:nvSpPr>
        <p:spPr>
          <a:xfrm>
            <a:off x="4434840" y="178308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82296"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1892808"/>
            <a:ext cx="6492240" cy="292608"/>
          </a:xfrm>
          <a:prstGeom prst="rect">
            <a:avLst/>
          </a:prstGeom>
          <a:noFill/>
        </p:spPr>
        <p:txBody>
          <a:bodyPr wrap="square" anchor="t">
            <a:spAutoFit/>
          </a:bodyPr>
          <a:lstStyle/>
          <a:p>
            <a:pPr algn="l">
              <a:spcAft>
                <a:spcPts val="400"/>
              </a:spcAft>
            </a:pPr>
            <a:r>
              <a:rPr sz="1200" b="1">
                <a:solidFill>
                  <a:srgbClr val="1F6FEB"/>
                </a:solidFill>
                <a:latin typeface="Arial"/>
              </a:rPr>
              <a:t>Qualifications</a:t>
            </a:r>
          </a:p>
        </p:txBody>
      </p:sp>
      <p:sp>
        <p:nvSpPr>
          <p:cNvPr id="16" name="TextBox 15"/>
          <p:cNvSpPr txBox="1"/>
          <p:nvPr/>
        </p:nvSpPr>
        <p:spPr>
          <a:xfrm>
            <a:off x="4709160" y="218541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Degree/Masters in a data or engineering discipline; ACLP-certified.</a:t>
            </a:r>
          </a:p>
        </p:txBody>
      </p:sp>
      <p:sp>
        <p:nvSpPr>
          <p:cNvPr id="17" name="Rectangle 16"/>
          <p:cNvSpPr/>
          <p:nvPr/>
        </p:nvSpPr>
        <p:spPr>
          <a:xfrm>
            <a:off x="4434840" y="288036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2880360"/>
            <a:ext cx="82296"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2990088"/>
            <a:ext cx="6492240" cy="292608"/>
          </a:xfrm>
          <a:prstGeom prst="rect">
            <a:avLst/>
          </a:prstGeom>
          <a:noFill/>
        </p:spPr>
        <p:txBody>
          <a:bodyPr wrap="square" anchor="t">
            <a:spAutoFit/>
          </a:bodyPr>
          <a:lstStyle/>
          <a:p>
            <a:pPr algn="l">
              <a:spcAft>
                <a:spcPts val="400"/>
              </a:spcAft>
            </a:pPr>
            <a:r>
              <a:rPr sz="1200" b="1">
                <a:solidFill>
                  <a:srgbClr val="10B981"/>
                </a:solidFill>
                <a:latin typeface="Arial"/>
              </a:rPr>
              <a:t>Industry Experience</a:t>
            </a:r>
          </a:p>
        </p:txBody>
      </p:sp>
      <p:sp>
        <p:nvSpPr>
          <p:cNvPr id="20" name="TextBox 19"/>
          <p:cNvSpPr txBox="1"/>
          <p:nvPr/>
        </p:nvSpPr>
        <p:spPr>
          <a:xfrm>
            <a:off x="4709160" y="328269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Hands-on practitioner in data analysis and business reporting.</a:t>
            </a:r>
          </a:p>
        </p:txBody>
      </p:sp>
      <p:sp>
        <p:nvSpPr>
          <p:cNvPr id="21" name="Rectangle 20"/>
          <p:cNvSpPr/>
          <p:nvPr/>
        </p:nvSpPr>
        <p:spPr>
          <a:xfrm>
            <a:off x="4434840" y="397764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977640"/>
            <a:ext cx="82296"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4087368"/>
            <a:ext cx="6492240" cy="292608"/>
          </a:xfrm>
          <a:prstGeom prst="rect">
            <a:avLst/>
          </a:prstGeom>
          <a:noFill/>
        </p:spPr>
        <p:txBody>
          <a:bodyPr wrap="square" anchor="t">
            <a:spAutoFit/>
          </a:bodyPr>
          <a:lstStyle/>
          <a:p>
            <a:pPr algn="l">
              <a:spcAft>
                <a:spcPts val="400"/>
              </a:spcAft>
            </a:pPr>
            <a:r>
              <a:rPr sz="1200" b="1">
                <a:solidFill>
                  <a:srgbClr val="7C3AED"/>
                </a:solidFill>
                <a:latin typeface="Arial"/>
              </a:rPr>
              <a:t>Teaching Focus</a:t>
            </a:r>
          </a:p>
        </p:txBody>
      </p:sp>
      <p:sp>
        <p:nvSpPr>
          <p:cNvPr id="24" name="TextBox 23"/>
          <p:cNvSpPr txBox="1"/>
          <p:nvPr/>
        </p:nvSpPr>
        <p:spPr>
          <a:xfrm>
            <a:off x="4709160" y="437997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Practical, lab-driven delivery — you build every artefact yourself.</a:t>
            </a:r>
          </a:p>
        </p:txBody>
      </p:sp>
      <p:sp>
        <p:nvSpPr>
          <p:cNvPr id="25" name="Rectangle 24"/>
          <p:cNvSpPr/>
          <p:nvPr/>
        </p:nvSpPr>
        <p:spPr>
          <a:xfrm>
            <a:off x="4434840" y="507492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5074920"/>
            <a:ext cx="82296"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5184648"/>
            <a:ext cx="6492240" cy="292608"/>
          </a:xfrm>
          <a:prstGeom prst="rect">
            <a:avLst/>
          </a:prstGeom>
          <a:noFill/>
        </p:spPr>
        <p:txBody>
          <a:bodyPr wrap="square" anchor="t">
            <a:spAutoFit/>
          </a:bodyPr>
          <a:lstStyle/>
          <a:p>
            <a:pPr algn="l">
              <a:spcAft>
                <a:spcPts val="400"/>
              </a:spcAft>
            </a:pPr>
            <a:r>
              <a:rPr sz="1200" b="1">
                <a:solidFill>
                  <a:srgbClr val="F59E0B"/>
                </a:solidFill>
                <a:latin typeface="Arial"/>
              </a:rPr>
              <a:t>Contact</a:t>
            </a:r>
          </a:p>
        </p:txBody>
      </p:sp>
      <p:sp>
        <p:nvSpPr>
          <p:cNvPr id="28" name="TextBox 27"/>
          <p:cNvSpPr txBox="1"/>
          <p:nvPr/>
        </p:nvSpPr>
        <p:spPr>
          <a:xfrm>
            <a:off x="4709160" y="547725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enquiry@tertiaryinfotech.com  ·  +65 6100 0613</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29184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9184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91640" y="2240280"/>
            <a:ext cx="1463040" cy="14630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91640" y="2240280"/>
            <a:ext cx="1463040" cy="146304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60120" y="3886200"/>
            <a:ext cx="2926080" cy="457200"/>
          </a:xfrm>
          <a:prstGeom prst="rect">
            <a:avLst/>
          </a:prstGeom>
          <a:noFill/>
        </p:spPr>
        <p:txBody>
          <a:bodyPr wrap="square" anchor="t">
            <a:spAutoFit/>
          </a:bodyPr>
          <a:lstStyle/>
          <a:p>
            <a:pPr algn="ctr">
              <a:spcAft>
                <a:spcPts val="400"/>
              </a:spcAft>
            </a:pPr>
            <a:r>
              <a:rPr sz="1800" b="1">
                <a:solidFill>
                  <a:srgbClr val="161B26"/>
                </a:solidFill>
                <a:latin typeface="Arial"/>
              </a:rPr>
              <a:t>Dr Alfred Ang</a:t>
            </a:r>
          </a:p>
        </p:txBody>
      </p:sp>
      <p:sp>
        <p:nvSpPr>
          <p:cNvPr id="12" name="TextBox 11"/>
          <p:cNvSpPr txBox="1"/>
          <p:nvPr/>
        </p:nvSpPr>
        <p:spPr>
          <a:xfrm>
            <a:off x="960120" y="4343400"/>
            <a:ext cx="2926080" cy="914400"/>
          </a:xfrm>
          <a:prstGeom prst="rect">
            <a:avLst/>
          </a:prstGeom>
          <a:noFill/>
        </p:spPr>
        <p:txBody>
          <a:bodyPr wrap="square" anchor="t">
            <a:spAutoFit/>
          </a:bodyPr>
          <a:lstStyle/>
          <a:p>
            <a:pPr algn="ctr">
              <a:spcAft>
                <a:spcPts val="400"/>
              </a:spcAft>
            </a:pPr>
            <a:r>
              <a:rPr sz="1200" b="0">
                <a:solidFill>
                  <a:srgbClr val="5B6372"/>
                </a:solidFill>
                <a:latin typeface="Arial"/>
              </a:rPr>
              <a:t>Principal Trainer, Tertiary Infotech Academy</a:t>
            </a:r>
          </a:p>
        </p:txBody>
      </p:sp>
      <p:sp>
        <p:nvSpPr>
          <p:cNvPr id="13" name="Rectangle 12"/>
          <p:cNvSpPr/>
          <p:nvPr/>
        </p:nvSpPr>
        <p:spPr>
          <a:xfrm>
            <a:off x="4434840" y="178308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783080"/>
            <a:ext cx="82296"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1892808"/>
            <a:ext cx="6492240" cy="292608"/>
          </a:xfrm>
          <a:prstGeom prst="rect">
            <a:avLst/>
          </a:prstGeom>
          <a:noFill/>
        </p:spPr>
        <p:txBody>
          <a:bodyPr wrap="square" anchor="t">
            <a:spAutoFit/>
          </a:bodyPr>
          <a:lstStyle/>
          <a:p>
            <a:pPr algn="l">
              <a:spcAft>
                <a:spcPts val="400"/>
              </a:spcAft>
            </a:pPr>
            <a:r>
              <a:rPr sz="1200" b="1">
                <a:solidFill>
                  <a:srgbClr val="1F6FEB"/>
                </a:solidFill>
                <a:latin typeface="Arial"/>
              </a:rPr>
              <a:t>Qualifications</a:t>
            </a:r>
          </a:p>
        </p:txBody>
      </p:sp>
      <p:sp>
        <p:nvSpPr>
          <p:cNvPr id="16" name="TextBox 15"/>
          <p:cNvSpPr txBox="1"/>
          <p:nvPr/>
        </p:nvSpPr>
        <p:spPr>
          <a:xfrm>
            <a:off x="4709160" y="218541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PhD; ACLP-certified WSQ trainer and assessor.</a:t>
            </a:r>
          </a:p>
        </p:txBody>
      </p:sp>
      <p:sp>
        <p:nvSpPr>
          <p:cNvPr id="17" name="Rectangle 16"/>
          <p:cNvSpPr/>
          <p:nvPr/>
        </p:nvSpPr>
        <p:spPr>
          <a:xfrm>
            <a:off x="4434840" y="288036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2880360"/>
            <a:ext cx="82296"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2990088"/>
            <a:ext cx="6492240" cy="292608"/>
          </a:xfrm>
          <a:prstGeom prst="rect">
            <a:avLst/>
          </a:prstGeom>
          <a:noFill/>
        </p:spPr>
        <p:txBody>
          <a:bodyPr wrap="square" anchor="t">
            <a:spAutoFit/>
          </a:bodyPr>
          <a:lstStyle/>
          <a:p>
            <a:pPr algn="l">
              <a:spcAft>
                <a:spcPts val="400"/>
              </a:spcAft>
            </a:pPr>
            <a:r>
              <a:rPr sz="1200" b="1">
                <a:solidFill>
                  <a:srgbClr val="10B981"/>
                </a:solidFill>
                <a:latin typeface="Arial"/>
              </a:rPr>
              <a:t>Industry Experience</a:t>
            </a:r>
          </a:p>
        </p:txBody>
      </p:sp>
      <p:sp>
        <p:nvSpPr>
          <p:cNvPr id="20" name="TextBox 19"/>
          <p:cNvSpPr txBox="1"/>
          <p:nvPr/>
        </p:nvSpPr>
        <p:spPr>
          <a:xfrm>
            <a:off x="4709160" y="328269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20+ years across data analytics, automation and software engineering.</a:t>
            </a:r>
          </a:p>
        </p:txBody>
      </p:sp>
      <p:sp>
        <p:nvSpPr>
          <p:cNvPr id="21" name="Rectangle 20"/>
          <p:cNvSpPr/>
          <p:nvPr/>
        </p:nvSpPr>
        <p:spPr>
          <a:xfrm>
            <a:off x="4434840" y="397764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3977640"/>
            <a:ext cx="82296"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4087368"/>
            <a:ext cx="6492240" cy="292608"/>
          </a:xfrm>
          <a:prstGeom prst="rect">
            <a:avLst/>
          </a:prstGeom>
          <a:noFill/>
        </p:spPr>
        <p:txBody>
          <a:bodyPr wrap="square" anchor="t">
            <a:spAutoFit/>
          </a:bodyPr>
          <a:lstStyle/>
          <a:p>
            <a:pPr algn="l">
              <a:spcAft>
                <a:spcPts val="400"/>
              </a:spcAft>
            </a:pPr>
            <a:r>
              <a:rPr sz="1200" b="1">
                <a:solidFill>
                  <a:srgbClr val="7C3AED"/>
                </a:solidFill>
                <a:latin typeface="Arial"/>
              </a:rPr>
              <a:t>Specialisation</a:t>
            </a:r>
          </a:p>
        </p:txBody>
      </p:sp>
      <p:sp>
        <p:nvSpPr>
          <p:cNvPr id="24" name="TextBox 23"/>
          <p:cNvSpPr txBox="1"/>
          <p:nvPr/>
        </p:nvSpPr>
        <p:spPr>
          <a:xfrm>
            <a:off x="4709160" y="437997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Excel Power Query / Power Pivot, Power BI, Python analytics.</a:t>
            </a:r>
          </a:p>
        </p:txBody>
      </p:sp>
      <p:sp>
        <p:nvSpPr>
          <p:cNvPr id="25" name="Rectangle 24"/>
          <p:cNvSpPr/>
          <p:nvPr/>
        </p:nvSpPr>
        <p:spPr>
          <a:xfrm>
            <a:off x="4434840" y="5074920"/>
            <a:ext cx="69768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34840" y="5074920"/>
            <a:ext cx="82296"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5184648"/>
            <a:ext cx="6492240" cy="292608"/>
          </a:xfrm>
          <a:prstGeom prst="rect">
            <a:avLst/>
          </a:prstGeom>
          <a:noFill/>
        </p:spPr>
        <p:txBody>
          <a:bodyPr wrap="square" anchor="t">
            <a:spAutoFit/>
          </a:bodyPr>
          <a:lstStyle/>
          <a:p>
            <a:pPr algn="l">
              <a:spcAft>
                <a:spcPts val="400"/>
              </a:spcAft>
            </a:pPr>
            <a:r>
              <a:rPr sz="1200" b="1">
                <a:solidFill>
                  <a:srgbClr val="F59E0B"/>
                </a:solidFill>
                <a:latin typeface="Arial"/>
              </a:rPr>
              <a:t>Contact</a:t>
            </a:r>
          </a:p>
        </p:txBody>
      </p:sp>
      <p:sp>
        <p:nvSpPr>
          <p:cNvPr id="28" name="TextBox 27"/>
          <p:cNvSpPr txBox="1"/>
          <p:nvPr/>
        </p:nvSpPr>
        <p:spPr>
          <a:xfrm>
            <a:off x="4709160" y="5477256"/>
            <a:ext cx="6492240" cy="566928"/>
          </a:xfrm>
          <a:prstGeom prst="rect">
            <a:avLst/>
          </a:prstGeom>
          <a:noFill/>
        </p:spPr>
        <p:txBody>
          <a:bodyPr wrap="square" anchor="t">
            <a:spAutoFit/>
          </a:bodyPr>
          <a:lstStyle/>
          <a:p>
            <a:pPr algn="l">
              <a:spcAft>
                <a:spcPts val="400"/>
              </a:spcAft>
            </a:pPr>
            <a:r>
              <a:rPr sz="1200" b="0">
                <a:solidFill>
                  <a:srgbClr val="161B26"/>
                </a:solidFill>
                <a:latin typeface="Arial"/>
              </a:rPr>
              <a:t>enquiry@tertiaryinfotech.com  ·  +65 6100 0613</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98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580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Your name</a:t>
            </a:r>
          </a:p>
          <a:p>
            <a:pPr algn="l">
              <a:spcAft>
                <a:spcPts val="300"/>
              </a:spcAft>
            </a:pPr>
            <a:r>
              <a:rPr sz="1300" b="0">
                <a:solidFill>
                  <a:srgbClr val="5B6372"/>
                </a:solidFill>
                <a:latin typeface="Arial"/>
              </a:rPr>
              <a:t>and the organisation you are from</a:t>
            </a:r>
          </a:p>
        </p:txBody>
      </p:sp>
      <p:sp>
        <p:nvSpPr>
          <p:cNvPr id="12" name="Rectangle 11"/>
          <p:cNvSpPr/>
          <p:nvPr/>
        </p:nvSpPr>
        <p:spPr>
          <a:xfrm>
            <a:off x="6231636"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985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580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Your role</a:t>
            </a:r>
          </a:p>
          <a:p>
            <a:pPr algn="l">
              <a:spcAft>
                <a:spcPts val="300"/>
              </a:spcAft>
            </a:pPr>
            <a:r>
              <a:rPr sz="1300" b="0">
                <a:solidFill>
                  <a:srgbClr val="5B6372"/>
                </a:solidFill>
                <a:latin typeface="Arial"/>
              </a:rPr>
              <a:t>and how much Excel you use day to day</a:t>
            </a:r>
          </a:p>
        </p:txBody>
      </p:sp>
      <p:sp>
        <p:nvSpPr>
          <p:cNvPr id="17" name="Rectangle 16"/>
          <p:cNvSpPr/>
          <p:nvPr/>
        </p:nvSpPr>
        <p:spPr>
          <a:xfrm>
            <a:off x="777240"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19372"/>
            <a:ext cx="91440" cy="20985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9432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Your data</a:t>
            </a:r>
          </a:p>
          <a:p>
            <a:pPr algn="l">
              <a:spcAft>
                <a:spcPts val="300"/>
              </a:spcAft>
            </a:pPr>
            <a:r>
              <a:rPr sz="1300" b="0">
                <a:solidFill>
                  <a:srgbClr val="5B6372"/>
                </a:solidFill>
                <a:latin typeface="Arial"/>
              </a:rPr>
              <a:t>the reports or files you clean up most often</a:t>
            </a:r>
          </a:p>
        </p:txBody>
      </p:sp>
      <p:sp>
        <p:nvSpPr>
          <p:cNvPr id="22" name="Rectangle 21"/>
          <p:cNvSpPr/>
          <p:nvPr/>
        </p:nvSpPr>
        <p:spPr>
          <a:xfrm>
            <a:off x="6231636"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119372"/>
            <a:ext cx="91440" cy="20985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9432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Your goal</a:t>
            </a:r>
          </a:p>
          <a:p>
            <a:pPr algn="l">
              <a:spcAft>
                <a:spcPts val="300"/>
              </a:spcAft>
            </a:pPr>
            <a:r>
              <a:rPr sz="1300" b="0">
                <a:solidFill>
                  <a:srgbClr val="5B6372"/>
                </a:solidFill>
                <a:latin typeface="Arial"/>
              </a:rPr>
              <a:t>what you want to stop doing manually after this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930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Phones on silent</a:t>
            </a:r>
          </a:p>
          <a:p>
            <a:pPr algn="l">
              <a:spcAft>
                <a:spcPts val="300"/>
              </a:spcAft>
            </a:pPr>
            <a:r>
              <a:rPr sz="1200" b="0">
                <a:solidFill>
                  <a:srgbClr val="5B6372"/>
                </a:solidFill>
                <a:latin typeface="Arial"/>
              </a:rPr>
              <a:t>Step out quietly for calls</a:t>
            </a:r>
          </a:p>
        </p:txBody>
      </p:sp>
      <p:sp>
        <p:nvSpPr>
          <p:cNvPr id="12" name="Rectangle 11"/>
          <p:cNvSpPr/>
          <p:nvPr/>
        </p:nvSpPr>
        <p:spPr>
          <a:xfrm>
            <a:off x="6231636"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930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Participate actively</a:t>
            </a:r>
          </a:p>
          <a:p>
            <a:pPr algn="l">
              <a:spcAft>
                <a:spcPts val="300"/>
              </a:spcAft>
            </a:pPr>
            <a:r>
              <a:rPr sz="1200" b="0">
                <a:solidFill>
                  <a:srgbClr val="5B6372"/>
                </a:solidFill>
                <a:latin typeface="Arial"/>
              </a:rPr>
              <a:t>No question is a stupid question</a:t>
            </a:r>
          </a:p>
        </p:txBody>
      </p:sp>
      <p:sp>
        <p:nvSpPr>
          <p:cNvPr id="17" name="Rectangle 16"/>
          <p:cNvSpPr/>
          <p:nvPr/>
        </p:nvSpPr>
        <p:spPr>
          <a:xfrm>
            <a:off x="777240"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91440"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7261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Mutual respect</a:t>
            </a:r>
          </a:p>
          <a:p>
            <a:pPr algn="l">
              <a:spcAft>
                <a:spcPts val="300"/>
              </a:spcAft>
            </a:pPr>
            <a:r>
              <a:rPr sz="1200" b="0">
                <a:solidFill>
                  <a:srgbClr val="5B6372"/>
                </a:solidFill>
                <a:latin typeface="Arial"/>
              </a:rPr>
              <a:t>Agree to disagree</a:t>
            </a:r>
          </a:p>
        </p:txBody>
      </p:sp>
      <p:sp>
        <p:nvSpPr>
          <p:cNvPr id="22" name="Rectangle 21"/>
          <p:cNvSpPr/>
          <p:nvPr/>
        </p:nvSpPr>
        <p:spPr>
          <a:xfrm>
            <a:off x="6231636"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6224"/>
            <a:ext cx="91440" cy="1368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7261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One conversation</a:t>
            </a:r>
          </a:p>
          <a:p>
            <a:pPr algn="l">
              <a:spcAft>
                <a:spcPts val="300"/>
              </a:spcAft>
            </a:pPr>
            <a:r>
              <a:rPr sz="1200" b="0">
                <a:solidFill>
                  <a:srgbClr val="5B6372"/>
                </a:solidFill>
                <a:latin typeface="Arial"/>
              </a:rPr>
              <a:t>One person speaks at a time</a:t>
            </a:r>
          </a:p>
        </p:txBody>
      </p:sp>
      <p:sp>
        <p:nvSpPr>
          <p:cNvPr id="27" name="Rectangle 26"/>
          <p:cNvSpPr/>
          <p:nvPr/>
        </p:nvSpPr>
        <p:spPr>
          <a:xfrm>
            <a:off x="777240"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Be punctual</a:t>
            </a:r>
          </a:p>
          <a:p>
            <a:pPr algn="l">
              <a:spcAft>
                <a:spcPts val="300"/>
              </a:spcAft>
            </a:pPr>
            <a:r>
              <a:rPr sz="1200" b="0">
                <a:solidFill>
                  <a:srgbClr val="5B6372"/>
                </a:solidFill>
                <a:latin typeface="Arial"/>
              </a:rPr>
              <a:t>Return from breaks on time</a:t>
            </a:r>
          </a:p>
        </p:txBody>
      </p:sp>
      <p:sp>
        <p:nvSpPr>
          <p:cNvPr id="32" name="Rectangle 31"/>
          <p:cNvSpPr/>
          <p:nvPr/>
        </p:nvSpPr>
        <p:spPr>
          <a:xfrm>
            <a:off x="6231636"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9368"/>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75% attendance</a:t>
            </a:r>
          </a:p>
          <a:p>
            <a:pPr algn="l">
              <a:spcAft>
                <a:spcPts val="300"/>
              </a:spcAft>
            </a:pPr>
            <a:r>
              <a:rPr sz="1200" b="0">
                <a:solidFill>
                  <a:srgbClr val="5B6372"/>
                </a:solidFill>
                <a:latin typeface="Arial"/>
              </a:rPr>
              <a:t>Required for funding and certification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Need for This Course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98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580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Microsoft Excel for Windows</a:t>
            </a:r>
          </a:p>
          <a:p>
            <a:pPr algn="l">
              <a:spcAft>
                <a:spcPts val="300"/>
              </a:spcAft>
            </a:pPr>
            <a:r>
              <a:rPr sz="1300" b="0">
                <a:solidFill>
                  <a:srgbClr val="5B6372"/>
                </a:solidFill>
                <a:latin typeface="Arial"/>
              </a:rPr>
              <a:t>Microsoft 365, 2021, 2019 or 2016</a:t>
            </a:r>
          </a:p>
        </p:txBody>
      </p:sp>
      <p:sp>
        <p:nvSpPr>
          <p:cNvPr id="12" name="Rectangle 11"/>
          <p:cNvSpPr/>
          <p:nvPr/>
        </p:nvSpPr>
        <p:spPr>
          <a:xfrm>
            <a:off x="6231636"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985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580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Power Query</a:t>
            </a:r>
          </a:p>
          <a:p>
            <a:pPr algn="l">
              <a:spcAft>
                <a:spcPts val="300"/>
              </a:spcAft>
            </a:pPr>
            <a:r>
              <a:rPr sz="1300" b="0">
                <a:solidFill>
                  <a:srgbClr val="5B6372"/>
                </a:solidFill>
                <a:latin typeface="Arial"/>
              </a:rPr>
              <a:t>Built in under Data &gt; Get &amp; Transform Data</a:t>
            </a:r>
          </a:p>
        </p:txBody>
      </p:sp>
      <p:sp>
        <p:nvSpPr>
          <p:cNvPr id="17" name="Rectangle 16"/>
          <p:cNvSpPr/>
          <p:nvPr/>
        </p:nvSpPr>
        <p:spPr>
          <a:xfrm>
            <a:off x="777240"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19372"/>
            <a:ext cx="91440" cy="20985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9432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Power Pivot</a:t>
            </a:r>
          </a:p>
          <a:p>
            <a:pPr algn="l">
              <a:spcAft>
                <a:spcPts val="300"/>
              </a:spcAft>
            </a:pPr>
            <a:r>
              <a:rPr sz="1300" b="0">
                <a:solidFill>
                  <a:srgbClr val="5B6372"/>
                </a:solidFill>
                <a:latin typeface="Arial"/>
              </a:rPr>
              <a:t>File &gt; Options &gt; Add-ins &gt; COM Add-ins &gt; enable</a:t>
            </a:r>
          </a:p>
        </p:txBody>
      </p:sp>
      <p:sp>
        <p:nvSpPr>
          <p:cNvPr id="22" name="Rectangle 21"/>
          <p:cNvSpPr/>
          <p:nvPr/>
        </p:nvSpPr>
        <p:spPr>
          <a:xfrm>
            <a:off x="6231636"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119372"/>
            <a:ext cx="91440" cy="20985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9432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Lab files</a:t>
            </a:r>
          </a:p>
          <a:p>
            <a:pPr algn="l">
              <a:spcAft>
                <a:spcPts val="300"/>
              </a:spcAft>
            </a:pPr>
            <a:r>
              <a:rPr sz="1300" b="0">
                <a:solidFill>
                  <a:srgbClr val="5B6372"/>
                </a:solidFill>
                <a:latin typeface="Arial"/>
              </a:rPr>
              <a:t>One folder per lab, downloaded from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883664"/>
            <a:ext cx="4937760" cy="2926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883664"/>
            <a:ext cx="4754880" cy="292608"/>
          </a:xfrm>
          <a:prstGeom prst="rect">
            <a:avLst/>
          </a:prstGeom>
          <a:noFill/>
        </p:spPr>
        <p:txBody>
          <a:bodyPr wrap="square" anchor="ctr">
            <a:spAutoFit/>
          </a:bodyPr>
          <a:lstStyle/>
          <a:p>
            <a:pPr algn="l">
              <a:spcAft>
                <a:spcPts val="400"/>
              </a:spcAft>
            </a:pPr>
            <a:r>
              <a:rPr sz="1050" b="0">
                <a:solidFill>
                  <a:srgbClr val="5B6372"/>
                </a:solidFill>
                <a:latin typeface="Arial"/>
              </a:rPr>
              <a:t>https://lms-tms.tertiaryinfotech.com</a:t>
            </a:r>
          </a:p>
        </p:txBody>
      </p:sp>
      <p:sp>
        <p:nvSpPr>
          <p:cNvPr id="14" name="Rectangle 13"/>
          <p:cNvSpPr/>
          <p:nvPr/>
        </p:nvSpPr>
        <p:spPr>
          <a:xfrm>
            <a:off x="1051560" y="2468880"/>
            <a:ext cx="58521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468880"/>
            <a:ext cx="5486400" cy="457200"/>
          </a:xfrm>
          <a:prstGeom prst="rect">
            <a:avLst/>
          </a:prstGeom>
          <a:noFill/>
        </p:spPr>
        <p:txBody>
          <a:bodyPr wrap="square" anchor="ctr">
            <a:spAutoFit/>
          </a:bodyPr>
          <a:lstStyle/>
          <a:p>
            <a:pPr algn="l">
              <a:spcAft>
                <a:spcPts val="400"/>
              </a:spcAft>
            </a:pPr>
            <a:r>
              <a:rPr sz="1200" b="1">
                <a:solidFill>
                  <a:srgbClr val="FFFFFF"/>
                </a:solidFill>
                <a:latin typeface="Arial"/>
              </a:rPr>
              <a:t>Excel Power Query and Power Pivot</a:t>
            </a:r>
          </a:p>
        </p:txBody>
      </p:sp>
      <p:sp>
        <p:nvSpPr>
          <p:cNvPr id="16" name="Rectangle 15"/>
          <p:cNvSpPr/>
          <p:nvPr/>
        </p:nvSpPr>
        <p:spPr>
          <a:xfrm>
            <a:off x="1051560" y="3081528"/>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51560" y="3081528"/>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3081528"/>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Trainer Slides (PPT)</a:t>
            </a:r>
          </a:p>
        </p:txBody>
      </p:sp>
      <p:sp>
        <p:nvSpPr>
          <p:cNvPr id="19" name="Rectangle 18"/>
          <p:cNvSpPr/>
          <p:nvPr/>
        </p:nvSpPr>
        <p:spPr>
          <a:xfrm>
            <a:off x="1051560" y="3648456"/>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1560" y="3648456"/>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3648456"/>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Learner Guide (PDF)</a:t>
            </a:r>
          </a:p>
        </p:txBody>
      </p:sp>
      <p:sp>
        <p:nvSpPr>
          <p:cNvPr id="22" name="Rectangle 21"/>
          <p:cNvSpPr/>
          <p:nvPr/>
        </p:nvSpPr>
        <p:spPr>
          <a:xfrm>
            <a:off x="1051560" y="4215384"/>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51560" y="4215384"/>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4215384"/>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Lesson Plan (PDF)</a:t>
            </a:r>
          </a:p>
        </p:txBody>
      </p:sp>
      <p:sp>
        <p:nvSpPr>
          <p:cNvPr id="25" name="Rectangle 24"/>
          <p:cNvSpPr/>
          <p:nvPr/>
        </p:nvSpPr>
        <p:spPr>
          <a:xfrm>
            <a:off x="1051560" y="4782312"/>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1560" y="4782312"/>
            <a:ext cx="64008"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0160" y="4782312"/>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Activities / Lab Files</a:t>
            </a:r>
          </a:p>
        </p:txBody>
      </p:sp>
      <p:sp>
        <p:nvSpPr>
          <p:cNvPr id="28" name="Rectangle 27"/>
          <p:cNvSpPr/>
          <p:nvPr/>
        </p:nvSpPr>
        <p:spPr>
          <a:xfrm>
            <a:off x="7452360" y="1783080"/>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52360"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71816" y="191109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71816" y="191109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2" name="TextBox 31"/>
          <p:cNvSpPr txBox="1"/>
          <p:nvPr/>
        </p:nvSpPr>
        <p:spPr>
          <a:xfrm>
            <a:off x="8147304" y="1874520"/>
            <a:ext cx="3090672" cy="310896"/>
          </a:xfrm>
          <a:prstGeom prst="rect">
            <a:avLst/>
          </a:prstGeom>
          <a:noFill/>
        </p:spPr>
        <p:txBody>
          <a:bodyPr wrap="square" anchor="t">
            <a:spAutoFit/>
          </a:bodyPr>
          <a:lstStyle/>
          <a:p>
            <a:pPr algn="l">
              <a:spcAft>
                <a:spcPts val="400"/>
              </a:spcAft>
            </a:pPr>
            <a:r>
              <a:rPr sz="1200" b="1">
                <a:solidFill>
                  <a:srgbClr val="1F6FEB"/>
                </a:solidFill>
                <a:latin typeface="Arial"/>
              </a:rPr>
              <a:t>Log in</a:t>
            </a:r>
          </a:p>
        </p:txBody>
      </p:sp>
      <p:sp>
        <p:nvSpPr>
          <p:cNvPr id="33" name="TextBox 32"/>
          <p:cNvSpPr txBox="1"/>
          <p:nvPr/>
        </p:nvSpPr>
        <p:spPr>
          <a:xfrm>
            <a:off x="7726680" y="2203704"/>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Use the account e-mailed to you before the course.</a:t>
            </a:r>
          </a:p>
        </p:txBody>
      </p:sp>
      <p:sp>
        <p:nvSpPr>
          <p:cNvPr id="34" name="Rectangle 33"/>
          <p:cNvSpPr/>
          <p:nvPr/>
        </p:nvSpPr>
        <p:spPr>
          <a:xfrm>
            <a:off x="7452360" y="2770632"/>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52360" y="2770632"/>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71816" y="289864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71816" y="28986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8" name="TextBox 37"/>
          <p:cNvSpPr txBox="1"/>
          <p:nvPr/>
        </p:nvSpPr>
        <p:spPr>
          <a:xfrm>
            <a:off x="8147304" y="2862072"/>
            <a:ext cx="3090672" cy="310896"/>
          </a:xfrm>
          <a:prstGeom prst="rect">
            <a:avLst/>
          </a:prstGeom>
          <a:noFill/>
        </p:spPr>
        <p:txBody>
          <a:bodyPr wrap="square" anchor="t">
            <a:spAutoFit/>
          </a:bodyPr>
          <a:lstStyle/>
          <a:p>
            <a:pPr algn="l">
              <a:spcAft>
                <a:spcPts val="400"/>
              </a:spcAft>
            </a:pPr>
            <a:r>
              <a:rPr sz="1200" b="1">
                <a:solidFill>
                  <a:srgbClr val="10B981"/>
                </a:solidFill>
                <a:latin typeface="Arial"/>
              </a:rPr>
              <a:t>Open this course</a:t>
            </a:r>
          </a:p>
        </p:txBody>
      </p:sp>
      <p:sp>
        <p:nvSpPr>
          <p:cNvPr id="39" name="TextBox 38"/>
          <p:cNvSpPr txBox="1"/>
          <p:nvPr/>
        </p:nvSpPr>
        <p:spPr>
          <a:xfrm>
            <a:off x="7726680" y="3191256"/>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Excel Power Query and Power Pivot.</a:t>
            </a:r>
          </a:p>
        </p:txBody>
      </p:sp>
      <p:sp>
        <p:nvSpPr>
          <p:cNvPr id="40" name="Rectangle 39"/>
          <p:cNvSpPr/>
          <p:nvPr/>
        </p:nvSpPr>
        <p:spPr>
          <a:xfrm>
            <a:off x="7452360" y="3758184"/>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52360" y="3758184"/>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671816" y="388620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71816" y="38862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4" name="TextBox 43"/>
          <p:cNvSpPr txBox="1"/>
          <p:nvPr/>
        </p:nvSpPr>
        <p:spPr>
          <a:xfrm>
            <a:off x="8147304" y="3849624"/>
            <a:ext cx="3090672" cy="310896"/>
          </a:xfrm>
          <a:prstGeom prst="rect">
            <a:avLst/>
          </a:prstGeom>
          <a:noFill/>
        </p:spPr>
        <p:txBody>
          <a:bodyPr wrap="square" anchor="t">
            <a:spAutoFit/>
          </a:bodyPr>
          <a:lstStyle/>
          <a:p>
            <a:pPr algn="l">
              <a:spcAft>
                <a:spcPts val="400"/>
              </a:spcAft>
            </a:pPr>
            <a:r>
              <a:rPr sz="1200" b="1">
                <a:solidFill>
                  <a:srgbClr val="7C3AED"/>
                </a:solidFill>
                <a:latin typeface="Arial"/>
              </a:rPr>
              <a:t>Download the files</a:t>
            </a:r>
          </a:p>
        </p:txBody>
      </p:sp>
      <p:sp>
        <p:nvSpPr>
          <p:cNvPr id="45" name="TextBox 44"/>
          <p:cNvSpPr txBox="1"/>
          <p:nvPr/>
        </p:nvSpPr>
        <p:spPr>
          <a:xfrm>
            <a:off x="7726680" y="4178808"/>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Slides, Learner Guide, Lesson Plan and lab workbooks.</a:t>
            </a:r>
          </a:p>
        </p:txBody>
      </p:sp>
      <p:sp>
        <p:nvSpPr>
          <p:cNvPr id="46" name="Rectangle 45"/>
          <p:cNvSpPr/>
          <p:nvPr/>
        </p:nvSpPr>
        <p:spPr>
          <a:xfrm>
            <a:off x="7452360" y="4745736"/>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52360" y="4745736"/>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671816" y="487375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71816" y="487375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50" name="TextBox 49"/>
          <p:cNvSpPr txBox="1"/>
          <p:nvPr/>
        </p:nvSpPr>
        <p:spPr>
          <a:xfrm>
            <a:off x="8147304" y="4837176"/>
            <a:ext cx="3090672" cy="310896"/>
          </a:xfrm>
          <a:prstGeom prst="rect">
            <a:avLst/>
          </a:prstGeom>
          <a:noFill/>
        </p:spPr>
        <p:txBody>
          <a:bodyPr wrap="square" anchor="t">
            <a:spAutoFit/>
          </a:bodyPr>
          <a:lstStyle/>
          <a:p>
            <a:pPr algn="l">
              <a:spcAft>
                <a:spcPts val="400"/>
              </a:spcAft>
            </a:pPr>
            <a:r>
              <a:rPr sz="1200" b="1">
                <a:solidFill>
                  <a:srgbClr val="F59E0B"/>
                </a:solidFill>
                <a:latin typeface="Arial"/>
              </a:rPr>
              <a:t>Save locally</a:t>
            </a:r>
          </a:p>
        </p:txBody>
      </p:sp>
      <p:sp>
        <p:nvSpPr>
          <p:cNvPr id="51" name="TextBox 50"/>
          <p:cNvSpPr txBox="1"/>
          <p:nvPr/>
        </p:nvSpPr>
        <p:spPr>
          <a:xfrm>
            <a:off x="7726680" y="5166360"/>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Unzip the labs folder to your Desktop before Lab 01.</a:t>
            </a:r>
          </a:p>
        </p:txBody>
      </p:sp>
      <p:sp>
        <p:nvSpPr>
          <p:cNvPr id="52" name="Rectangle 51"/>
          <p:cNvSpPr/>
          <p:nvPr/>
        </p:nvSpPr>
        <p:spPr>
          <a:xfrm>
            <a:off x="777240" y="58521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1560" y="5907024"/>
            <a:ext cx="10149840" cy="438912"/>
          </a:xfrm>
          <a:prstGeom prst="rect">
            <a:avLst/>
          </a:prstGeom>
          <a:noFill/>
        </p:spPr>
        <p:txBody>
          <a:bodyPr wrap="square" anchor="t">
            <a:spAutoFit/>
          </a:bodyPr>
          <a:lstStyle/>
          <a:p>
            <a:pPr algn="l">
              <a:spcAft>
                <a:spcPts val="400"/>
              </a:spcAft>
            </a:pPr>
            <a:r>
              <a:rPr sz="1200" b="0">
                <a:solidFill>
                  <a:srgbClr val="5B6372"/>
                </a:solidFill>
                <a:latin typeface="Arial"/>
              </a:rPr>
              <a:t>All courseware is on the LMS/TMS portal at lms-tms.tertiaryinfotech.com — download it before the first lab.</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98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580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Data and Statistical Analytics</a:t>
            </a:r>
          </a:p>
        </p:txBody>
      </p:sp>
      <p:sp>
        <p:nvSpPr>
          <p:cNvPr id="12" name="Rectangle 11"/>
          <p:cNvSpPr/>
          <p:nvPr/>
        </p:nvSpPr>
        <p:spPr>
          <a:xfrm>
            <a:off x="6231636"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985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580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EGS-BIN-4055-1.1</a:t>
            </a:r>
          </a:p>
        </p:txBody>
      </p:sp>
      <p:sp>
        <p:nvSpPr>
          <p:cNvPr id="17" name="Rectangle 16"/>
          <p:cNvSpPr/>
          <p:nvPr/>
        </p:nvSpPr>
        <p:spPr>
          <a:xfrm>
            <a:off x="777240"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19372"/>
            <a:ext cx="91440" cy="20985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9432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Level 4 — apply and adapt analysis methods</a:t>
            </a:r>
          </a:p>
        </p:txBody>
      </p:sp>
      <p:sp>
        <p:nvSpPr>
          <p:cNvPr id="22" name="Rectangle 21"/>
          <p:cNvSpPr/>
          <p:nvPr/>
        </p:nvSpPr>
        <p:spPr>
          <a:xfrm>
            <a:off x="6231636"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119372"/>
            <a:ext cx="91440" cy="20985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9432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Written Assessment + Practical Performance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TSC Knowledge and Abilities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76136"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020104" cy="475488"/>
          </a:xfrm>
          <a:prstGeom prst="rect">
            <a:avLst/>
          </a:prstGeom>
          <a:noFill/>
        </p:spPr>
        <p:txBody>
          <a:bodyPr wrap="square" anchor="ctr">
            <a:spAutoFit/>
          </a:bodyPr>
          <a:lstStyle/>
          <a:p>
            <a:pPr algn="l">
              <a:spcAft>
                <a:spcPts val="400"/>
              </a:spcAft>
            </a:pPr>
            <a:r>
              <a:rPr sz="1300" b="1">
                <a:solidFill>
                  <a:srgbClr val="FFFFFF"/>
                </a:solidFill>
                <a:latin typeface="Arial"/>
              </a:rPr>
              <a:t>Code</a:t>
            </a:r>
          </a:p>
        </p:txBody>
      </p:sp>
      <p:sp>
        <p:nvSpPr>
          <p:cNvPr id="9" name="Rectangle 8"/>
          <p:cNvSpPr/>
          <p:nvPr/>
        </p:nvSpPr>
        <p:spPr>
          <a:xfrm>
            <a:off x="2053376" y="1783080"/>
            <a:ext cx="4679168"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81392" y="1783080"/>
            <a:ext cx="4423136" cy="475488"/>
          </a:xfrm>
          <a:prstGeom prst="rect">
            <a:avLst/>
          </a:prstGeom>
          <a:noFill/>
        </p:spPr>
        <p:txBody>
          <a:bodyPr wrap="square" anchor="ctr">
            <a:spAutoFit/>
          </a:bodyPr>
          <a:lstStyle/>
          <a:p>
            <a:pPr algn="l">
              <a:spcAft>
                <a:spcPts val="400"/>
              </a:spcAft>
            </a:pPr>
            <a:r>
              <a:rPr sz="1300" b="1">
                <a:solidFill>
                  <a:srgbClr val="FFFFFF"/>
                </a:solidFill>
                <a:latin typeface="Arial"/>
              </a:rPr>
              <a:t>What it covers</a:t>
            </a:r>
          </a:p>
        </p:txBody>
      </p:sp>
      <p:sp>
        <p:nvSpPr>
          <p:cNvPr id="11" name="Rectangle 10"/>
          <p:cNvSpPr/>
          <p:nvPr/>
        </p:nvSpPr>
        <p:spPr>
          <a:xfrm>
            <a:off x="6732544" y="1783080"/>
            <a:ext cx="4679168"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0560" y="1783080"/>
            <a:ext cx="4423136" cy="475488"/>
          </a:xfrm>
          <a:prstGeom prst="rect">
            <a:avLst/>
          </a:prstGeom>
          <a:noFill/>
        </p:spPr>
        <p:txBody>
          <a:bodyPr wrap="square" anchor="ctr">
            <a:spAutoFit/>
          </a:bodyPr>
          <a:lstStyle/>
          <a:p>
            <a:pPr algn="l">
              <a:spcAft>
                <a:spcPts val="400"/>
              </a:spcAft>
            </a:pPr>
            <a:r>
              <a:rPr sz="1300" b="1">
                <a:solidFill>
                  <a:srgbClr val="FFFFFF"/>
                </a:solidFill>
                <a:latin typeface="Arial"/>
              </a:rPr>
              <a:t>Where it is taught</a:t>
            </a:r>
          </a:p>
        </p:txBody>
      </p:sp>
      <p:sp>
        <p:nvSpPr>
          <p:cNvPr id="13" name="Rectangle 12"/>
          <p:cNvSpPr/>
          <p:nvPr/>
        </p:nvSpPr>
        <p:spPr>
          <a:xfrm>
            <a:off x="777240" y="2258568"/>
            <a:ext cx="1276136"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056680" cy="414092"/>
          </a:xfrm>
          <a:prstGeom prst="rect">
            <a:avLst/>
          </a:prstGeom>
          <a:noFill/>
        </p:spPr>
        <p:txBody>
          <a:bodyPr wrap="square" anchor="ctr">
            <a:spAutoFit/>
          </a:bodyPr>
          <a:lstStyle/>
          <a:p>
            <a:pPr algn="l">
              <a:spcAft>
                <a:spcPts val="400"/>
              </a:spcAft>
            </a:pPr>
            <a:r>
              <a:rPr sz="1150" b="1">
                <a:solidFill>
                  <a:srgbClr val="161B26"/>
                </a:solidFill>
                <a:latin typeface="Arial"/>
              </a:rPr>
              <a:t>K1</a:t>
            </a:r>
          </a:p>
        </p:txBody>
      </p:sp>
      <p:sp>
        <p:nvSpPr>
          <p:cNvPr id="15" name="Rectangle 14"/>
          <p:cNvSpPr/>
          <p:nvPr/>
        </p:nvSpPr>
        <p:spPr>
          <a:xfrm>
            <a:off x="2053376" y="2258568"/>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63104" y="2258568"/>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Operations of data transformation techniques</a:t>
            </a:r>
          </a:p>
        </p:txBody>
      </p:sp>
      <p:sp>
        <p:nvSpPr>
          <p:cNvPr id="17" name="Rectangle 16"/>
          <p:cNvSpPr/>
          <p:nvPr/>
        </p:nvSpPr>
        <p:spPr>
          <a:xfrm>
            <a:off x="6732544" y="2258568"/>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42272" y="2258568"/>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Topic 1, 2 · Labs 1–13</a:t>
            </a:r>
          </a:p>
        </p:txBody>
      </p:sp>
      <p:sp>
        <p:nvSpPr>
          <p:cNvPr id="19" name="Rectangle 18"/>
          <p:cNvSpPr/>
          <p:nvPr/>
        </p:nvSpPr>
        <p:spPr>
          <a:xfrm>
            <a:off x="777240" y="2672660"/>
            <a:ext cx="1276136"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672660"/>
            <a:ext cx="1056680" cy="414092"/>
          </a:xfrm>
          <a:prstGeom prst="rect">
            <a:avLst/>
          </a:prstGeom>
          <a:noFill/>
        </p:spPr>
        <p:txBody>
          <a:bodyPr wrap="square" anchor="ctr">
            <a:spAutoFit/>
          </a:bodyPr>
          <a:lstStyle/>
          <a:p>
            <a:pPr algn="l">
              <a:spcAft>
                <a:spcPts val="400"/>
              </a:spcAft>
            </a:pPr>
            <a:r>
              <a:rPr sz="1150" b="1">
                <a:solidFill>
                  <a:srgbClr val="161B26"/>
                </a:solidFill>
                <a:latin typeface="Arial"/>
              </a:rPr>
              <a:t>K2</a:t>
            </a:r>
          </a:p>
        </p:txBody>
      </p:sp>
      <p:sp>
        <p:nvSpPr>
          <p:cNvPr id="21" name="Rectangle 20"/>
          <p:cNvSpPr/>
          <p:nvPr/>
        </p:nvSpPr>
        <p:spPr>
          <a:xfrm>
            <a:off x="2053376" y="2672660"/>
            <a:ext cx="4679168"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63104" y="2672660"/>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Conditions required for each transformation and join</a:t>
            </a:r>
          </a:p>
        </p:txBody>
      </p:sp>
      <p:sp>
        <p:nvSpPr>
          <p:cNvPr id="23" name="Rectangle 22"/>
          <p:cNvSpPr/>
          <p:nvPr/>
        </p:nvSpPr>
        <p:spPr>
          <a:xfrm>
            <a:off x="6732544" y="2672660"/>
            <a:ext cx="4679168"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42272" y="2672660"/>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Topic 1–3 · Labs 3–19</a:t>
            </a:r>
          </a:p>
        </p:txBody>
      </p:sp>
      <p:sp>
        <p:nvSpPr>
          <p:cNvPr id="25" name="Rectangle 24"/>
          <p:cNvSpPr/>
          <p:nvPr/>
        </p:nvSpPr>
        <p:spPr>
          <a:xfrm>
            <a:off x="777240" y="3086752"/>
            <a:ext cx="1276136"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086752"/>
            <a:ext cx="1056680" cy="414092"/>
          </a:xfrm>
          <a:prstGeom prst="rect">
            <a:avLst/>
          </a:prstGeom>
          <a:noFill/>
        </p:spPr>
        <p:txBody>
          <a:bodyPr wrap="square" anchor="ctr">
            <a:spAutoFit/>
          </a:bodyPr>
          <a:lstStyle/>
          <a:p>
            <a:pPr algn="l">
              <a:spcAft>
                <a:spcPts val="400"/>
              </a:spcAft>
            </a:pPr>
            <a:r>
              <a:rPr sz="1150" b="1">
                <a:solidFill>
                  <a:srgbClr val="161B26"/>
                </a:solidFill>
                <a:latin typeface="Arial"/>
              </a:rPr>
              <a:t>K3</a:t>
            </a:r>
          </a:p>
        </p:txBody>
      </p:sp>
      <p:sp>
        <p:nvSpPr>
          <p:cNvPr id="27" name="Rectangle 26"/>
          <p:cNvSpPr/>
          <p:nvPr/>
        </p:nvSpPr>
        <p:spPr>
          <a:xfrm>
            <a:off x="2053376" y="3086752"/>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63104" y="3086752"/>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Interpretation of query and data-model results</a:t>
            </a:r>
          </a:p>
        </p:txBody>
      </p:sp>
      <p:sp>
        <p:nvSpPr>
          <p:cNvPr id="29" name="Rectangle 28"/>
          <p:cNvSpPr/>
          <p:nvPr/>
        </p:nvSpPr>
        <p:spPr>
          <a:xfrm>
            <a:off x="6732544" y="3086752"/>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42272" y="3086752"/>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Topic 2, 3 · Labs 12–19</a:t>
            </a:r>
          </a:p>
        </p:txBody>
      </p:sp>
      <p:sp>
        <p:nvSpPr>
          <p:cNvPr id="31" name="Rectangle 30"/>
          <p:cNvSpPr/>
          <p:nvPr/>
        </p:nvSpPr>
        <p:spPr>
          <a:xfrm>
            <a:off x="777240" y="3500844"/>
            <a:ext cx="1276136"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500844"/>
            <a:ext cx="1056680" cy="414092"/>
          </a:xfrm>
          <a:prstGeom prst="rect">
            <a:avLst/>
          </a:prstGeom>
          <a:noFill/>
        </p:spPr>
        <p:txBody>
          <a:bodyPr wrap="square" anchor="ctr">
            <a:spAutoFit/>
          </a:bodyPr>
          <a:lstStyle/>
          <a:p>
            <a:pPr algn="l">
              <a:spcAft>
                <a:spcPts val="400"/>
              </a:spcAft>
            </a:pPr>
            <a:r>
              <a:rPr sz="1150" b="1">
                <a:solidFill>
                  <a:srgbClr val="161B26"/>
                </a:solidFill>
                <a:latin typeface="Arial"/>
              </a:rPr>
              <a:t>K4</a:t>
            </a:r>
          </a:p>
        </p:txBody>
      </p:sp>
      <p:sp>
        <p:nvSpPr>
          <p:cNvPr id="33" name="Rectangle 32"/>
          <p:cNvSpPr/>
          <p:nvPr/>
        </p:nvSpPr>
        <p:spPr>
          <a:xfrm>
            <a:off x="2053376" y="3500844"/>
            <a:ext cx="4679168"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63104" y="3500844"/>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Types of data analysis software and capabilities</a:t>
            </a:r>
          </a:p>
        </p:txBody>
      </p:sp>
      <p:sp>
        <p:nvSpPr>
          <p:cNvPr id="35" name="Rectangle 34"/>
          <p:cNvSpPr/>
          <p:nvPr/>
        </p:nvSpPr>
        <p:spPr>
          <a:xfrm>
            <a:off x="6732544" y="3500844"/>
            <a:ext cx="4679168"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2" y="3500844"/>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Topic 1, 2 · Labs 1, 2, 13</a:t>
            </a:r>
          </a:p>
        </p:txBody>
      </p:sp>
      <p:sp>
        <p:nvSpPr>
          <p:cNvPr id="37" name="Rectangle 36"/>
          <p:cNvSpPr/>
          <p:nvPr/>
        </p:nvSpPr>
        <p:spPr>
          <a:xfrm>
            <a:off x="777240" y="3914936"/>
            <a:ext cx="1276136"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914936"/>
            <a:ext cx="1056680" cy="414092"/>
          </a:xfrm>
          <a:prstGeom prst="rect">
            <a:avLst/>
          </a:prstGeom>
          <a:noFill/>
        </p:spPr>
        <p:txBody>
          <a:bodyPr wrap="square" anchor="ctr">
            <a:spAutoFit/>
          </a:bodyPr>
          <a:lstStyle/>
          <a:p>
            <a:pPr algn="l">
              <a:spcAft>
                <a:spcPts val="400"/>
              </a:spcAft>
            </a:pPr>
            <a:r>
              <a:rPr sz="1150" b="1">
                <a:solidFill>
                  <a:srgbClr val="161B26"/>
                </a:solidFill>
                <a:latin typeface="Arial"/>
              </a:rPr>
              <a:t>A1</a:t>
            </a:r>
          </a:p>
        </p:txBody>
      </p:sp>
      <p:sp>
        <p:nvSpPr>
          <p:cNvPr id="39" name="Rectangle 38"/>
          <p:cNvSpPr/>
          <p:nvPr/>
        </p:nvSpPr>
        <p:spPr>
          <a:xfrm>
            <a:off x="2053376" y="3914936"/>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63104" y="3914936"/>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Review data sets to uncover trends or patterns</a:t>
            </a:r>
          </a:p>
        </p:txBody>
      </p:sp>
      <p:sp>
        <p:nvSpPr>
          <p:cNvPr id="41" name="Rectangle 40"/>
          <p:cNvSpPr/>
          <p:nvPr/>
        </p:nvSpPr>
        <p:spPr>
          <a:xfrm>
            <a:off x="6732544" y="3914936"/>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42272" y="3914936"/>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Topic 1 · Labs 1–6</a:t>
            </a:r>
          </a:p>
        </p:txBody>
      </p:sp>
      <p:sp>
        <p:nvSpPr>
          <p:cNvPr id="43" name="Rectangle 42"/>
          <p:cNvSpPr/>
          <p:nvPr/>
        </p:nvSpPr>
        <p:spPr>
          <a:xfrm>
            <a:off x="777240" y="4329028"/>
            <a:ext cx="1276136"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329028"/>
            <a:ext cx="1056680" cy="414092"/>
          </a:xfrm>
          <a:prstGeom prst="rect">
            <a:avLst/>
          </a:prstGeom>
          <a:noFill/>
        </p:spPr>
        <p:txBody>
          <a:bodyPr wrap="square" anchor="ctr">
            <a:spAutoFit/>
          </a:bodyPr>
          <a:lstStyle/>
          <a:p>
            <a:pPr algn="l">
              <a:spcAft>
                <a:spcPts val="400"/>
              </a:spcAft>
            </a:pPr>
            <a:r>
              <a:rPr sz="1150" b="1">
                <a:solidFill>
                  <a:srgbClr val="161B26"/>
                </a:solidFill>
                <a:latin typeface="Arial"/>
              </a:rPr>
              <a:t>A2</a:t>
            </a:r>
          </a:p>
        </p:txBody>
      </p:sp>
      <p:sp>
        <p:nvSpPr>
          <p:cNvPr id="45" name="Rectangle 44"/>
          <p:cNvSpPr/>
          <p:nvPr/>
        </p:nvSpPr>
        <p:spPr>
          <a:xfrm>
            <a:off x="2053376" y="4329028"/>
            <a:ext cx="4679168"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63104" y="4329028"/>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Develop methods for complex data sets</a:t>
            </a:r>
          </a:p>
        </p:txBody>
      </p:sp>
      <p:sp>
        <p:nvSpPr>
          <p:cNvPr id="47" name="Rectangle 46"/>
          <p:cNvSpPr/>
          <p:nvPr/>
        </p:nvSpPr>
        <p:spPr>
          <a:xfrm>
            <a:off x="6732544" y="4329028"/>
            <a:ext cx="4679168"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42272" y="4329028"/>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Topic 2 · Labs 7–13</a:t>
            </a:r>
          </a:p>
        </p:txBody>
      </p:sp>
      <p:sp>
        <p:nvSpPr>
          <p:cNvPr id="49" name="Rectangle 48"/>
          <p:cNvSpPr/>
          <p:nvPr/>
        </p:nvSpPr>
        <p:spPr>
          <a:xfrm>
            <a:off x="777240" y="4743120"/>
            <a:ext cx="1276136"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4743120"/>
            <a:ext cx="1056680" cy="414092"/>
          </a:xfrm>
          <a:prstGeom prst="rect">
            <a:avLst/>
          </a:prstGeom>
          <a:noFill/>
        </p:spPr>
        <p:txBody>
          <a:bodyPr wrap="square" anchor="ctr">
            <a:spAutoFit/>
          </a:bodyPr>
          <a:lstStyle/>
          <a:p>
            <a:pPr algn="l">
              <a:spcAft>
                <a:spcPts val="400"/>
              </a:spcAft>
            </a:pPr>
            <a:r>
              <a:rPr sz="1150" b="1">
                <a:solidFill>
                  <a:srgbClr val="161B26"/>
                </a:solidFill>
                <a:latin typeface="Arial"/>
              </a:rPr>
              <a:t>A3</a:t>
            </a:r>
          </a:p>
        </p:txBody>
      </p:sp>
      <p:sp>
        <p:nvSpPr>
          <p:cNvPr id="51" name="Rectangle 50"/>
          <p:cNvSpPr/>
          <p:nvPr/>
        </p:nvSpPr>
        <p:spPr>
          <a:xfrm>
            <a:off x="2053376" y="4743120"/>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63104" y="4743120"/>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Apply analytics to examine business issues</a:t>
            </a:r>
          </a:p>
        </p:txBody>
      </p:sp>
      <p:sp>
        <p:nvSpPr>
          <p:cNvPr id="53" name="Rectangle 52"/>
          <p:cNvSpPr/>
          <p:nvPr/>
        </p:nvSpPr>
        <p:spPr>
          <a:xfrm>
            <a:off x="6732544" y="4743120"/>
            <a:ext cx="4679168"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42272" y="4743120"/>
            <a:ext cx="4459712" cy="414092"/>
          </a:xfrm>
          <a:prstGeom prst="rect">
            <a:avLst/>
          </a:prstGeom>
          <a:noFill/>
        </p:spPr>
        <p:txBody>
          <a:bodyPr wrap="square" anchor="ctr">
            <a:spAutoFit/>
          </a:bodyPr>
          <a:lstStyle/>
          <a:p>
            <a:pPr algn="l">
              <a:spcAft>
                <a:spcPts val="400"/>
              </a:spcAft>
            </a:pPr>
            <a:r>
              <a:rPr sz="1100" b="0">
                <a:solidFill>
                  <a:srgbClr val="5B6372"/>
                </a:solidFill>
                <a:latin typeface="Arial"/>
              </a:rPr>
              <a:t>Topic 3 · Labs 14–19</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Every K and A code is taught in a topic AND practised in a lab — nothing is assessed that you have not built.</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3441192"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2526792" cy="548640"/>
          </a:xfrm>
          <a:prstGeom prst="rect">
            <a:avLst/>
          </a:prstGeom>
          <a:noFill/>
        </p:spPr>
        <p:txBody>
          <a:bodyPr wrap="square" anchor="ctr">
            <a:spAutoFit/>
          </a:bodyPr>
          <a:lstStyle/>
          <a:p>
            <a:pPr algn="l">
              <a:spcAft>
                <a:spcPts val="400"/>
              </a:spcAft>
            </a:pPr>
            <a:r>
              <a:rPr sz="1400" b="1">
                <a:solidFill>
                  <a:srgbClr val="1F6FEB"/>
                </a:solidFill>
                <a:latin typeface="Arial"/>
              </a:rPr>
              <a:t>LO1 · Review</a:t>
            </a:r>
          </a:p>
        </p:txBody>
      </p:sp>
      <p:sp>
        <p:nvSpPr>
          <p:cNvPr id="12" name="TextBox 11"/>
          <p:cNvSpPr txBox="1"/>
          <p:nvPr/>
        </p:nvSpPr>
        <p:spPr>
          <a:xfrm>
            <a:off x="914400" y="2432304"/>
            <a:ext cx="2947416" cy="2706624"/>
          </a:xfrm>
          <a:prstGeom prst="rect">
            <a:avLst/>
          </a:prstGeom>
          <a:noFill/>
        </p:spPr>
        <p:txBody>
          <a:bodyPr wrap="square" anchor="t">
            <a:spAutoFit/>
          </a:bodyPr>
          <a:lstStyle/>
          <a:p>
            <a:pPr algn="l">
              <a:spcAft>
                <a:spcPts val="400"/>
              </a:spcAft>
            </a:pPr>
            <a:r>
              <a:rPr sz="1100" b="0">
                <a:solidFill>
                  <a:srgbClr val="161B26"/>
                </a:solidFill>
                <a:latin typeface="Arial"/>
              </a:rPr>
              <a:t>Use Power Query to load, clean and reshape data sets so trends and patterns become visible.</a:t>
            </a:r>
          </a:p>
        </p:txBody>
      </p:sp>
      <p:sp>
        <p:nvSpPr>
          <p:cNvPr id="13" name="Rectangle 12"/>
          <p:cNvSpPr/>
          <p:nvPr/>
        </p:nvSpPr>
        <p:spPr>
          <a:xfrm>
            <a:off x="4355592" y="1719072"/>
            <a:ext cx="3441192"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5592"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5048"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504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5105400" y="1847088"/>
            <a:ext cx="2526792" cy="548640"/>
          </a:xfrm>
          <a:prstGeom prst="rect">
            <a:avLst/>
          </a:prstGeom>
          <a:noFill/>
        </p:spPr>
        <p:txBody>
          <a:bodyPr wrap="square" anchor="ctr">
            <a:spAutoFit/>
          </a:bodyPr>
          <a:lstStyle/>
          <a:p>
            <a:pPr algn="l">
              <a:spcAft>
                <a:spcPts val="400"/>
              </a:spcAft>
            </a:pPr>
            <a:r>
              <a:rPr sz="1400" b="1">
                <a:solidFill>
                  <a:srgbClr val="10B981"/>
                </a:solidFill>
                <a:latin typeface="Arial"/>
              </a:rPr>
              <a:t>LO2 · Develop</a:t>
            </a:r>
          </a:p>
        </p:txBody>
      </p:sp>
      <p:sp>
        <p:nvSpPr>
          <p:cNvPr id="18" name="TextBox 17"/>
          <p:cNvSpPr txBox="1"/>
          <p:nvPr/>
        </p:nvSpPr>
        <p:spPr>
          <a:xfrm>
            <a:off x="4611624" y="2432304"/>
            <a:ext cx="2947416" cy="2706624"/>
          </a:xfrm>
          <a:prstGeom prst="rect">
            <a:avLst/>
          </a:prstGeom>
          <a:noFill/>
        </p:spPr>
        <p:txBody>
          <a:bodyPr wrap="square" anchor="t">
            <a:spAutoFit/>
          </a:bodyPr>
          <a:lstStyle/>
          <a:p>
            <a:pPr algn="l">
              <a:spcAft>
                <a:spcPts val="400"/>
              </a:spcAft>
            </a:pPr>
            <a:r>
              <a:rPr sz="1100" b="0">
                <a:solidFill>
                  <a:srgbClr val="161B26"/>
                </a:solidFill>
                <a:latin typeface="Arial"/>
              </a:rPr>
              <a:t>Build methods in Power Query and Power Pivot — logic, dates, grouping and DAX measures — for complex data.</a:t>
            </a:r>
          </a:p>
        </p:txBody>
      </p:sp>
      <p:sp>
        <p:nvSpPr>
          <p:cNvPr id="19" name="Rectangle 18"/>
          <p:cNvSpPr/>
          <p:nvPr/>
        </p:nvSpPr>
        <p:spPr>
          <a:xfrm>
            <a:off x="8052816" y="1719072"/>
            <a:ext cx="3441192"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2816"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72272"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227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8802624" y="1847088"/>
            <a:ext cx="2526792" cy="548640"/>
          </a:xfrm>
          <a:prstGeom prst="rect">
            <a:avLst/>
          </a:prstGeom>
          <a:noFill/>
        </p:spPr>
        <p:txBody>
          <a:bodyPr wrap="square" anchor="ctr">
            <a:spAutoFit/>
          </a:bodyPr>
          <a:lstStyle/>
          <a:p>
            <a:pPr algn="l">
              <a:spcAft>
                <a:spcPts val="400"/>
              </a:spcAft>
            </a:pPr>
            <a:r>
              <a:rPr sz="1400" b="1">
                <a:solidFill>
                  <a:srgbClr val="7C3AED"/>
                </a:solidFill>
                <a:latin typeface="Arial"/>
              </a:rPr>
              <a:t>LO3 · Apply</a:t>
            </a:r>
          </a:p>
        </p:txBody>
      </p:sp>
      <p:sp>
        <p:nvSpPr>
          <p:cNvPr id="24" name="TextBox 23"/>
          <p:cNvSpPr txBox="1"/>
          <p:nvPr/>
        </p:nvSpPr>
        <p:spPr>
          <a:xfrm>
            <a:off x="8308848" y="2432304"/>
            <a:ext cx="2947416" cy="2706624"/>
          </a:xfrm>
          <a:prstGeom prst="rect">
            <a:avLst/>
          </a:prstGeom>
          <a:noFill/>
        </p:spPr>
        <p:txBody>
          <a:bodyPr wrap="square" anchor="t">
            <a:spAutoFit/>
          </a:bodyPr>
          <a:lstStyle/>
          <a:p>
            <a:pPr algn="l">
              <a:spcAft>
                <a:spcPts val="400"/>
              </a:spcAft>
            </a:pPr>
            <a:r>
              <a:rPr sz="1100" b="0">
                <a:solidFill>
                  <a:srgbClr val="161B26"/>
                </a:solidFill>
                <a:latin typeface="Arial"/>
              </a:rPr>
              <a:t>Apply advanced joins, approximate and fuzzy matching to examine real business issues.</a:t>
            </a:r>
          </a:p>
        </p:txBody>
      </p:sp>
      <p:sp>
        <p:nvSpPr>
          <p:cNvPr id="25" name="Rectangle 24"/>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5394960"/>
            <a:ext cx="100584"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1F6FEB"/>
                </a:solidFill>
                <a:latin typeface="Arial"/>
              </a:rPr>
              <a:t>HOW YOU WILL GET THERE</a:t>
            </a:r>
          </a:p>
        </p:txBody>
      </p:sp>
      <p:sp>
        <p:nvSpPr>
          <p:cNvPr id="28" name="TextBox 27"/>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Each outcome is taught as a concept, demonstrated by the trainer, then built by you in the labs — 19 hands-on labs across the two days.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35% OF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Topic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655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Lab 01</a:t>
            </a:r>
          </a:p>
        </p:txBody>
      </p:sp>
      <p:sp>
        <p:nvSpPr>
          <p:cNvPr id="12" name="TextBox 11"/>
          <p:cNvSpPr txBox="1"/>
          <p:nvPr/>
        </p:nvSpPr>
        <p:spPr>
          <a:xfrm>
            <a:off x="914400"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Load Sales Data and Fix Data Types</a:t>
            </a:r>
          </a:p>
        </p:txBody>
      </p:sp>
      <p:sp>
        <p:nvSpPr>
          <p:cNvPr id="13" name="Rectangle 12"/>
          <p:cNvSpPr/>
          <p:nvPr/>
        </p:nvSpPr>
        <p:spPr>
          <a:xfrm>
            <a:off x="3431286"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1655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Lab 02</a:t>
            </a:r>
          </a:p>
        </p:txBody>
      </p:sp>
      <p:sp>
        <p:nvSpPr>
          <p:cNvPr id="18" name="TextBox 17"/>
          <p:cNvSpPr txBox="1"/>
          <p:nvPr/>
        </p:nvSpPr>
        <p:spPr>
          <a:xfrm>
            <a:off x="3687318"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Combine an External Workbook as a Connection Only</a:t>
            </a:r>
          </a:p>
        </p:txBody>
      </p:sp>
      <p:sp>
        <p:nvSpPr>
          <p:cNvPr id="19" name="Rectangle 18"/>
          <p:cNvSpPr/>
          <p:nvPr/>
        </p:nvSpPr>
        <p:spPr>
          <a:xfrm>
            <a:off x="6204204"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1655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Lab 03</a:t>
            </a:r>
          </a:p>
        </p:txBody>
      </p:sp>
      <p:sp>
        <p:nvSpPr>
          <p:cNvPr id="24" name="TextBox 23"/>
          <p:cNvSpPr txBox="1"/>
          <p:nvPr/>
        </p:nvSpPr>
        <p:spPr>
          <a:xfrm>
            <a:off x="6460236"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Fill Down and Fill Up a Ragged Report</a:t>
            </a:r>
          </a:p>
        </p:txBody>
      </p:sp>
      <p:sp>
        <p:nvSpPr>
          <p:cNvPr id="25" name="Rectangle 24"/>
          <p:cNvSpPr/>
          <p:nvPr/>
        </p:nvSpPr>
        <p:spPr>
          <a:xfrm>
            <a:off x="8977122"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1655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Lab 04</a:t>
            </a:r>
          </a:p>
        </p:txBody>
      </p:sp>
      <p:sp>
        <p:nvSpPr>
          <p:cNvPr id="30" name="TextBox 29"/>
          <p:cNvSpPr txBox="1"/>
          <p:nvPr/>
        </p:nvSpPr>
        <p:spPr>
          <a:xfrm>
            <a:off x="9233154"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Split Columns by Delimiter and into Rows</a:t>
            </a:r>
          </a:p>
        </p:txBody>
      </p:sp>
      <p:sp>
        <p:nvSpPr>
          <p:cNvPr id="31" name="Rectangle 30"/>
          <p:cNvSpPr/>
          <p:nvPr/>
        </p:nvSpPr>
        <p:spPr>
          <a:xfrm>
            <a:off x="658368" y="359359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3593592"/>
            <a:ext cx="82296" cy="1655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7824" y="377647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77647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5" name="TextBox 34"/>
          <p:cNvSpPr txBox="1"/>
          <p:nvPr/>
        </p:nvSpPr>
        <p:spPr>
          <a:xfrm>
            <a:off x="1408176" y="372160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Lab 05</a:t>
            </a:r>
          </a:p>
        </p:txBody>
      </p:sp>
      <p:sp>
        <p:nvSpPr>
          <p:cNvPr id="36" name="TextBox 35"/>
          <p:cNvSpPr txBox="1"/>
          <p:nvPr/>
        </p:nvSpPr>
        <p:spPr>
          <a:xfrm>
            <a:off x="914400" y="430682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Add Conditional, Custom and Example-Driven Columns</a:t>
            </a:r>
          </a:p>
        </p:txBody>
      </p:sp>
      <p:sp>
        <p:nvSpPr>
          <p:cNvPr id="37" name="Rectangle 36"/>
          <p:cNvSpPr/>
          <p:nvPr/>
        </p:nvSpPr>
        <p:spPr>
          <a:xfrm>
            <a:off x="3431286" y="359359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31286" y="3593592"/>
            <a:ext cx="82296" cy="1655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50742" y="377647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0742" y="377647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41" name="TextBox 40"/>
          <p:cNvSpPr txBox="1"/>
          <p:nvPr/>
        </p:nvSpPr>
        <p:spPr>
          <a:xfrm>
            <a:off x="4181094" y="372160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Lab 06</a:t>
            </a:r>
          </a:p>
        </p:txBody>
      </p:sp>
      <p:sp>
        <p:nvSpPr>
          <p:cNvPr id="42" name="TextBox 41"/>
          <p:cNvSpPr txBox="1"/>
          <p:nvPr/>
        </p:nvSpPr>
        <p:spPr>
          <a:xfrm>
            <a:off x="3687318" y="430682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Merge Columns, Sort and Filter</a:t>
            </a:r>
          </a:p>
        </p:txBody>
      </p:sp>
      <p:sp>
        <p:nvSpPr>
          <p:cNvPr id="43" name="Rectangle 42"/>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5394960"/>
            <a:ext cx="100584"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1F6FEB"/>
                </a:solidFill>
                <a:latin typeface="Arial"/>
              </a:rPr>
              <a:t>REVIEW DATA WITH POWER QUERY</a:t>
            </a:r>
          </a:p>
        </p:txBody>
      </p:sp>
      <p:sp>
        <p:nvSpPr>
          <p:cNvPr id="46" name="TextBox 45"/>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Data types · Getting data · Shaping columns · Sorting and filtering</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35% OF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Topic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655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Lab 07</a:t>
            </a:r>
          </a:p>
        </p:txBody>
      </p:sp>
      <p:sp>
        <p:nvSpPr>
          <p:cNvPr id="12" name="TextBox 11"/>
          <p:cNvSpPr txBox="1"/>
          <p:nvPr/>
        </p:nvSpPr>
        <p:spPr>
          <a:xfrm>
            <a:off x="914400"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Conditional Logic with IF in M</a:t>
            </a:r>
          </a:p>
        </p:txBody>
      </p:sp>
      <p:sp>
        <p:nvSpPr>
          <p:cNvPr id="13" name="Rectangle 12"/>
          <p:cNvSpPr/>
          <p:nvPr/>
        </p:nvSpPr>
        <p:spPr>
          <a:xfrm>
            <a:off x="3431286"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1655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Lab 08</a:t>
            </a:r>
          </a:p>
        </p:txBody>
      </p:sp>
      <p:sp>
        <p:nvSpPr>
          <p:cNvPr id="18" name="TextBox 17"/>
          <p:cNvSpPr txBox="1"/>
          <p:nvPr/>
        </p:nvSpPr>
        <p:spPr>
          <a:xfrm>
            <a:off x="3687318"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Nest IF with AND for a Priority Flag</a:t>
            </a:r>
          </a:p>
        </p:txBody>
      </p:sp>
      <p:sp>
        <p:nvSpPr>
          <p:cNvPr id="19" name="Rectangle 18"/>
          <p:cNvSpPr/>
          <p:nvPr/>
        </p:nvSpPr>
        <p:spPr>
          <a:xfrm>
            <a:off x="6204204"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1655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Lab 09</a:t>
            </a:r>
          </a:p>
        </p:txBody>
      </p:sp>
      <p:sp>
        <p:nvSpPr>
          <p:cNvPr id="24" name="TextBox 23"/>
          <p:cNvSpPr txBox="1"/>
          <p:nvPr/>
        </p:nvSpPr>
        <p:spPr>
          <a:xfrm>
            <a:off x="6460236"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Calculate Deadlines with Date.AddDays</a:t>
            </a:r>
          </a:p>
        </p:txBody>
      </p:sp>
      <p:sp>
        <p:nvSpPr>
          <p:cNvPr id="25" name="Rectangle 24"/>
          <p:cNvSpPr/>
          <p:nvPr/>
        </p:nvSpPr>
        <p:spPr>
          <a:xfrm>
            <a:off x="8977122"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1655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Lab 10</a:t>
            </a:r>
          </a:p>
        </p:txBody>
      </p:sp>
      <p:sp>
        <p:nvSpPr>
          <p:cNvPr id="30" name="TextBox 29"/>
          <p:cNvSpPr txBox="1"/>
          <p:nvPr/>
        </p:nvSpPr>
        <p:spPr>
          <a:xfrm>
            <a:off x="9233154"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Unpivot a Wide Report into Tidy Rows</a:t>
            </a:r>
          </a:p>
        </p:txBody>
      </p:sp>
      <p:sp>
        <p:nvSpPr>
          <p:cNvPr id="31" name="Rectangle 30"/>
          <p:cNvSpPr/>
          <p:nvPr/>
        </p:nvSpPr>
        <p:spPr>
          <a:xfrm>
            <a:off x="658368" y="359359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3593592"/>
            <a:ext cx="82296" cy="1655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7824" y="377647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77647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5" name="TextBox 34"/>
          <p:cNvSpPr txBox="1"/>
          <p:nvPr/>
        </p:nvSpPr>
        <p:spPr>
          <a:xfrm>
            <a:off x="1408176" y="372160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Lab 11</a:t>
            </a:r>
          </a:p>
        </p:txBody>
      </p:sp>
      <p:sp>
        <p:nvSpPr>
          <p:cNvPr id="36" name="TextBox 35"/>
          <p:cNvSpPr txBox="1"/>
          <p:nvPr/>
        </p:nvSpPr>
        <p:spPr>
          <a:xfrm>
            <a:off x="914400" y="430682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Pivot, Pivot Without Aggregation, and Append</a:t>
            </a:r>
          </a:p>
        </p:txBody>
      </p:sp>
      <p:sp>
        <p:nvSpPr>
          <p:cNvPr id="37" name="Rectangle 36"/>
          <p:cNvSpPr/>
          <p:nvPr/>
        </p:nvSpPr>
        <p:spPr>
          <a:xfrm>
            <a:off x="3431286" y="359359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31286" y="3593592"/>
            <a:ext cx="82296" cy="1655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50742" y="377647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0742" y="377647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41" name="TextBox 40"/>
          <p:cNvSpPr txBox="1"/>
          <p:nvPr/>
        </p:nvSpPr>
        <p:spPr>
          <a:xfrm>
            <a:off x="4181094" y="372160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Lab 12</a:t>
            </a:r>
          </a:p>
        </p:txBody>
      </p:sp>
      <p:sp>
        <p:nvSpPr>
          <p:cNvPr id="42" name="TextBox 41"/>
          <p:cNvSpPr txBox="1"/>
          <p:nvPr/>
        </p:nvSpPr>
        <p:spPr>
          <a:xfrm>
            <a:off x="3687318" y="430682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Summarise with Group By</a:t>
            </a:r>
          </a:p>
        </p:txBody>
      </p:sp>
      <p:sp>
        <p:nvSpPr>
          <p:cNvPr id="43" name="Rectangle 42"/>
          <p:cNvSpPr/>
          <p:nvPr/>
        </p:nvSpPr>
        <p:spPr>
          <a:xfrm>
            <a:off x="6204204" y="359359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04204" y="3593592"/>
            <a:ext cx="82296" cy="1655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23660" y="377647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23660" y="377647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47" name="TextBox 46"/>
          <p:cNvSpPr txBox="1"/>
          <p:nvPr/>
        </p:nvSpPr>
        <p:spPr>
          <a:xfrm>
            <a:off x="6954012" y="372160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Lab 13</a:t>
            </a:r>
          </a:p>
        </p:txBody>
      </p:sp>
      <p:sp>
        <p:nvSpPr>
          <p:cNvPr id="48" name="TextBox 47"/>
          <p:cNvSpPr txBox="1"/>
          <p:nvPr/>
        </p:nvSpPr>
        <p:spPr>
          <a:xfrm>
            <a:off x="6460236" y="430682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Build a Power Pivot Data Model with DAX Measures</a:t>
            </a:r>
          </a:p>
        </p:txBody>
      </p:sp>
      <p:sp>
        <p:nvSpPr>
          <p:cNvPr id="49" name="Rectangle 48"/>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58368" y="5394960"/>
            <a:ext cx="100584"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10B981"/>
                </a:solidFill>
                <a:latin typeface="Arial"/>
              </a:rPr>
              <a:t>DATA ANALYSIS WITH POWER QUERY AND POWER PIVOT</a:t>
            </a:r>
          </a:p>
        </p:txBody>
      </p:sp>
      <p:sp>
        <p:nvSpPr>
          <p:cNvPr id="52" name="TextBox 51"/>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Logic · Dates · Pivot and unpivot · Group By · Append · The Data Model</a:t>
            </a:r>
          </a:p>
        </p:txBody>
      </p:sp>
      <p:sp>
        <p:nvSpPr>
          <p:cNvPr id="53" name="TextBox 5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4" name="TextBox 5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5" name="TextBox 5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30% OF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Topic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1655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Lab 14</a:t>
            </a:r>
          </a:p>
        </p:txBody>
      </p:sp>
      <p:sp>
        <p:nvSpPr>
          <p:cNvPr id="12" name="TextBox 11"/>
          <p:cNvSpPr txBox="1"/>
          <p:nvPr/>
        </p:nvSpPr>
        <p:spPr>
          <a:xfrm>
            <a:off x="914400"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Walk Through All Six Join Kinds</a:t>
            </a:r>
          </a:p>
        </p:txBody>
      </p:sp>
      <p:sp>
        <p:nvSpPr>
          <p:cNvPr id="13" name="Rectangle 12"/>
          <p:cNvSpPr/>
          <p:nvPr/>
        </p:nvSpPr>
        <p:spPr>
          <a:xfrm>
            <a:off x="3431286"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1655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Lab 15</a:t>
            </a:r>
          </a:p>
        </p:txBody>
      </p:sp>
      <p:sp>
        <p:nvSpPr>
          <p:cNvPr id="18" name="TextBox 17"/>
          <p:cNvSpPr txBox="1"/>
          <p:nvPr/>
        </p:nvSpPr>
        <p:spPr>
          <a:xfrm>
            <a:off x="3687318"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Left Outer Join versus XLOOKUP</a:t>
            </a:r>
          </a:p>
        </p:txBody>
      </p:sp>
      <p:sp>
        <p:nvSpPr>
          <p:cNvPr id="19" name="Rectangle 18"/>
          <p:cNvSpPr/>
          <p:nvPr/>
        </p:nvSpPr>
        <p:spPr>
          <a:xfrm>
            <a:off x="6204204"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1655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Lab 16</a:t>
            </a:r>
          </a:p>
        </p:txBody>
      </p:sp>
      <p:sp>
        <p:nvSpPr>
          <p:cNvPr id="24" name="TextBox 23"/>
          <p:cNvSpPr txBox="1"/>
          <p:nvPr/>
        </p:nvSpPr>
        <p:spPr>
          <a:xfrm>
            <a:off x="6460236"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Merge on Multiple Fields</a:t>
            </a:r>
          </a:p>
        </p:txBody>
      </p:sp>
      <p:sp>
        <p:nvSpPr>
          <p:cNvPr id="25" name="Rectangle 24"/>
          <p:cNvSpPr/>
          <p:nvPr/>
        </p:nvSpPr>
        <p:spPr>
          <a:xfrm>
            <a:off x="8977122" y="171907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16550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Lab 17</a:t>
            </a:r>
          </a:p>
        </p:txBody>
      </p:sp>
      <p:sp>
        <p:nvSpPr>
          <p:cNvPr id="30" name="TextBox 29"/>
          <p:cNvSpPr txBox="1"/>
          <p:nvPr/>
        </p:nvSpPr>
        <p:spPr>
          <a:xfrm>
            <a:off x="9233154" y="243230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Approximate Match: Binning and Conditional Columns</a:t>
            </a:r>
          </a:p>
        </p:txBody>
      </p:sp>
      <p:sp>
        <p:nvSpPr>
          <p:cNvPr id="31" name="Rectangle 30"/>
          <p:cNvSpPr/>
          <p:nvPr/>
        </p:nvSpPr>
        <p:spPr>
          <a:xfrm>
            <a:off x="658368" y="359359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3593592"/>
            <a:ext cx="82296" cy="1655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7824" y="377647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377647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5" name="TextBox 34"/>
          <p:cNvSpPr txBox="1"/>
          <p:nvPr/>
        </p:nvSpPr>
        <p:spPr>
          <a:xfrm>
            <a:off x="1408176" y="372160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Lab 18</a:t>
            </a:r>
          </a:p>
        </p:txBody>
      </p:sp>
      <p:sp>
        <p:nvSpPr>
          <p:cNvPr id="36" name="TextBox 35"/>
          <p:cNvSpPr txBox="1"/>
          <p:nvPr/>
        </p:nvSpPr>
        <p:spPr>
          <a:xfrm>
            <a:off x="914400" y="430682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Cross Join and Drill Down to a Variable</a:t>
            </a:r>
          </a:p>
        </p:txBody>
      </p:sp>
      <p:sp>
        <p:nvSpPr>
          <p:cNvPr id="37" name="Rectangle 36"/>
          <p:cNvSpPr/>
          <p:nvPr/>
        </p:nvSpPr>
        <p:spPr>
          <a:xfrm>
            <a:off x="3431286" y="3593592"/>
            <a:ext cx="2516886" cy="1655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31286" y="3593592"/>
            <a:ext cx="82296" cy="1655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50742" y="377647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0742" y="377647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41" name="TextBox 40"/>
          <p:cNvSpPr txBox="1"/>
          <p:nvPr/>
        </p:nvSpPr>
        <p:spPr>
          <a:xfrm>
            <a:off x="4181094" y="372160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Lab 19</a:t>
            </a:r>
          </a:p>
        </p:txBody>
      </p:sp>
      <p:sp>
        <p:nvSpPr>
          <p:cNvPr id="42" name="TextBox 41"/>
          <p:cNvSpPr txBox="1"/>
          <p:nvPr/>
        </p:nvSpPr>
        <p:spPr>
          <a:xfrm>
            <a:off x="3687318" y="4306824"/>
            <a:ext cx="2023110" cy="832104"/>
          </a:xfrm>
          <a:prstGeom prst="rect">
            <a:avLst/>
          </a:prstGeom>
          <a:noFill/>
        </p:spPr>
        <p:txBody>
          <a:bodyPr wrap="square" anchor="t">
            <a:spAutoFit/>
          </a:bodyPr>
          <a:lstStyle/>
          <a:p>
            <a:pPr algn="l">
              <a:spcAft>
                <a:spcPts val="400"/>
              </a:spcAft>
            </a:pPr>
            <a:r>
              <a:rPr sz="1100" b="0">
                <a:solidFill>
                  <a:srgbClr val="161B26"/>
                </a:solidFill>
                <a:latin typeface="Arial"/>
              </a:rPr>
              <a:t>Fuzzy Matching and Transformation Tables</a:t>
            </a:r>
          </a:p>
        </p:txBody>
      </p:sp>
      <p:sp>
        <p:nvSpPr>
          <p:cNvPr id="43" name="Rectangle 42"/>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5394960"/>
            <a:ext cx="100584"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7C3AED"/>
                </a:solidFill>
                <a:latin typeface="Arial"/>
              </a:rPr>
              <a:t>ADVANCED DATA ANALYSIS USING POWER QUERY</a:t>
            </a:r>
          </a:p>
        </p:txBody>
      </p:sp>
      <p:sp>
        <p:nvSpPr>
          <p:cNvPr id="46" name="TextBox 45"/>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The six joins · Merge · Approximate match · Fuzzy matching · Transformation tables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870862" cy="475488"/>
          </a:xfrm>
          <a:prstGeom prst="rect">
            <a:avLst/>
          </a:prstGeom>
          <a:noFill/>
        </p:spPr>
        <p:txBody>
          <a:bodyPr wrap="square" anchor="ctr">
            <a:spAutoFit/>
          </a:bodyPr>
          <a:lstStyle/>
          <a:p>
            <a:pPr algn="l">
              <a:spcAft>
                <a:spcPts val="400"/>
              </a:spcAft>
            </a:pPr>
            <a:r>
              <a:rPr sz="1300" b="1">
                <a:solidFill>
                  <a:srgbClr val="FFFFFF"/>
                </a:solidFill>
                <a:latin typeface="Arial"/>
              </a:rPr>
              <a:t>Time</a:t>
            </a:r>
          </a:p>
        </p:txBody>
      </p:sp>
      <p:sp>
        <p:nvSpPr>
          <p:cNvPr id="9" name="Rectangle 8"/>
          <p:cNvSpPr/>
          <p:nvPr/>
        </p:nvSpPr>
        <p:spPr>
          <a:xfrm>
            <a:off x="2904134" y="1783080"/>
            <a:ext cx="4253789"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2150" y="1783080"/>
            <a:ext cx="3997757" cy="475488"/>
          </a:xfrm>
          <a:prstGeom prst="rect">
            <a:avLst/>
          </a:prstGeom>
          <a:noFill/>
        </p:spPr>
        <p:txBody>
          <a:bodyPr wrap="square" anchor="ctr">
            <a:spAutoFit/>
          </a:bodyPr>
          <a:lstStyle/>
          <a:p>
            <a:pPr algn="l">
              <a:spcAft>
                <a:spcPts val="400"/>
              </a:spcAft>
            </a:pPr>
            <a:r>
              <a:rPr sz="1300" b="1">
                <a:solidFill>
                  <a:srgbClr val="FFFFFF"/>
                </a:solidFill>
                <a:latin typeface="Arial"/>
              </a:rPr>
              <a:t>Session</a:t>
            </a:r>
          </a:p>
        </p:txBody>
      </p:sp>
      <p:sp>
        <p:nvSpPr>
          <p:cNvPr id="11" name="Rectangle 10"/>
          <p:cNvSpPr/>
          <p:nvPr/>
        </p:nvSpPr>
        <p:spPr>
          <a:xfrm>
            <a:off x="7157923" y="1783080"/>
            <a:ext cx="425378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85939" y="1783080"/>
            <a:ext cx="3997757" cy="475488"/>
          </a:xfrm>
          <a:prstGeom prst="rect">
            <a:avLst/>
          </a:prstGeom>
          <a:noFill/>
        </p:spPr>
        <p:txBody>
          <a:bodyPr wrap="square" anchor="ctr">
            <a:spAutoFit/>
          </a:bodyPr>
          <a:lstStyle/>
          <a:p>
            <a:pPr algn="l">
              <a:spcAft>
                <a:spcPts val="400"/>
              </a:spcAft>
            </a:pPr>
            <a:r>
              <a:rPr sz="1300" b="1">
                <a:solidFill>
                  <a:srgbClr val="FFFFFF"/>
                </a:solidFill>
                <a:latin typeface="Arial"/>
              </a:rPr>
              <a:t>Detail</a:t>
            </a:r>
          </a:p>
        </p:txBody>
      </p:sp>
      <p:sp>
        <p:nvSpPr>
          <p:cNvPr id="13" name="Rectangle 12"/>
          <p:cNvSpPr/>
          <p:nvPr/>
        </p:nvSpPr>
        <p:spPr>
          <a:xfrm>
            <a:off x="777240" y="2258568"/>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9:30 – 9:45</a:t>
            </a:r>
          </a:p>
        </p:txBody>
      </p:sp>
      <p:sp>
        <p:nvSpPr>
          <p:cNvPr id="15" name="Rectangle 14"/>
          <p:cNvSpPr/>
          <p:nvPr/>
        </p:nvSpPr>
        <p:spPr>
          <a:xfrm>
            <a:off x="2904134" y="2258568"/>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258568"/>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Digital Attendance (AM)</a:t>
            </a:r>
          </a:p>
        </p:txBody>
      </p:sp>
      <p:sp>
        <p:nvSpPr>
          <p:cNvPr id="17" name="Rectangle 16"/>
          <p:cNvSpPr/>
          <p:nvPr/>
        </p:nvSpPr>
        <p:spPr>
          <a:xfrm>
            <a:off x="7157923" y="2258568"/>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7651" y="2258568"/>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Scan the SSG QR code</a:t>
            </a:r>
          </a:p>
        </p:txBody>
      </p:sp>
      <p:sp>
        <p:nvSpPr>
          <p:cNvPr id="19" name="Rectangle 18"/>
          <p:cNvSpPr/>
          <p:nvPr/>
        </p:nvSpPr>
        <p:spPr>
          <a:xfrm>
            <a:off x="777240" y="2762631"/>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62631"/>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9:45 – 10:15</a:t>
            </a:r>
          </a:p>
        </p:txBody>
      </p:sp>
      <p:sp>
        <p:nvSpPr>
          <p:cNvPr id="21" name="Rectangle 20"/>
          <p:cNvSpPr/>
          <p:nvPr/>
        </p:nvSpPr>
        <p:spPr>
          <a:xfrm>
            <a:off x="2904134" y="2762631"/>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2762631"/>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Introductions &amp; Course Overview</a:t>
            </a:r>
          </a:p>
        </p:txBody>
      </p:sp>
      <p:sp>
        <p:nvSpPr>
          <p:cNvPr id="23" name="Rectangle 22"/>
          <p:cNvSpPr/>
          <p:nvPr/>
        </p:nvSpPr>
        <p:spPr>
          <a:xfrm>
            <a:off x="7157923" y="2762631"/>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7651" y="2762631"/>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Outcomes, outline, assessment</a:t>
            </a:r>
          </a:p>
        </p:txBody>
      </p:sp>
      <p:sp>
        <p:nvSpPr>
          <p:cNvPr id="25" name="Rectangle 24"/>
          <p:cNvSpPr/>
          <p:nvPr/>
        </p:nvSpPr>
        <p:spPr>
          <a:xfrm>
            <a:off x="777240" y="3266694"/>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266694"/>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10:15 – 12:30</a:t>
            </a:r>
          </a:p>
        </p:txBody>
      </p:sp>
      <p:sp>
        <p:nvSpPr>
          <p:cNvPr id="27" name="Rectangle 26"/>
          <p:cNvSpPr/>
          <p:nvPr/>
        </p:nvSpPr>
        <p:spPr>
          <a:xfrm>
            <a:off x="2904134" y="3266694"/>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266694"/>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Topic 1 (Part 1)</a:t>
            </a:r>
          </a:p>
        </p:txBody>
      </p:sp>
      <p:sp>
        <p:nvSpPr>
          <p:cNvPr id="29" name="Rectangle 28"/>
          <p:cNvSpPr/>
          <p:nvPr/>
        </p:nvSpPr>
        <p:spPr>
          <a:xfrm>
            <a:off x="7157923" y="3266694"/>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7651" y="3266694"/>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Power Query concepts · Labs 01–03</a:t>
            </a:r>
          </a:p>
        </p:txBody>
      </p:sp>
      <p:sp>
        <p:nvSpPr>
          <p:cNvPr id="31" name="Rectangle 30"/>
          <p:cNvSpPr/>
          <p:nvPr/>
        </p:nvSpPr>
        <p:spPr>
          <a:xfrm>
            <a:off x="777240" y="3770757"/>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770757"/>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12:30 – 13:30</a:t>
            </a:r>
          </a:p>
        </p:txBody>
      </p:sp>
      <p:sp>
        <p:nvSpPr>
          <p:cNvPr id="33" name="Rectangle 32"/>
          <p:cNvSpPr/>
          <p:nvPr/>
        </p:nvSpPr>
        <p:spPr>
          <a:xfrm>
            <a:off x="2904134" y="3770757"/>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770757"/>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Lunch Break</a:t>
            </a:r>
          </a:p>
        </p:txBody>
      </p:sp>
      <p:sp>
        <p:nvSpPr>
          <p:cNvPr id="35" name="Rectangle 34"/>
          <p:cNvSpPr/>
          <p:nvPr/>
        </p:nvSpPr>
        <p:spPr>
          <a:xfrm>
            <a:off x="7157923" y="3770757"/>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1" y="3770757"/>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a:t>
            </a:r>
          </a:p>
        </p:txBody>
      </p:sp>
      <p:sp>
        <p:nvSpPr>
          <p:cNvPr id="37" name="Rectangle 36"/>
          <p:cNvSpPr/>
          <p:nvPr/>
        </p:nvSpPr>
        <p:spPr>
          <a:xfrm>
            <a:off x="777240" y="4274820"/>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274820"/>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13:30 – 13:40</a:t>
            </a:r>
          </a:p>
        </p:txBody>
      </p:sp>
      <p:sp>
        <p:nvSpPr>
          <p:cNvPr id="39" name="Rectangle 38"/>
          <p:cNvSpPr/>
          <p:nvPr/>
        </p:nvSpPr>
        <p:spPr>
          <a:xfrm>
            <a:off x="2904134" y="4274820"/>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3862" y="4274820"/>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Digital Attendance (PM)</a:t>
            </a:r>
          </a:p>
        </p:txBody>
      </p:sp>
      <p:sp>
        <p:nvSpPr>
          <p:cNvPr id="41" name="Rectangle 40"/>
          <p:cNvSpPr/>
          <p:nvPr/>
        </p:nvSpPr>
        <p:spPr>
          <a:xfrm>
            <a:off x="7157923" y="4274820"/>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7651" y="4274820"/>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Scan the SSG QR code</a:t>
            </a:r>
          </a:p>
        </p:txBody>
      </p:sp>
      <p:sp>
        <p:nvSpPr>
          <p:cNvPr id="43" name="Rectangle 42"/>
          <p:cNvSpPr/>
          <p:nvPr/>
        </p:nvSpPr>
        <p:spPr>
          <a:xfrm>
            <a:off x="777240" y="4778883"/>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778883"/>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13:40 – 15:45</a:t>
            </a:r>
          </a:p>
        </p:txBody>
      </p:sp>
      <p:sp>
        <p:nvSpPr>
          <p:cNvPr id="45" name="Rectangle 44"/>
          <p:cNvSpPr/>
          <p:nvPr/>
        </p:nvSpPr>
        <p:spPr>
          <a:xfrm>
            <a:off x="2904134" y="4778883"/>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13862" y="4778883"/>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Topic 1 (Part 2)</a:t>
            </a:r>
          </a:p>
        </p:txBody>
      </p:sp>
      <p:sp>
        <p:nvSpPr>
          <p:cNvPr id="47" name="Rectangle 46"/>
          <p:cNvSpPr/>
          <p:nvPr/>
        </p:nvSpPr>
        <p:spPr>
          <a:xfrm>
            <a:off x="7157923" y="4778883"/>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67651" y="4778883"/>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Column shaping · Labs 04–06</a:t>
            </a:r>
          </a:p>
        </p:txBody>
      </p:sp>
      <p:sp>
        <p:nvSpPr>
          <p:cNvPr id="49" name="Rectangle 48"/>
          <p:cNvSpPr/>
          <p:nvPr/>
        </p:nvSpPr>
        <p:spPr>
          <a:xfrm>
            <a:off x="777240" y="5282946"/>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282946"/>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15:45 – 18:00</a:t>
            </a:r>
          </a:p>
        </p:txBody>
      </p:sp>
      <p:sp>
        <p:nvSpPr>
          <p:cNvPr id="51" name="Rectangle 50"/>
          <p:cNvSpPr/>
          <p:nvPr/>
        </p:nvSpPr>
        <p:spPr>
          <a:xfrm>
            <a:off x="2904134" y="5282946"/>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013862" y="5282946"/>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Topic 2 (Part 1)</a:t>
            </a:r>
          </a:p>
        </p:txBody>
      </p:sp>
      <p:sp>
        <p:nvSpPr>
          <p:cNvPr id="53" name="Rectangle 52"/>
          <p:cNvSpPr/>
          <p:nvPr/>
        </p:nvSpPr>
        <p:spPr>
          <a:xfrm>
            <a:off x="7157923" y="5282946"/>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67651" y="5282946"/>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Logic and dates · Labs 07–09</a:t>
            </a:r>
          </a:p>
        </p:txBody>
      </p:sp>
      <p:sp>
        <p:nvSpPr>
          <p:cNvPr id="55" name="Rectangle 54"/>
          <p:cNvSpPr/>
          <p:nvPr/>
        </p:nvSpPr>
        <p:spPr>
          <a:xfrm>
            <a:off x="777240" y="5787009"/>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787009"/>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18:00 – 18:30</a:t>
            </a:r>
          </a:p>
        </p:txBody>
      </p:sp>
      <p:sp>
        <p:nvSpPr>
          <p:cNvPr id="57" name="Rectangle 56"/>
          <p:cNvSpPr/>
          <p:nvPr/>
        </p:nvSpPr>
        <p:spPr>
          <a:xfrm>
            <a:off x="2904134" y="5787009"/>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13862" y="5787009"/>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Day 1 Recap</a:t>
            </a:r>
          </a:p>
        </p:txBody>
      </p:sp>
      <p:sp>
        <p:nvSpPr>
          <p:cNvPr id="59" name="Rectangle 58"/>
          <p:cNvSpPr/>
          <p:nvPr/>
        </p:nvSpPr>
        <p:spPr>
          <a:xfrm>
            <a:off x="7157923" y="5787009"/>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67651" y="5787009"/>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Q&amp;A and consolidation</a:t>
            </a:r>
          </a:p>
        </p:txBody>
      </p:sp>
      <p:sp>
        <p:nvSpPr>
          <p:cNvPr id="61" name="TextBox 6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62" name="TextBox 6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3" name="TextBox 6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870862" cy="475488"/>
          </a:xfrm>
          <a:prstGeom prst="rect">
            <a:avLst/>
          </a:prstGeom>
          <a:noFill/>
        </p:spPr>
        <p:txBody>
          <a:bodyPr wrap="square" anchor="ctr">
            <a:spAutoFit/>
          </a:bodyPr>
          <a:lstStyle/>
          <a:p>
            <a:pPr algn="l">
              <a:spcAft>
                <a:spcPts val="400"/>
              </a:spcAft>
            </a:pPr>
            <a:r>
              <a:rPr sz="1300" b="1">
                <a:solidFill>
                  <a:srgbClr val="FFFFFF"/>
                </a:solidFill>
                <a:latin typeface="Arial"/>
              </a:rPr>
              <a:t>Time</a:t>
            </a:r>
          </a:p>
        </p:txBody>
      </p:sp>
      <p:sp>
        <p:nvSpPr>
          <p:cNvPr id="9" name="Rectangle 8"/>
          <p:cNvSpPr/>
          <p:nvPr/>
        </p:nvSpPr>
        <p:spPr>
          <a:xfrm>
            <a:off x="2904134" y="1783080"/>
            <a:ext cx="4253789"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2150" y="1783080"/>
            <a:ext cx="3997757" cy="475488"/>
          </a:xfrm>
          <a:prstGeom prst="rect">
            <a:avLst/>
          </a:prstGeom>
          <a:noFill/>
        </p:spPr>
        <p:txBody>
          <a:bodyPr wrap="square" anchor="ctr">
            <a:spAutoFit/>
          </a:bodyPr>
          <a:lstStyle/>
          <a:p>
            <a:pPr algn="l">
              <a:spcAft>
                <a:spcPts val="400"/>
              </a:spcAft>
            </a:pPr>
            <a:r>
              <a:rPr sz="1300" b="1">
                <a:solidFill>
                  <a:srgbClr val="FFFFFF"/>
                </a:solidFill>
                <a:latin typeface="Arial"/>
              </a:rPr>
              <a:t>Session</a:t>
            </a:r>
          </a:p>
        </p:txBody>
      </p:sp>
      <p:sp>
        <p:nvSpPr>
          <p:cNvPr id="11" name="Rectangle 10"/>
          <p:cNvSpPr/>
          <p:nvPr/>
        </p:nvSpPr>
        <p:spPr>
          <a:xfrm>
            <a:off x="7157923" y="1783080"/>
            <a:ext cx="425378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85939" y="1783080"/>
            <a:ext cx="3997757" cy="475488"/>
          </a:xfrm>
          <a:prstGeom prst="rect">
            <a:avLst/>
          </a:prstGeom>
          <a:noFill/>
        </p:spPr>
        <p:txBody>
          <a:bodyPr wrap="square" anchor="ctr">
            <a:spAutoFit/>
          </a:bodyPr>
          <a:lstStyle/>
          <a:p>
            <a:pPr algn="l">
              <a:spcAft>
                <a:spcPts val="400"/>
              </a:spcAft>
            </a:pPr>
            <a:r>
              <a:rPr sz="1300" b="1">
                <a:solidFill>
                  <a:srgbClr val="FFFFFF"/>
                </a:solidFill>
                <a:latin typeface="Arial"/>
              </a:rPr>
              <a:t>Detail</a:t>
            </a:r>
          </a:p>
        </p:txBody>
      </p:sp>
      <p:sp>
        <p:nvSpPr>
          <p:cNvPr id="13" name="Rectangle 12"/>
          <p:cNvSpPr/>
          <p:nvPr/>
        </p:nvSpPr>
        <p:spPr>
          <a:xfrm>
            <a:off x="777240" y="2258568"/>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9:30 – 9:40</a:t>
            </a:r>
          </a:p>
        </p:txBody>
      </p:sp>
      <p:sp>
        <p:nvSpPr>
          <p:cNvPr id="15" name="Rectangle 14"/>
          <p:cNvSpPr/>
          <p:nvPr/>
        </p:nvSpPr>
        <p:spPr>
          <a:xfrm>
            <a:off x="2904134" y="2258568"/>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258568"/>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Digital Attendance (AM)</a:t>
            </a:r>
          </a:p>
        </p:txBody>
      </p:sp>
      <p:sp>
        <p:nvSpPr>
          <p:cNvPr id="17" name="Rectangle 16"/>
          <p:cNvSpPr/>
          <p:nvPr/>
        </p:nvSpPr>
        <p:spPr>
          <a:xfrm>
            <a:off x="7157923" y="2258568"/>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7651" y="2258568"/>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Scan the SSG QR code</a:t>
            </a:r>
          </a:p>
        </p:txBody>
      </p:sp>
      <p:sp>
        <p:nvSpPr>
          <p:cNvPr id="19" name="Rectangle 18"/>
          <p:cNvSpPr/>
          <p:nvPr/>
        </p:nvSpPr>
        <p:spPr>
          <a:xfrm>
            <a:off x="777240" y="2762631"/>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62631"/>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9:40 – 12:30</a:t>
            </a:r>
          </a:p>
        </p:txBody>
      </p:sp>
      <p:sp>
        <p:nvSpPr>
          <p:cNvPr id="21" name="Rectangle 20"/>
          <p:cNvSpPr/>
          <p:nvPr/>
        </p:nvSpPr>
        <p:spPr>
          <a:xfrm>
            <a:off x="2904134" y="2762631"/>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2762631"/>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Topic 2 (Part 2)</a:t>
            </a:r>
          </a:p>
        </p:txBody>
      </p:sp>
      <p:sp>
        <p:nvSpPr>
          <p:cNvPr id="23" name="Rectangle 22"/>
          <p:cNvSpPr/>
          <p:nvPr/>
        </p:nvSpPr>
        <p:spPr>
          <a:xfrm>
            <a:off x="7157923" y="2762631"/>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7651" y="2762631"/>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Pivot, Group By, Power Pivot · Labs 10–13</a:t>
            </a:r>
          </a:p>
        </p:txBody>
      </p:sp>
      <p:sp>
        <p:nvSpPr>
          <p:cNvPr id="25" name="Rectangle 24"/>
          <p:cNvSpPr/>
          <p:nvPr/>
        </p:nvSpPr>
        <p:spPr>
          <a:xfrm>
            <a:off x="777240" y="3266694"/>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266694"/>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12:30 – 13:30</a:t>
            </a:r>
          </a:p>
        </p:txBody>
      </p:sp>
      <p:sp>
        <p:nvSpPr>
          <p:cNvPr id="27" name="Rectangle 26"/>
          <p:cNvSpPr/>
          <p:nvPr/>
        </p:nvSpPr>
        <p:spPr>
          <a:xfrm>
            <a:off x="2904134" y="3266694"/>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266694"/>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Lunch Break</a:t>
            </a:r>
          </a:p>
        </p:txBody>
      </p:sp>
      <p:sp>
        <p:nvSpPr>
          <p:cNvPr id="29" name="Rectangle 28"/>
          <p:cNvSpPr/>
          <p:nvPr/>
        </p:nvSpPr>
        <p:spPr>
          <a:xfrm>
            <a:off x="7157923" y="3266694"/>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7651" y="3266694"/>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a:t>
            </a:r>
          </a:p>
        </p:txBody>
      </p:sp>
      <p:sp>
        <p:nvSpPr>
          <p:cNvPr id="31" name="Rectangle 30"/>
          <p:cNvSpPr/>
          <p:nvPr/>
        </p:nvSpPr>
        <p:spPr>
          <a:xfrm>
            <a:off x="777240" y="3770757"/>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770757"/>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13:30 – 13:40</a:t>
            </a:r>
          </a:p>
        </p:txBody>
      </p:sp>
      <p:sp>
        <p:nvSpPr>
          <p:cNvPr id="33" name="Rectangle 32"/>
          <p:cNvSpPr/>
          <p:nvPr/>
        </p:nvSpPr>
        <p:spPr>
          <a:xfrm>
            <a:off x="2904134" y="3770757"/>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770757"/>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Digital Attendance (PM)</a:t>
            </a:r>
          </a:p>
        </p:txBody>
      </p:sp>
      <p:sp>
        <p:nvSpPr>
          <p:cNvPr id="35" name="Rectangle 34"/>
          <p:cNvSpPr/>
          <p:nvPr/>
        </p:nvSpPr>
        <p:spPr>
          <a:xfrm>
            <a:off x="7157923" y="3770757"/>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1" y="3770757"/>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Scan the SSG QR code</a:t>
            </a:r>
          </a:p>
        </p:txBody>
      </p:sp>
      <p:sp>
        <p:nvSpPr>
          <p:cNvPr id="37" name="Rectangle 36"/>
          <p:cNvSpPr/>
          <p:nvPr/>
        </p:nvSpPr>
        <p:spPr>
          <a:xfrm>
            <a:off x="777240" y="4274820"/>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274820"/>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13:40 – 16:00</a:t>
            </a:r>
          </a:p>
        </p:txBody>
      </p:sp>
      <p:sp>
        <p:nvSpPr>
          <p:cNvPr id="39" name="Rectangle 38"/>
          <p:cNvSpPr/>
          <p:nvPr/>
        </p:nvSpPr>
        <p:spPr>
          <a:xfrm>
            <a:off x="2904134" y="4274820"/>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3862" y="4274820"/>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Topic 3</a:t>
            </a:r>
          </a:p>
        </p:txBody>
      </p:sp>
      <p:sp>
        <p:nvSpPr>
          <p:cNvPr id="41" name="Rectangle 40"/>
          <p:cNvSpPr/>
          <p:nvPr/>
        </p:nvSpPr>
        <p:spPr>
          <a:xfrm>
            <a:off x="7157923" y="4274820"/>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7651" y="4274820"/>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Joins and matching · Labs 14–19</a:t>
            </a:r>
          </a:p>
        </p:txBody>
      </p:sp>
      <p:sp>
        <p:nvSpPr>
          <p:cNvPr id="43" name="Rectangle 42"/>
          <p:cNvSpPr/>
          <p:nvPr/>
        </p:nvSpPr>
        <p:spPr>
          <a:xfrm>
            <a:off x="777240" y="4778883"/>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778883"/>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16:00 – 16:30</a:t>
            </a:r>
          </a:p>
        </p:txBody>
      </p:sp>
      <p:sp>
        <p:nvSpPr>
          <p:cNvPr id="45" name="Rectangle 44"/>
          <p:cNvSpPr/>
          <p:nvPr/>
        </p:nvSpPr>
        <p:spPr>
          <a:xfrm>
            <a:off x="2904134" y="4778883"/>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13862" y="4778883"/>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Revision</a:t>
            </a:r>
          </a:p>
        </p:txBody>
      </p:sp>
      <p:sp>
        <p:nvSpPr>
          <p:cNvPr id="47" name="Rectangle 46"/>
          <p:cNvSpPr/>
          <p:nvPr/>
        </p:nvSpPr>
        <p:spPr>
          <a:xfrm>
            <a:off x="7157923" y="4778883"/>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67651" y="4778883"/>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Consolidation and Q&amp;A</a:t>
            </a:r>
          </a:p>
        </p:txBody>
      </p:sp>
      <p:sp>
        <p:nvSpPr>
          <p:cNvPr id="49" name="Rectangle 48"/>
          <p:cNvSpPr/>
          <p:nvPr/>
        </p:nvSpPr>
        <p:spPr>
          <a:xfrm>
            <a:off x="777240" y="5282946"/>
            <a:ext cx="2126894"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5282946"/>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16:30 – 16:45</a:t>
            </a:r>
          </a:p>
        </p:txBody>
      </p:sp>
      <p:sp>
        <p:nvSpPr>
          <p:cNvPr id="51" name="Rectangle 50"/>
          <p:cNvSpPr/>
          <p:nvPr/>
        </p:nvSpPr>
        <p:spPr>
          <a:xfrm>
            <a:off x="2904134" y="5282946"/>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013862" y="5282946"/>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Course Feedback &amp; TRAQOM</a:t>
            </a:r>
          </a:p>
        </p:txBody>
      </p:sp>
      <p:sp>
        <p:nvSpPr>
          <p:cNvPr id="53" name="Rectangle 52"/>
          <p:cNvSpPr/>
          <p:nvPr/>
        </p:nvSpPr>
        <p:spPr>
          <a:xfrm>
            <a:off x="7157923" y="5282946"/>
            <a:ext cx="4253789" cy="50406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67651" y="5282946"/>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Mandatory survey</a:t>
            </a:r>
          </a:p>
        </p:txBody>
      </p:sp>
      <p:sp>
        <p:nvSpPr>
          <p:cNvPr id="55" name="Rectangle 54"/>
          <p:cNvSpPr/>
          <p:nvPr/>
        </p:nvSpPr>
        <p:spPr>
          <a:xfrm>
            <a:off x="777240" y="5787009"/>
            <a:ext cx="2126894"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787009"/>
            <a:ext cx="1907438" cy="504063"/>
          </a:xfrm>
          <a:prstGeom prst="rect">
            <a:avLst/>
          </a:prstGeom>
          <a:noFill/>
        </p:spPr>
        <p:txBody>
          <a:bodyPr wrap="square" anchor="ctr">
            <a:spAutoFit/>
          </a:bodyPr>
          <a:lstStyle/>
          <a:p>
            <a:pPr algn="l">
              <a:spcAft>
                <a:spcPts val="400"/>
              </a:spcAft>
            </a:pPr>
            <a:r>
              <a:rPr sz="1150" b="1">
                <a:solidFill>
                  <a:srgbClr val="161B26"/>
                </a:solidFill>
                <a:latin typeface="Arial"/>
              </a:rPr>
              <a:t>16:45 – 18:30</a:t>
            </a:r>
          </a:p>
        </p:txBody>
      </p:sp>
      <p:sp>
        <p:nvSpPr>
          <p:cNvPr id="57" name="Rectangle 56"/>
          <p:cNvSpPr/>
          <p:nvPr/>
        </p:nvSpPr>
        <p:spPr>
          <a:xfrm>
            <a:off x="2904134" y="5787009"/>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13862" y="5787009"/>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Digital Attendance + Final Assessment</a:t>
            </a:r>
          </a:p>
        </p:txBody>
      </p:sp>
      <p:sp>
        <p:nvSpPr>
          <p:cNvPr id="59" name="Rectangle 58"/>
          <p:cNvSpPr/>
          <p:nvPr/>
        </p:nvSpPr>
        <p:spPr>
          <a:xfrm>
            <a:off x="7157923" y="5787009"/>
            <a:ext cx="4253789" cy="50406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67651" y="5787009"/>
            <a:ext cx="4034333" cy="504063"/>
          </a:xfrm>
          <a:prstGeom prst="rect">
            <a:avLst/>
          </a:prstGeom>
          <a:noFill/>
        </p:spPr>
        <p:txBody>
          <a:bodyPr wrap="square" anchor="ctr">
            <a:spAutoFit/>
          </a:bodyPr>
          <a:lstStyle/>
          <a:p>
            <a:pPr algn="l">
              <a:spcAft>
                <a:spcPts val="400"/>
              </a:spcAft>
            </a:pPr>
            <a:r>
              <a:rPr sz="1100" b="0">
                <a:solidFill>
                  <a:srgbClr val="5B6372"/>
                </a:solidFill>
                <a:latin typeface="Arial"/>
              </a:rPr>
              <a:t>WA 1 hr + PP 1 hr</a:t>
            </a:r>
          </a:p>
        </p:txBody>
      </p:sp>
      <p:sp>
        <p:nvSpPr>
          <p:cNvPr id="61" name="TextBox 6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62" name="TextBox 6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3" name="TextBox 6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930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Clear your desk</a:t>
            </a:r>
          </a:p>
          <a:p>
            <a:pPr algn="l">
              <a:spcAft>
                <a:spcPts val="300"/>
              </a:spcAft>
            </a:pPr>
            <a:r>
              <a:rPr sz="1200" b="0">
                <a:solidFill>
                  <a:srgbClr val="5B6372"/>
                </a:solidFill>
                <a:latin typeface="Arial"/>
              </a:rPr>
              <a:t>Phones and materials under the table or on the floor</a:t>
            </a:r>
          </a:p>
        </p:txBody>
      </p:sp>
      <p:sp>
        <p:nvSpPr>
          <p:cNvPr id="12" name="Rectangle 11"/>
          <p:cNvSpPr/>
          <p:nvPr/>
        </p:nvSpPr>
        <p:spPr>
          <a:xfrm>
            <a:off x="6231636"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930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No photos or recording</a:t>
            </a:r>
          </a:p>
          <a:p>
            <a:pPr algn="l">
              <a:spcAft>
                <a:spcPts val="300"/>
              </a:spcAft>
            </a:pPr>
            <a:r>
              <a:rPr sz="1200" b="0">
                <a:solidFill>
                  <a:srgbClr val="5B6372"/>
                </a:solidFill>
                <a:latin typeface="Arial"/>
              </a:rPr>
              <a:t>Assessment scripts must not be captured</a:t>
            </a:r>
          </a:p>
        </p:txBody>
      </p:sp>
      <p:sp>
        <p:nvSpPr>
          <p:cNvPr id="17" name="Rectangle 16"/>
          <p:cNvSpPr/>
          <p:nvPr/>
        </p:nvSpPr>
        <p:spPr>
          <a:xfrm>
            <a:off x="777240"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91440"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7261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No discussion</a:t>
            </a:r>
          </a:p>
          <a:p>
            <a:pPr algn="l">
              <a:spcAft>
                <a:spcPts val="300"/>
              </a:spcAft>
            </a:pPr>
            <a:r>
              <a:rPr sz="1200" b="0">
                <a:solidFill>
                  <a:srgbClr val="5B6372"/>
                </a:solidFill>
                <a:latin typeface="Arial"/>
              </a:rPr>
              <a:t>Work individually throughout</a:t>
            </a:r>
          </a:p>
        </p:txBody>
      </p:sp>
      <p:sp>
        <p:nvSpPr>
          <p:cNvPr id="22" name="Rectangle 21"/>
          <p:cNvSpPr/>
          <p:nvPr/>
        </p:nvSpPr>
        <p:spPr>
          <a:xfrm>
            <a:off x="6231636"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6224"/>
            <a:ext cx="91440" cy="1368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7261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Black or blue pen</a:t>
            </a:r>
          </a:p>
          <a:p>
            <a:pPr algn="l">
              <a:spcAft>
                <a:spcPts val="300"/>
              </a:spcAft>
            </a:pPr>
            <a:r>
              <a:rPr sz="1200" b="0">
                <a:solidFill>
                  <a:srgbClr val="5B6372"/>
                </a:solidFill>
                <a:latin typeface="Arial"/>
              </a:rPr>
              <a:t>For hard-copy scripts; no correction tape or liquid paper</a:t>
            </a:r>
          </a:p>
        </p:txBody>
      </p:sp>
      <p:sp>
        <p:nvSpPr>
          <p:cNvPr id="27" name="Rectangle 26"/>
          <p:cNvSpPr/>
          <p:nvPr/>
        </p:nvSpPr>
        <p:spPr>
          <a:xfrm>
            <a:off x="777240"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Scripts collected</a:t>
            </a:r>
          </a:p>
          <a:p>
            <a:pPr algn="l">
              <a:spcAft>
                <a:spcPts val="300"/>
              </a:spcAft>
            </a:pPr>
            <a:r>
              <a:rPr sz="1200" b="0">
                <a:solidFill>
                  <a:srgbClr val="5B6372"/>
                </a:solidFill>
                <a:latin typeface="Arial"/>
              </a:rPr>
              <a:t>All scripts are collected when time is up</a:t>
            </a:r>
          </a:p>
        </p:txBody>
      </p:sp>
      <p:sp>
        <p:nvSpPr>
          <p:cNvPr id="32" name="Rectangle 31"/>
          <p:cNvSpPr/>
          <p:nvPr/>
        </p:nvSpPr>
        <p:spPr>
          <a:xfrm>
            <a:off x="6231636"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9368"/>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Written Assessment (WA)</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Short-Answer Questions · 1 hour · open book. Tests your knowledge of Power Query and Power Pivot concepts.</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Practical Performance (PP)</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Hands-on tasks in Excel · 1 hour · open book. You perform the transformations you practised in the labs.</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Result</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Competent / Not Yet Competent. Both instruments must be passed.</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Re-assessment</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One re-assessment opportunity is offered if assessed Not Yet Competent.</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F59E0B"/>
                </a:solidFill>
                <a:latin typeface="Arial"/>
              </a:rPr>
              <a:t>OPEN BOOK MEANS</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You may refer to these slides, the Learner Guide and any approved course material. You may not use the internet, AI assistants or discuss with others.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Briefing</a:t>
            </a:r>
          </a:p>
        </p:txBody>
      </p:sp>
      <p:sp>
        <p:nvSpPr>
          <p:cNvPr id="12" name="TextBox 11"/>
          <p:cNvSpPr txBox="1"/>
          <p:nvPr/>
        </p:nvSpPr>
        <p:spPr>
          <a:xfrm>
            <a:off x="85039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Rules explained</a:t>
            </a:r>
          </a:p>
        </p:txBody>
      </p:sp>
      <p:cxnSp>
        <p:nvCxnSpPr>
          <p:cNvPr id="13" name="Connector 12"/>
          <p:cNvCxnSpPr/>
          <p:nvPr/>
        </p:nvCxnSpPr>
        <p:spPr>
          <a:xfrm>
            <a:off x="228447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268681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Assessment scan</a:t>
            </a:r>
          </a:p>
        </p:txBody>
      </p:sp>
      <p:cxnSp>
        <p:nvCxnSpPr>
          <p:cNvPr id="20" name="Connector 19"/>
          <p:cNvCxnSpPr/>
          <p:nvPr/>
        </p:nvCxnSpPr>
        <p:spPr>
          <a:xfrm>
            <a:off x="412089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Written Assessment</a:t>
            </a:r>
          </a:p>
        </p:txBody>
      </p:sp>
      <p:sp>
        <p:nvSpPr>
          <p:cNvPr id="26" name="TextBox 25"/>
          <p:cNvSpPr txBox="1"/>
          <p:nvPr/>
        </p:nvSpPr>
        <p:spPr>
          <a:xfrm>
            <a:off x="452323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SAQ · 1 hour</a:t>
            </a:r>
          </a:p>
        </p:txBody>
      </p:sp>
      <p:cxnSp>
        <p:nvCxnSpPr>
          <p:cNvPr id="27" name="Connector 26"/>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Practical Performance</a:t>
            </a:r>
          </a:p>
        </p:txBody>
      </p:sp>
      <p:sp>
        <p:nvSpPr>
          <p:cNvPr id="33" name="TextBox 32"/>
          <p:cNvSpPr txBox="1"/>
          <p:nvPr/>
        </p:nvSpPr>
        <p:spPr>
          <a:xfrm>
            <a:off x="635965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Excel tasks · 1 hour</a:t>
            </a:r>
          </a:p>
        </p:txBody>
      </p:sp>
      <p:cxnSp>
        <p:nvCxnSpPr>
          <p:cNvPr id="34" name="Connector 33"/>
          <p:cNvCxnSpPr/>
          <p:nvPr/>
        </p:nvCxnSpPr>
        <p:spPr>
          <a:xfrm>
            <a:off x="779373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Marking &amp; Feedback</a:t>
            </a:r>
          </a:p>
        </p:txBody>
      </p:sp>
      <p:sp>
        <p:nvSpPr>
          <p:cNvPr id="40" name="TextBox 39"/>
          <p:cNvSpPr txBox="1"/>
          <p:nvPr/>
        </p:nvSpPr>
        <p:spPr>
          <a:xfrm>
            <a:off x="819607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Assessor reviews</a:t>
            </a:r>
          </a:p>
        </p:txBody>
      </p:sp>
      <p:cxnSp>
        <p:nvCxnSpPr>
          <p:cNvPr id="41" name="Connector 40"/>
          <p:cNvCxnSpPr/>
          <p:nvPr/>
        </p:nvCxnSpPr>
        <p:spPr>
          <a:xfrm>
            <a:off x="963015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Sign-off</a:t>
            </a:r>
          </a:p>
        </p:txBody>
      </p:sp>
      <p:sp>
        <p:nvSpPr>
          <p:cNvPr id="47" name="TextBox 46"/>
          <p:cNvSpPr txBox="1"/>
          <p:nvPr/>
        </p:nvSpPr>
        <p:spPr>
          <a:xfrm>
            <a:off x="1003249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Competent / NYC</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SIGN-OFF</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assessor records the outcome, you sign the assessment record, and results are released through the LMS/TMS portal.</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98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580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Based on the SSG digital attendance record</a:t>
            </a:r>
          </a:p>
        </p:txBody>
      </p:sp>
      <p:sp>
        <p:nvSpPr>
          <p:cNvPr id="12" name="Rectangle 11"/>
          <p:cNvSpPr/>
          <p:nvPr/>
        </p:nvSpPr>
        <p:spPr>
          <a:xfrm>
            <a:off x="6231636"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985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580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Assessed Competent</a:t>
            </a:r>
          </a:p>
          <a:p>
            <a:pPr algn="l">
              <a:spcAft>
                <a:spcPts val="300"/>
              </a:spcAft>
            </a:pPr>
            <a:r>
              <a:rPr sz="1300" b="0">
                <a:solidFill>
                  <a:srgbClr val="5B6372"/>
                </a:solidFill>
                <a:latin typeface="Arial"/>
              </a:rPr>
              <a:t>Both the WA and the PP must be passed</a:t>
            </a:r>
          </a:p>
        </p:txBody>
      </p:sp>
      <p:sp>
        <p:nvSpPr>
          <p:cNvPr id="17" name="Rectangle 16"/>
          <p:cNvSpPr/>
          <p:nvPr/>
        </p:nvSpPr>
        <p:spPr>
          <a:xfrm>
            <a:off x="777240"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19372"/>
            <a:ext cx="91440" cy="20985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9432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Mandatory course feedback survey</a:t>
            </a:r>
          </a:p>
        </p:txBody>
      </p:sp>
      <p:sp>
        <p:nvSpPr>
          <p:cNvPr id="22" name="Rectangle 21"/>
          <p:cNvSpPr/>
          <p:nvPr/>
        </p:nvSpPr>
        <p:spPr>
          <a:xfrm>
            <a:off x="6231636"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119372"/>
            <a:ext cx="91440" cy="20985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9432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Certificate</a:t>
            </a:r>
          </a:p>
          <a:p>
            <a:pPr algn="l">
              <a:spcAft>
                <a:spcPts val="300"/>
              </a:spcAft>
            </a:pPr>
            <a:r>
              <a:rPr sz="1300" b="0">
                <a:solidFill>
                  <a:srgbClr val="5B6372"/>
                </a:solidFill>
                <a:latin typeface="Arial"/>
              </a:rPr>
              <a:t>Certificate of Achievement issued on completion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Review Data with Power Query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types · Getting data · Shaping columns · Sorting and filtering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1 · WHY POWER QUERY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Stop repeating the same clean-up every month.</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Power Query records your transformation once and replays it on every refresh.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THE ETL LOOP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Power Query Actually Does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7906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906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Extract</a:t>
            </a:r>
          </a:p>
        </p:txBody>
      </p:sp>
      <p:sp>
        <p:nvSpPr>
          <p:cNvPr id="12" name="TextBox 11"/>
          <p:cNvSpPr txBox="1"/>
          <p:nvPr/>
        </p:nvSpPr>
        <p:spPr>
          <a:xfrm>
            <a:off x="850392" y="3730752"/>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Connect to the source</a:t>
            </a:r>
          </a:p>
        </p:txBody>
      </p:sp>
      <p:cxnSp>
        <p:nvCxnSpPr>
          <p:cNvPr id="13" name="Connector 12"/>
          <p:cNvCxnSpPr/>
          <p:nvPr/>
        </p:nvCxnSpPr>
        <p:spPr>
          <a:xfrm>
            <a:off x="320268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3187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3187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369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369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65988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Transform</a:t>
            </a:r>
          </a:p>
        </p:txBody>
      </p:sp>
      <p:sp>
        <p:nvSpPr>
          <p:cNvPr id="19" name="TextBox 18"/>
          <p:cNvSpPr txBox="1"/>
          <p:nvPr/>
        </p:nvSpPr>
        <p:spPr>
          <a:xfrm>
            <a:off x="3605022" y="3730752"/>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Clean and reshape</a:t>
            </a:r>
          </a:p>
        </p:txBody>
      </p:sp>
      <p:cxnSp>
        <p:nvCxnSpPr>
          <p:cNvPr id="20" name="Connector 19"/>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8650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8650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18832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832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641451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Load</a:t>
            </a:r>
          </a:p>
        </p:txBody>
      </p:sp>
      <p:sp>
        <p:nvSpPr>
          <p:cNvPr id="26" name="TextBox 25"/>
          <p:cNvSpPr txBox="1"/>
          <p:nvPr/>
        </p:nvSpPr>
        <p:spPr>
          <a:xfrm>
            <a:off x="6359652" y="3730752"/>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Worksheet or Data Model</a:t>
            </a:r>
          </a:p>
        </p:txBody>
      </p:sp>
      <p:cxnSp>
        <p:nvCxnSpPr>
          <p:cNvPr id="27" name="Connector 26"/>
          <p:cNvCxnSpPr/>
          <p:nvPr/>
        </p:nvCxnSpPr>
        <p:spPr>
          <a:xfrm>
            <a:off x="871194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1130" y="2148840"/>
            <a:ext cx="237058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1130" y="2148840"/>
            <a:ext cx="237058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42957"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42957"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9169146" y="3118104"/>
            <a:ext cx="2114550" cy="859536"/>
          </a:xfrm>
          <a:prstGeom prst="rect">
            <a:avLst/>
          </a:prstGeom>
          <a:noFill/>
        </p:spPr>
        <p:txBody>
          <a:bodyPr wrap="square" anchor="ctr">
            <a:spAutoFit/>
          </a:bodyPr>
          <a:lstStyle/>
          <a:p>
            <a:pPr algn="ctr">
              <a:spcAft>
                <a:spcPts val="0"/>
              </a:spcAft>
            </a:pPr>
            <a:r>
              <a:rPr sz="1300" b="1">
                <a:solidFill>
                  <a:srgbClr val="161B26"/>
                </a:solidFill>
                <a:latin typeface="Arial"/>
              </a:rPr>
              <a:t>Refresh</a:t>
            </a:r>
          </a:p>
        </p:txBody>
      </p:sp>
      <p:sp>
        <p:nvSpPr>
          <p:cNvPr id="33" name="TextBox 32"/>
          <p:cNvSpPr txBox="1"/>
          <p:nvPr/>
        </p:nvSpPr>
        <p:spPr>
          <a:xfrm>
            <a:off x="9114282" y="3730752"/>
            <a:ext cx="2224278" cy="512064"/>
          </a:xfrm>
          <a:prstGeom prst="rect">
            <a:avLst/>
          </a:prstGeom>
          <a:noFill/>
        </p:spPr>
        <p:txBody>
          <a:bodyPr wrap="square" anchor="ctr">
            <a:spAutoFit/>
          </a:bodyPr>
          <a:lstStyle/>
          <a:p>
            <a:pPr algn="ctr">
              <a:spcAft>
                <a:spcPts val="0"/>
              </a:spcAft>
            </a:pPr>
            <a:r>
              <a:rPr sz="900" b="0">
                <a:solidFill>
                  <a:srgbClr val="5B6372"/>
                </a:solidFill>
                <a:latin typeface="Arial"/>
              </a:rPr>
              <a:t>Replay on new data</a:t>
            </a:r>
          </a:p>
        </p:txBody>
      </p:sp>
      <p:sp>
        <p:nvSpPr>
          <p:cNvPr id="34" name="Rectangle 33"/>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POINT</a:t>
            </a:r>
          </a:p>
        </p:txBody>
      </p:sp>
      <p:sp>
        <p:nvSpPr>
          <p:cNvPr id="37" name="TextBox 36"/>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You build the recipe ONCE. Next month you replace the source file, click Refresh, and every step runs again in the same order.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WHY IT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Worksheet Formulas vs Power Query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74920" cy="2852928"/>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7492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Power Query</a:t>
            </a:r>
          </a:p>
        </p:txBody>
      </p:sp>
      <p:sp>
        <p:nvSpPr>
          <p:cNvPr id="10" name="TextBox 9"/>
          <p:cNvSpPr txBox="1"/>
          <p:nvPr/>
        </p:nvSpPr>
        <p:spPr>
          <a:xfrm>
            <a:off x="1033272" y="2395728"/>
            <a:ext cx="4562856" cy="2139696"/>
          </a:xfrm>
          <a:prstGeom prst="rect">
            <a:avLst/>
          </a:prstGeom>
          <a:noFill/>
        </p:spPr>
        <p:txBody>
          <a:bodyPr wrap="square">
            <a:spAutoFit/>
          </a:bodyPr>
          <a:lstStyle/>
          <a:p>
            <a:pPr>
              <a:spcAft>
                <a:spcPts val="900"/>
              </a:spcAft>
            </a:pPr>
            <a:r>
              <a:rPr sz="1250">
                <a:solidFill>
                  <a:srgbClr val="161B26"/>
                </a:solidFill>
                <a:latin typeface="Arial"/>
              </a:rPr>
              <a:t>•  Steps are recorded and re-run on Refresh</a:t>
            </a:r>
          </a:p>
          <a:p>
            <a:pPr>
              <a:spcAft>
                <a:spcPts val="900"/>
              </a:spcAft>
            </a:pPr>
            <a:r>
              <a:rPr sz="1250">
                <a:solidFill>
                  <a:srgbClr val="161B26"/>
                </a:solidFill>
                <a:latin typeface="Arial"/>
              </a:rPr>
              <a:t>•  Handles millions of rows outside the grid</a:t>
            </a:r>
          </a:p>
          <a:p>
            <a:pPr>
              <a:spcAft>
                <a:spcPts val="900"/>
              </a:spcAft>
            </a:pPr>
            <a:r>
              <a:rPr sz="1250">
                <a:solidFill>
                  <a:srgbClr val="161B26"/>
                </a:solidFill>
                <a:latin typeface="Arial"/>
              </a:rPr>
              <a:t>•  The whole clean-up is auditable in Applied Steps</a:t>
            </a:r>
          </a:p>
          <a:p>
            <a:pPr>
              <a:spcAft>
                <a:spcPts val="900"/>
              </a:spcAft>
            </a:pPr>
            <a:r>
              <a:rPr sz="1250">
                <a:solidFill>
                  <a:srgbClr val="161B26"/>
                </a:solidFill>
                <a:latin typeface="Arial"/>
              </a:rPr>
              <a:t>•  New rows are picked up automatically</a:t>
            </a:r>
          </a:p>
          <a:p>
            <a:pPr>
              <a:spcAft>
                <a:spcPts val="900"/>
              </a:spcAft>
            </a:pPr>
            <a:r>
              <a:rPr sz="1250">
                <a:solidFill>
                  <a:srgbClr val="161B26"/>
                </a:solidFill>
                <a:latin typeface="Arial"/>
              </a:rPr>
              <a:t>•  One query feeds many reports</a:t>
            </a:r>
          </a:p>
        </p:txBody>
      </p:sp>
      <p:sp>
        <p:nvSpPr>
          <p:cNvPr id="11" name="Rectangle 10"/>
          <p:cNvSpPr/>
          <p:nvPr/>
        </p:nvSpPr>
        <p:spPr>
          <a:xfrm>
            <a:off x="6355080" y="1783080"/>
            <a:ext cx="5074920" cy="2852928"/>
          </a:xfrm>
          <a:prstGeom prst="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Manual formulas / copy-paste</a:t>
            </a:r>
          </a:p>
        </p:txBody>
      </p:sp>
      <p:sp>
        <p:nvSpPr>
          <p:cNvPr id="14" name="TextBox 13"/>
          <p:cNvSpPr txBox="1"/>
          <p:nvPr/>
        </p:nvSpPr>
        <p:spPr>
          <a:xfrm>
            <a:off x="6611112" y="2395728"/>
            <a:ext cx="4562856" cy="2139696"/>
          </a:xfrm>
          <a:prstGeom prst="rect">
            <a:avLst/>
          </a:prstGeom>
          <a:noFill/>
        </p:spPr>
        <p:txBody>
          <a:bodyPr wrap="square">
            <a:spAutoFit/>
          </a:bodyPr>
          <a:lstStyle/>
          <a:p>
            <a:pPr>
              <a:spcAft>
                <a:spcPts val="900"/>
              </a:spcAft>
            </a:pPr>
            <a:r>
              <a:rPr sz="1250">
                <a:solidFill>
                  <a:srgbClr val="161B26"/>
                </a:solidFill>
                <a:latin typeface="Arial"/>
              </a:rPr>
              <a:t>•  Must be re-done or dragged down every month</a:t>
            </a:r>
          </a:p>
          <a:p>
            <a:pPr>
              <a:spcAft>
                <a:spcPts val="900"/>
              </a:spcAft>
            </a:pPr>
            <a:r>
              <a:rPr sz="1250">
                <a:solidFill>
                  <a:srgbClr val="161B26"/>
                </a:solidFill>
                <a:latin typeface="Arial"/>
              </a:rPr>
              <a:t>•  Slows the workbook down as rows grow</a:t>
            </a:r>
          </a:p>
          <a:p>
            <a:pPr>
              <a:spcAft>
                <a:spcPts val="900"/>
              </a:spcAft>
            </a:pPr>
            <a:r>
              <a:rPr sz="1250">
                <a:solidFill>
                  <a:srgbClr val="161B26"/>
                </a:solidFill>
                <a:latin typeface="Arial"/>
              </a:rPr>
              <a:t>•  No record of what was changed, or why</a:t>
            </a:r>
          </a:p>
          <a:p>
            <a:pPr>
              <a:spcAft>
                <a:spcPts val="900"/>
              </a:spcAft>
            </a:pPr>
            <a:r>
              <a:rPr sz="1250">
                <a:solidFill>
                  <a:srgbClr val="161B26"/>
                </a:solidFill>
                <a:latin typeface="Arial"/>
              </a:rPr>
              <a:t>•  Breaks silently when the layout shifts</a:t>
            </a:r>
          </a:p>
          <a:p>
            <a:pPr>
              <a:spcAft>
                <a:spcPts val="900"/>
              </a:spcAft>
            </a:pPr>
            <a:r>
              <a:rPr sz="1250">
                <a:solidFill>
                  <a:srgbClr val="161B26"/>
                </a:solidFill>
                <a:latin typeface="Arial"/>
              </a:rPr>
              <a:t>•  Each analyst rebuilds their own version</a:t>
            </a:r>
          </a:p>
        </p:txBody>
      </p:sp>
      <p:sp>
        <p:nvSpPr>
          <p:cNvPr id="15" name="Rectangle 14"/>
          <p:cNvSpPr/>
          <p:nvPr/>
        </p:nvSpPr>
        <p:spPr>
          <a:xfrm>
            <a:off x="777240" y="4837176"/>
            <a:ext cx="10652760"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837176"/>
            <a:ext cx="100584"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837176"/>
            <a:ext cx="10149840" cy="640080"/>
          </a:xfrm>
          <a:prstGeom prst="rect">
            <a:avLst/>
          </a:prstGeom>
          <a:noFill/>
        </p:spPr>
        <p:txBody>
          <a:bodyPr wrap="square" anchor="ctr">
            <a:spAutoFit/>
          </a:bodyPr>
          <a:lstStyle/>
          <a:p>
            <a:pPr algn="l">
              <a:spcAft>
                <a:spcPts val="400"/>
              </a:spcAft>
            </a:pPr>
            <a:r>
              <a:rPr sz="1200" b="0">
                <a:solidFill>
                  <a:srgbClr val="5B6372"/>
                </a:solidFill>
                <a:latin typeface="Arial"/>
              </a:rPr>
              <a:t>Rule of thumb: if you have done it twice by hand, it belongs in Power Query.</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THE RIBBON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Power Query Lives in Excel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1874519"/>
            <a:ext cx="640080"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640080" cy="420624"/>
          </a:xfrm>
          <a:prstGeom prst="rect">
            <a:avLst/>
          </a:prstGeom>
          <a:noFill/>
        </p:spPr>
        <p:txBody>
          <a:bodyPr wrap="square" anchor="ctr">
            <a:spAutoFit/>
          </a:bodyPr>
          <a:lstStyle/>
          <a:p>
            <a:pPr algn="ctr">
              <a:spcAft>
                <a:spcPts val="400"/>
              </a:spcAft>
            </a:pPr>
            <a:r>
              <a:rPr sz="1100" b="1">
                <a:solidFill>
                  <a:srgbClr val="1F6FEB"/>
                </a:solidFill>
                <a:latin typeface="Arial"/>
              </a:rPr>
              <a:t>Data</a:t>
            </a:r>
          </a:p>
        </p:txBody>
      </p:sp>
      <p:sp>
        <p:nvSpPr>
          <p:cNvPr id="10" name="TextBox 9"/>
          <p:cNvSpPr txBox="1"/>
          <p:nvPr/>
        </p:nvSpPr>
        <p:spPr>
          <a:xfrm>
            <a:off x="1709928" y="1874519"/>
            <a:ext cx="640080" cy="420624"/>
          </a:xfrm>
          <a:prstGeom prst="rect">
            <a:avLst/>
          </a:prstGeom>
          <a:noFill/>
        </p:spPr>
        <p:txBody>
          <a:bodyPr wrap="square" anchor="ctr">
            <a:spAutoFit/>
          </a:bodyPr>
          <a:lstStyle/>
          <a:p>
            <a:pPr algn="ctr">
              <a:spcAft>
                <a:spcPts val="400"/>
              </a:spcAft>
            </a:pPr>
            <a:r>
              <a:rPr sz="1100" b="0">
                <a:solidFill>
                  <a:srgbClr val="5B6372"/>
                </a:solidFill>
                <a:latin typeface="Arial"/>
              </a:rPr>
              <a:t>Home</a:t>
            </a:r>
          </a:p>
        </p:txBody>
      </p:sp>
      <p:sp>
        <p:nvSpPr>
          <p:cNvPr id="11" name="TextBox 10"/>
          <p:cNvSpPr txBox="1"/>
          <p:nvPr/>
        </p:nvSpPr>
        <p:spPr>
          <a:xfrm>
            <a:off x="2459736" y="1874519"/>
            <a:ext cx="832104" cy="420624"/>
          </a:xfrm>
          <a:prstGeom prst="rect">
            <a:avLst/>
          </a:prstGeom>
          <a:noFill/>
        </p:spPr>
        <p:txBody>
          <a:bodyPr wrap="square" anchor="ctr">
            <a:spAutoFit/>
          </a:bodyPr>
          <a:lstStyle/>
          <a:p>
            <a:pPr algn="ctr">
              <a:spcAft>
                <a:spcPts val="400"/>
              </a:spcAft>
            </a:pPr>
            <a:r>
              <a:rPr sz="1100" b="0">
                <a:solidFill>
                  <a:srgbClr val="5B6372"/>
                </a:solidFill>
                <a:latin typeface="Arial"/>
              </a:rPr>
              <a:t>Insert</a:t>
            </a:r>
          </a:p>
        </p:txBody>
      </p:sp>
      <p:sp>
        <p:nvSpPr>
          <p:cNvPr id="12" name="TextBox 11"/>
          <p:cNvSpPr txBox="1"/>
          <p:nvPr/>
        </p:nvSpPr>
        <p:spPr>
          <a:xfrm>
            <a:off x="3401568" y="1874519"/>
            <a:ext cx="1024128" cy="420624"/>
          </a:xfrm>
          <a:prstGeom prst="rect">
            <a:avLst/>
          </a:prstGeom>
          <a:noFill/>
        </p:spPr>
        <p:txBody>
          <a:bodyPr wrap="square" anchor="ctr">
            <a:spAutoFit/>
          </a:bodyPr>
          <a:lstStyle/>
          <a:p>
            <a:pPr algn="ctr">
              <a:spcAft>
                <a:spcPts val="400"/>
              </a:spcAft>
            </a:pPr>
            <a:r>
              <a:rPr sz="1100" b="0">
                <a:solidFill>
                  <a:srgbClr val="5B6372"/>
                </a:solidFill>
                <a:latin typeface="Arial"/>
              </a:rPr>
              <a:t>Formulas</a:t>
            </a:r>
          </a:p>
        </p:txBody>
      </p:sp>
      <p:sp>
        <p:nvSpPr>
          <p:cNvPr id="13" name="TextBox 12"/>
          <p:cNvSpPr txBox="1"/>
          <p:nvPr/>
        </p:nvSpPr>
        <p:spPr>
          <a:xfrm>
            <a:off x="4535424" y="1874519"/>
            <a:ext cx="832104" cy="420624"/>
          </a:xfrm>
          <a:prstGeom prst="rect">
            <a:avLst/>
          </a:prstGeom>
          <a:noFill/>
        </p:spPr>
        <p:txBody>
          <a:bodyPr wrap="square" anchor="ctr">
            <a:spAutoFit/>
          </a:bodyPr>
          <a:lstStyle/>
          <a:p>
            <a:pPr algn="ctr">
              <a:spcAft>
                <a:spcPts val="400"/>
              </a:spcAft>
            </a:pPr>
            <a:r>
              <a:rPr sz="1100" b="0">
                <a:solidFill>
                  <a:srgbClr val="5B6372"/>
                </a:solidFill>
                <a:latin typeface="Arial"/>
              </a:rPr>
              <a:t>Review</a:t>
            </a:r>
          </a:p>
        </p:txBody>
      </p:sp>
      <p:sp>
        <p:nvSpPr>
          <p:cNvPr id="14" name="TextBox 13"/>
          <p:cNvSpPr txBox="1"/>
          <p:nvPr/>
        </p:nvSpPr>
        <p:spPr>
          <a:xfrm>
            <a:off x="5477256" y="1874519"/>
            <a:ext cx="640080" cy="420624"/>
          </a:xfrm>
          <a:prstGeom prst="rect">
            <a:avLst/>
          </a:prstGeom>
          <a:noFill/>
        </p:spPr>
        <p:txBody>
          <a:bodyPr wrap="square" anchor="ctr">
            <a:spAutoFit/>
          </a:bodyPr>
          <a:lstStyle/>
          <a:p>
            <a:pPr algn="ctr">
              <a:spcAft>
                <a:spcPts val="400"/>
              </a:spcAft>
            </a:pPr>
            <a:r>
              <a:rPr sz="1100" b="0">
                <a:solidFill>
                  <a:srgbClr val="5B6372"/>
                </a:solidFill>
                <a:latin typeface="Arial"/>
              </a:rPr>
              <a:t>View</a:t>
            </a:r>
          </a:p>
        </p:txBody>
      </p:sp>
      <p:sp>
        <p:nvSpPr>
          <p:cNvPr id="15" name="Rectangle 14"/>
          <p:cNvSpPr/>
          <p:nvPr/>
        </p:nvSpPr>
        <p:spPr>
          <a:xfrm>
            <a:off x="777240" y="2295143"/>
            <a:ext cx="10634472"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24128" y="2441447"/>
            <a:ext cx="54864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24128" y="2441447"/>
            <a:ext cx="5486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 y="3026663"/>
            <a:ext cx="694944" cy="384048"/>
          </a:xfrm>
          <a:prstGeom prst="rect">
            <a:avLst/>
          </a:prstGeom>
          <a:noFill/>
        </p:spPr>
        <p:txBody>
          <a:bodyPr wrap="square" anchor="t">
            <a:spAutoFit/>
          </a:bodyPr>
          <a:lstStyle/>
          <a:p>
            <a:pPr algn="ctr">
              <a:spcAft>
                <a:spcPts val="400"/>
              </a:spcAft>
            </a:pPr>
            <a:r>
              <a:rPr sz="800" b="0">
                <a:solidFill>
                  <a:srgbClr val="161B26"/>
                </a:solidFill>
                <a:latin typeface="Arial"/>
              </a:rPr>
              <a:t>From
Table</a:t>
            </a:r>
          </a:p>
        </p:txBody>
      </p:sp>
      <p:sp>
        <p:nvSpPr>
          <p:cNvPr id="19" name="Rectangle 18"/>
          <p:cNvSpPr/>
          <p:nvPr/>
        </p:nvSpPr>
        <p:spPr>
          <a:xfrm>
            <a:off x="1682496" y="2441447"/>
            <a:ext cx="54864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82496" y="2441447"/>
            <a:ext cx="5486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9344" y="3026663"/>
            <a:ext cx="694944" cy="384048"/>
          </a:xfrm>
          <a:prstGeom prst="rect">
            <a:avLst/>
          </a:prstGeom>
          <a:noFill/>
        </p:spPr>
        <p:txBody>
          <a:bodyPr wrap="square" anchor="t">
            <a:spAutoFit/>
          </a:bodyPr>
          <a:lstStyle/>
          <a:p>
            <a:pPr algn="ctr">
              <a:spcAft>
                <a:spcPts val="400"/>
              </a:spcAft>
            </a:pPr>
            <a:r>
              <a:rPr sz="800" b="0">
                <a:solidFill>
                  <a:srgbClr val="161B26"/>
                </a:solidFill>
                <a:latin typeface="Arial"/>
              </a:rPr>
              <a:t>From
File</a:t>
            </a:r>
          </a:p>
        </p:txBody>
      </p:sp>
      <p:sp>
        <p:nvSpPr>
          <p:cNvPr id="22" name="Rectangle 21"/>
          <p:cNvSpPr/>
          <p:nvPr/>
        </p:nvSpPr>
        <p:spPr>
          <a:xfrm>
            <a:off x="2340864" y="2441447"/>
            <a:ext cx="54864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40864" y="2441447"/>
            <a:ext cx="5486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67712" y="3026663"/>
            <a:ext cx="694944" cy="384048"/>
          </a:xfrm>
          <a:prstGeom prst="rect">
            <a:avLst/>
          </a:prstGeom>
          <a:noFill/>
        </p:spPr>
        <p:txBody>
          <a:bodyPr wrap="square" anchor="t">
            <a:spAutoFit/>
          </a:bodyPr>
          <a:lstStyle/>
          <a:p>
            <a:pPr algn="ctr">
              <a:spcAft>
                <a:spcPts val="400"/>
              </a:spcAft>
            </a:pPr>
            <a:r>
              <a:rPr sz="800" b="0">
                <a:solidFill>
                  <a:srgbClr val="161B26"/>
                </a:solidFill>
                <a:latin typeface="Arial"/>
              </a:rPr>
              <a:t>From
Web</a:t>
            </a:r>
          </a:p>
        </p:txBody>
      </p:sp>
      <p:sp>
        <p:nvSpPr>
          <p:cNvPr id="25" name="Rectangle 24"/>
          <p:cNvSpPr/>
          <p:nvPr/>
        </p:nvSpPr>
        <p:spPr>
          <a:xfrm>
            <a:off x="2999232" y="2441447"/>
            <a:ext cx="54864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99232" y="2441447"/>
            <a:ext cx="5486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0" y="3026663"/>
            <a:ext cx="694944" cy="384048"/>
          </a:xfrm>
          <a:prstGeom prst="rect">
            <a:avLst/>
          </a:prstGeom>
          <a:noFill/>
        </p:spPr>
        <p:txBody>
          <a:bodyPr wrap="square" anchor="t">
            <a:spAutoFit/>
          </a:bodyPr>
          <a:lstStyle/>
          <a:p>
            <a:pPr algn="ctr">
              <a:spcAft>
                <a:spcPts val="400"/>
              </a:spcAft>
            </a:pPr>
            <a:r>
              <a:rPr sz="800" b="0">
                <a:solidFill>
                  <a:srgbClr val="161B26"/>
                </a:solidFill>
                <a:latin typeface="Arial"/>
              </a:rPr>
              <a:t>Get
Data</a:t>
            </a:r>
          </a:p>
        </p:txBody>
      </p:sp>
      <p:sp>
        <p:nvSpPr>
          <p:cNvPr id="28" name="TextBox 27"/>
          <p:cNvSpPr txBox="1"/>
          <p:nvPr/>
        </p:nvSpPr>
        <p:spPr>
          <a:xfrm>
            <a:off x="914400" y="3410711"/>
            <a:ext cx="3136392" cy="219456"/>
          </a:xfrm>
          <a:prstGeom prst="rect">
            <a:avLst/>
          </a:prstGeom>
          <a:noFill/>
        </p:spPr>
        <p:txBody>
          <a:bodyPr wrap="square" anchor="t">
            <a:spAutoFit/>
          </a:bodyPr>
          <a:lstStyle/>
          <a:p>
            <a:pPr algn="ctr">
              <a:spcAft>
                <a:spcPts val="400"/>
              </a:spcAft>
            </a:pPr>
            <a:r>
              <a:rPr sz="900" b="0">
                <a:solidFill>
                  <a:srgbClr val="5B6372"/>
                </a:solidFill>
                <a:latin typeface="Arial"/>
              </a:rPr>
              <a:t>Get &amp; Transform Data</a:t>
            </a:r>
          </a:p>
        </p:txBody>
      </p:sp>
      <p:sp>
        <p:nvSpPr>
          <p:cNvPr id="29" name="Rectangle 28"/>
          <p:cNvSpPr/>
          <p:nvPr/>
        </p:nvSpPr>
        <p:spPr>
          <a:xfrm>
            <a:off x="4050792" y="2404871"/>
            <a:ext cx="10972" cy="105156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88536" y="2441447"/>
            <a:ext cx="54864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88536" y="2441447"/>
            <a:ext cx="5486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15384" y="3026663"/>
            <a:ext cx="694944" cy="384048"/>
          </a:xfrm>
          <a:prstGeom prst="rect">
            <a:avLst/>
          </a:prstGeom>
          <a:noFill/>
        </p:spPr>
        <p:txBody>
          <a:bodyPr wrap="square" anchor="t">
            <a:spAutoFit/>
          </a:bodyPr>
          <a:lstStyle/>
          <a:p>
            <a:pPr algn="ctr">
              <a:spcAft>
                <a:spcPts val="400"/>
              </a:spcAft>
            </a:pPr>
            <a:r>
              <a:rPr sz="800" b="0">
                <a:solidFill>
                  <a:srgbClr val="161B26"/>
                </a:solidFill>
                <a:latin typeface="Arial"/>
              </a:rPr>
              <a:t>Refresh
All</a:t>
            </a:r>
          </a:p>
        </p:txBody>
      </p:sp>
      <p:sp>
        <p:nvSpPr>
          <p:cNvPr id="33" name="Rectangle 32"/>
          <p:cNvSpPr/>
          <p:nvPr/>
        </p:nvSpPr>
        <p:spPr>
          <a:xfrm>
            <a:off x="4946904" y="2441447"/>
            <a:ext cx="54864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946904" y="2441447"/>
            <a:ext cx="5486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73752" y="3026663"/>
            <a:ext cx="694944" cy="384048"/>
          </a:xfrm>
          <a:prstGeom prst="rect">
            <a:avLst/>
          </a:prstGeom>
          <a:noFill/>
        </p:spPr>
        <p:txBody>
          <a:bodyPr wrap="square" anchor="t">
            <a:spAutoFit/>
          </a:bodyPr>
          <a:lstStyle/>
          <a:p>
            <a:pPr algn="ctr">
              <a:spcAft>
                <a:spcPts val="400"/>
              </a:spcAft>
            </a:pPr>
            <a:r>
              <a:rPr sz="800" b="0">
                <a:solidFill>
                  <a:srgbClr val="161B26"/>
                </a:solidFill>
                <a:latin typeface="Arial"/>
              </a:rPr>
              <a:t>Queries</a:t>
            </a:r>
          </a:p>
        </p:txBody>
      </p:sp>
      <p:sp>
        <p:nvSpPr>
          <p:cNvPr id="36" name="Rectangle 35"/>
          <p:cNvSpPr/>
          <p:nvPr/>
        </p:nvSpPr>
        <p:spPr>
          <a:xfrm>
            <a:off x="5605272" y="2441447"/>
            <a:ext cx="54864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05272" y="2441447"/>
            <a:ext cx="5486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2120" y="3026663"/>
            <a:ext cx="694944" cy="384048"/>
          </a:xfrm>
          <a:prstGeom prst="rect">
            <a:avLst/>
          </a:prstGeom>
          <a:noFill/>
        </p:spPr>
        <p:txBody>
          <a:bodyPr wrap="square" anchor="t">
            <a:spAutoFit/>
          </a:bodyPr>
          <a:lstStyle/>
          <a:p>
            <a:pPr algn="ctr">
              <a:spcAft>
                <a:spcPts val="400"/>
              </a:spcAft>
            </a:pPr>
            <a:r>
              <a:rPr sz="800" b="0">
                <a:solidFill>
                  <a:srgbClr val="161B26"/>
                </a:solidFill>
                <a:latin typeface="Arial"/>
              </a:rPr>
              <a:t>Properties</a:t>
            </a:r>
          </a:p>
        </p:txBody>
      </p:sp>
      <p:sp>
        <p:nvSpPr>
          <p:cNvPr id="39" name="TextBox 38"/>
          <p:cNvSpPr txBox="1"/>
          <p:nvPr/>
        </p:nvSpPr>
        <p:spPr>
          <a:xfrm>
            <a:off x="4178808" y="3410711"/>
            <a:ext cx="2478024" cy="219456"/>
          </a:xfrm>
          <a:prstGeom prst="rect">
            <a:avLst/>
          </a:prstGeom>
          <a:noFill/>
        </p:spPr>
        <p:txBody>
          <a:bodyPr wrap="square" anchor="t">
            <a:spAutoFit/>
          </a:bodyPr>
          <a:lstStyle/>
          <a:p>
            <a:pPr algn="ctr">
              <a:spcAft>
                <a:spcPts val="400"/>
              </a:spcAft>
            </a:pPr>
            <a:r>
              <a:rPr sz="900" b="0">
                <a:solidFill>
                  <a:srgbClr val="5B6372"/>
                </a:solidFill>
                <a:latin typeface="Arial"/>
              </a:rPr>
              <a:t>Queries &amp; Connections</a:t>
            </a:r>
          </a:p>
        </p:txBody>
      </p:sp>
      <p:sp>
        <p:nvSpPr>
          <p:cNvPr id="40" name="Rectangle 39"/>
          <p:cNvSpPr/>
          <p:nvPr/>
        </p:nvSpPr>
        <p:spPr>
          <a:xfrm>
            <a:off x="777240" y="3977639"/>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3977639"/>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4984" y="4187952"/>
            <a:ext cx="2926080" cy="365760"/>
          </a:xfrm>
          <a:prstGeom prst="rect">
            <a:avLst/>
          </a:prstGeom>
          <a:noFill/>
        </p:spPr>
        <p:txBody>
          <a:bodyPr wrap="square" anchor="t">
            <a:spAutoFit/>
          </a:bodyPr>
          <a:lstStyle/>
          <a:p>
            <a:pPr algn="l">
              <a:spcAft>
                <a:spcPts val="400"/>
              </a:spcAft>
            </a:pPr>
            <a:r>
              <a:rPr sz="1300" b="1">
                <a:solidFill>
                  <a:srgbClr val="1F6FEB"/>
                </a:solidFill>
                <a:latin typeface="Arial"/>
              </a:rPr>
              <a:t>Data &gt; From Table/Range</a:t>
            </a:r>
          </a:p>
        </p:txBody>
      </p:sp>
      <p:sp>
        <p:nvSpPr>
          <p:cNvPr id="43" name="TextBox 42"/>
          <p:cNvSpPr txBox="1"/>
          <p:nvPr/>
        </p:nvSpPr>
        <p:spPr>
          <a:xfrm>
            <a:off x="1014984" y="4572000"/>
            <a:ext cx="2926080" cy="1097280"/>
          </a:xfrm>
          <a:prstGeom prst="rect">
            <a:avLst/>
          </a:prstGeom>
          <a:noFill/>
        </p:spPr>
        <p:txBody>
          <a:bodyPr wrap="square" anchor="t">
            <a:spAutoFit/>
          </a:bodyPr>
          <a:lstStyle/>
          <a:p>
            <a:pPr algn="l">
              <a:spcAft>
                <a:spcPts val="400"/>
              </a:spcAft>
            </a:pPr>
            <a:r>
              <a:rPr sz="1100" b="0">
                <a:solidFill>
                  <a:srgbClr val="161B26"/>
                </a:solidFill>
                <a:latin typeface="Arial"/>
              </a:rPr>
              <a:t>Loads the selected worksheet table into the Power Query Editor.</a:t>
            </a:r>
          </a:p>
        </p:txBody>
      </p:sp>
      <p:sp>
        <p:nvSpPr>
          <p:cNvPr id="44" name="Rectangle 43"/>
          <p:cNvSpPr/>
          <p:nvPr/>
        </p:nvSpPr>
        <p:spPr>
          <a:xfrm>
            <a:off x="4425696" y="3977639"/>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425696" y="3977639"/>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63440" y="4187952"/>
            <a:ext cx="2926080" cy="365760"/>
          </a:xfrm>
          <a:prstGeom prst="rect">
            <a:avLst/>
          </a:prstGeom>
          <a:noFill/>
        </p:spPr>
        <p:txBody>
          <a:bodyPr wrap="square" anchor="t">
            <a:spAutoFit/>
          </a:bodyPr>
          <a:lstStyle/>
          <a:p>
            <a:pPr algn="l">
              <a:spcAft>
                <a:spcPts val="400"/>
              </a:spcAft>
            </a:pPr>
            <a:r>
              <a:rPr sz="1300" b="1">
                <a:solidFill>
                  <a:srgbClr val="10B981"/>
                </a:solidFill>
                <a:latin typeface="Arial"/>
              </a:rPr>
              <a:t>Data &gt; Get Data</a:t>
            </a:r>
          </a:p>
        </p:txBody>
      </p:sp>
      <p:sp>
        <p:nvSpPr>
          <p:cNvPr id="47" name="TextBox 46"/>
          <p:cNvSpPr txBox="1"/>
          <p:nvPr/>
        </p:nvSpPr>
        <p:spPr>
          <a:xfrm>
            <a:off x="4663440" y="4572000"/>
            <a:ext cx="2926080" cy="1097280"/>
          </a:xfrm>
          <a:prstGeom prst="rect">
            <a:avLst/>
          </a:prstGeom>
          <a:noFill/>
        </p:spPr>
        <p:txBody>
          <a:bodyPr wrap="square" anchor="t">
            <a:spAutoFit/>
          </a:bodyPr>
          <a:lstStyle/>
          <a:p>
            <a:pPr algn="l">
              <a:spcAft>
                <a:spcPts val="400"/>
              </a:spcAft>
            </a:pPr>
            <a:r>
              <a:rPr sz="1100" b="0">
                <a:solidFill>
                  <a:srgbClr val="161B26"/>
                </a:solidFill>
                <a:latin typeface="Arial"/>
              </a:rPr>
              <a:t>Connects to an external workbook, CSV, database, folder or web source.</a:t>
            </a:r>
          </a:p>
        </p:txBody>
      </p:sp>
      <p:sp>
        <p:nvSpPr>
          <p:cNvPr id="48" name="Rectangle 47"/>
          <p:cNvSpPr/>
          <p:nvPr/>
        </p:nvSpPr>
        <p:spPr>
          <a:xfrm>
            <a:off x="8074152" y="3977639"/>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074152" y="3977639"/>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11896" y="4187952"/>
            <a:ext cx="2926080" cy="365760"/>
          </a:xfrm>
          <a:prstGeom prst="rect">
            <a:avLst/>
          </a:prstGeom>
          <a:noFill/>
        </p:spPr>
        <p:txBody>
          <a:bodyPr wrap="square" anchor="t">
            <a:spAutoFit/>
          </a:bodyPr>
          <a:lstStyle/>
          <a:p>
            <a:pPr algn="l">
              <a:spcAft>
                <a:spcPts val="400"/>
              </a:spcAft>
            </a:pPr>
            <a:r>
              <a:rPr sz="1300" b="1">
                <a:solidFill>
                  <a:srgbClr val="7C3AED"/>
                </a:solidFill>
                <a:latin typeface="Arial"/>
              </a:rPr>
              <a:t>Queries &amp; Connections</a:t>
            </a:r>
          </a:p>
        </p:txBody>
      </p:sp>
      <p:sp>
        <p:nvSpPr>
          <p:cNvPr id="51" name="TextBox 50"/>
          <p:cNvSpPr txBox="1"/>
          <p:nvPr/>
        </p:nvSpPr>
        <p:spPr>
          <a:xfrm>
            <a:off x="8311896" y="4572000"/>
            <a:ext cx="2926080" cy="1097280"/>
          </a:xfrm>
          <a:prstGeom prst="rect">
            <a:avLst/>
          </a:prstGeom>
          <a:noFill/>
        </p:spPr>
        <p:txBody>
          <a:bodyPr wrap="square" anchor="t">
            <a:spAutoFit/>
          </a:bodyPr>
          <a:lstStyle/>
          <a:p>
            <a:pPr algn="l">
              <a:spcAft>
                <a:spcPts val="400"/>
              </a:spcAft>
            </a:pPr>
            <a:r>
              <a:rPr sz="1100" b="0">
                <a:solidFill>
                  <a:srgbClr val="161B26"/>
                </a:solidFill>
                <a:latin typeface="Arial"/>
              </a:rPr>
              <a:t>The side pane listing every query, its load state and its row count.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THE EDITOR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Power Query Editor — Five Areas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930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1. The Ribbon</a:t>
            </a:r>
          </a:p>
          <a:p>
            <a:pPr algn="l">
              <a:spcAft>
                <a:spcPts val="300"/>
              </a:spcAft>
            </a:pPr>
            <a:r>
              <a:rPr sz="1200" b="0">
                <a:solidFill>
                  <a:srgbClr val="5B6372"/>
                </a:solidFill>
                <a:latin typeface="Arial"/>
              </a:rPr>
              <a:t>Home, Transform, Add Column and View tabs</a:t>
            </a:r>
          </a:p>
        </p:txBody>
      </p:sp>
      <p:sp>
        <p:nvSpPr>
          <p:cNvPr id="12" name="Rectangle 11"/>
          <p:cNvSpPr/>
          <p:nvPr/>
        </p:nvSpPr>
        <p:spPr>
          <a:xfrm>
            <a:off x="6231636"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930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2. Queries Pane</a:t>
            </a:r>
          </a:p>
          <a:p>
            <a:pPr algn="l">
              <a:spcAft>
                <a:spcPts val="300"/>
              </a:spcAft>
            </a:pPr>
            <a:r>
              <a:rPr sz="1200" b="0">
                <a:solidFill>
                  <a:srgbClr val="5B6372"/>
                </a:solidFill>
                <a:latin typeface="Arial"/>
              </a:rPr>
              <a:t>Every query in the workbook, on the left</a:t>
            </a:r>
          </a:p>
        </p:txBody>
      </p:sp>
      <p:sp>
        <p:nvSpPr>
          <p:cNvPr id="17" name="Rectangle 16"/>
          <p:cNvSpPr/>
          <p:nvPr/>
        </p:nvSpPr>
        <p:spPr>
          <a:xfrm>
            <a:off x="777240"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91440"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7261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3. Data Preview</a:t>
            </a:r>
          </a:p>
          <a:p>
            <a:pPr algn="l">
              <a:spcAft>
                <a:spcPts val="300"/>
              </a:spcAft>
            </a:pPr>
            <a:r>
              <a:rPr sz="1200" b="0">
                <a:solidFill>
                  <a:srgbClr val="5B6372"/>
                </a:solidFill>
                <a:latin typeface="Arial"/>
              </a:rPr>
              <a:t>The first 1000 rows — a preview, not the full data</a:t>
            </a:r>
          </a:p>
        </p:txBody>
      </p:sp>
      <p:sp>
        <p:nvSpPr>
          <p:cNvPr id="22" name="Rectangle 21"/>
          <p:cNvSpPr/>
          <p:nvPr/>
        </p:nvSpPr>
        <p:spPr>
          <a:xfrm>
            <a:off x="6231636"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6224"/>
            <a:ext cx="91440" cy="1368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7261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4. Query Settings</a:t>
            </a:r>
          </a:p>
          <a:p>
            <a:pPr algn="l">
              <a:spcAft>
                <a:spcPts val="300"/>
              </a:spcAft>
            </a:pPr>
            <a:r>
              <a:rPr sz="1200" b="0">
                <a:solidFill>
                  <a:srgbClr val="5B6372"/>
                </a:solidFill>
                <a:latin typeface="Arial"/>
              </a:rPr>
              <a:t>Properties and the Applied Steps list</a:t>
            </a:r>
          </a:p>
        </p:txBody>
      </p:sp>
      <p:sp>
        <p:nvSpPr>
          <p:cNvPr id="27" name="Rectangle 26"/>
          <p:cNvSpPr/>
          <p:nvPr/>
        </p:nvSpPr>
        <p:spPr>
          <a:xfrm>
            <a:off x="777240"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5. Status Bar</a:t>
            </a:r>
          </a:p>
          <a:p>
            <a:pPr algn="l">
              <a:spcAft>
                <a:spcPts val="300"/>
              </a:spcAft>
            </a:pPr>
            <a:r>
              <a:rPr sz="1200" b="0">
                <a:solidFill>
                  <a:srgbClr val="5B6372"/>
                </a:solidFill>
                <a:latin typeface="Arial"/>
              </a:rPr>
              <a:t>Column count, row count and profiling info</a:t>
            </a:r>
          </a:p>
        </p:txBody>
      </p:sp>
      <p:sp>
        <p:nvSpPr>
          <p:cNvPr id="32" name="Rectangle 31"/>
          <p:cNvSpPr/>
          <p:nvPr/>
        </p:nvSpPr>
        <p:spPr>
          <a:xfrm>
            <a:off x="6231636"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9368"/>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Applied Steps</a:t>
            </a:r>
          </a:p>
          <a:p>
            <a:pPr algn="l">
              <a:spcAft>
                <a:spcPts val="300"/>
              </a:spcAft>
            </a:pPr>
            <a:r>
              <a:rPr sz="1200" b="0">
                <a:solidFill>
                  <a:srgbClr val="5B6372"/>
                </a:solidFill>
                <a:latin typeface="Arial"/>
              </a:rPr>
              <a:t>The heart of it — your recorded, editable recipe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APPLIED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Applied Steps — Your Audit Trail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828800"/>
            <a:ext cx="10058400" cy="1371600"/>
          </a:xfrm>
          <a:prstGeom prst="rect">
            <a:avLst/>
          </a:prstGeom>
          <a:noFill/>
        </p:spPr>
        <p:txBody>
          <a:bodyPr wrap="square" anchor="ctr">
            <a:spAutoFit/>
          </a:bodyPr>
          <a:lstStyle/>
          <a:p>
            <a:pPr algn="l">
              <a:spcAft>
                <a:spcPts val="400"/>
              </a:spcAft>
            </a:pPr>
            <a:r>
              <a:rPr sz="2000" b="1">
                <a:solidFill>
                  <a:srgbClr val="161B26"/>
                </a:solidFill>
                <a:latin typeface="Arial"/>
              </a:rPr>
              <a:t>Every click you make becomes a step you can rename, reorder, edit or delete.</a:t>
            </a:r>
          </a:p>
        </p:txBody>
      </p:sp>
      <p:sp>
        <p:nvSpPr>
          <p:cNvPr id="10" name="Rectangle 9"/>
          <p:cNvSpPr/>
          <p:nvPr/>
        </p:nvSpPr>
        <p:spPr>
          <a:xfrm>
            <a:off x="777240"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52044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749039"/>
            <a:ext cx="2926080" cy="457200"/>
          </a:xfrm>
          <a:prstGeom prst="rect">
            <a:avLst/>
          </a:prstGeom>
          <a:noFill/>
        </p:spPr>
        <p:txBody>
          <a:bodyPr wrap="square" anchor="t">
            <a:spAutoFit/>
          </a:bodyPr>
          <a:lstStyle/>
          <a:p>
            <a:pPr algn="l">
              <a:spcAft>
                <a:spcPts val="400"/>
              </a:spcAft>
            </a:pPr>
            <a:r>
              <a:rPr sz="1400" b="1">
                <a:solidFill>
                  <a:srgbClr val="1F6FEB"/>
                </a:solidFill>
                <a:latin typeface="Arial"/>
              </a:rPr>
              <a:t>Order matters</a:t>
            </a:r>
          </a:p>
        </p:txBody>
      </p:sp>
      <p:sp>
        <p:nvSpPr>
          <p:cNvPr id="13" name="TextBox 12"/>
          <p:cNvSpPr txBox="1"/>
          <p:nvPr/>
        </p:nvSpPr>
        <p:spPr>
          <a:xfrm>
            <a:off x="1014984"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Steps run top to bottom. Filtering before a merge is fast; after it is slow.</a:t>
            </a:r>
          </a:p>
        </p:txBody>
      </p:sp>
      <p:sp>
        <p:nvSpPr>
          <p:cNvPr id="14" name="Rectangle 13"/>
          <p:cNvSpPr/>
          <p:nvPr/>
        </p:nvSpPr>
        <p:spPr>
          <a:xfrm>
            <a:off x="4425696"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352044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749039"/>
            <a:ext cx="2926080" cy="457200"/>
          </a:xfrm>
          <a:prstGeom prst="rect">
            <a:avLst/>
          </a:prstGeom>
          <a:noFill/>
        </p:spPr>
        <p:txBody>
          <a:bodyPr wrap="square" anchor="t">
            <a:spAutoFit/>
          </a:bodyPr>
          <a:lstStyle/>
          <a:p>
            <a:pPr algn="l">
              <a:spcAft>
                <a:spcPts val="400"/>
              </a:spcAft>
            </a:pPr>
            <a:r>
              <a:rPr sz="1400" b="1">
                <a:solidFill>
                  <a:srgbClr val="10B981"/>
                </a:solidFill>
                <a:latin typeface="Arial"/>
              </a:rPr>
              <a:t>Everything is editable</a:t>
            </a:r>
          </a:p>
        </p:txBody>
      </p:sp>
      <p:sp>
        <p:nvSpPr>
          <p:cNvPr id="17" name="TextBox 16"/>
          <p:cNvSpPr txBox="1"/>
          <p:nvPr/>
        </p:nvSpPr>
        <p:spPr>
          <a:xfrm>
            <a:off x="4663440"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Click the gear icon on a step to reopen the dialog you used.</a:t>
            </a:r>
          </a:p>
        </p:txBody>
      </p:sp>
      <p:sp>
        <p:nvSpPr>
          <p:cNvPr id="18" name="Rectangle 17"/>
          <p:cNvSpPr/>
          <p:nvPr/>
        </p:nvSpPr>
        <p:spPr>
          <a:xfrm>
            <a:off x="8074152"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352044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3749039"/>
            <a:ext cx="2926080" cy="457200"/>
          </a:xfrm>
          <a:prstGeom prst="rect">
            <a:avLst/>
          </a:prstGeom>
          <a:noFill/>
        </p:spPr>
        <p:txBody>
          <a:bodyPr wrap="square" anchor="t">
            <a:spAutoFit/>
          </a:bodyPr>
          <a:lstStyle/>
          <a:p>
            <a:pPr algn="l">
              <a:spcAft>
                <a:spcPts val="400"/>
              </a:spcAft>
            </a:pPr>
            <a:r>
              <a:rPr sz="1400" b="1">
                <a:solidFill>
                  <a:srgbClr val="7C3AED"/>
                </a:solidFill>
                <a:latin typeface="Arial"/>
              </a:rPr>
              <a:t>Delete with care</a:t>
            </a:r>
          </a:p>
        </p:txBody>
      </p:sp>
      <p:sp>
        <p:nvSpPr>
          <p:cNvPr id="21" name="TextBox 20"/>
          <p:cNvSpPr txBox="1"/>
          <p:nvPr/>
        </p:nvSpPr>
        <p:spPr>
          <a:xfrm>
            <a:off x="8311896"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Removing an early step can break the ones that follow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DATA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Types — Set Them in the Query, Not the Grid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870862" cy="475488"/>
          </a:xfrm>
          <a:prstGeom prst="rect">
            <a:avLst/>
          </a:prstGeom>
          <a:noFill/>
        </p:spPr>
        <p:txBody>
          <a:bodyPr wrap="square" anchor="ctr">
            <a:spAutoFit/>
          </a:bodyPr>
          <a:lstStyle/>
          <a:p>
            <a:pPr algn="l">
              <a:spcAft>
                <a:spcPts val="400"/>
              </a:spcAft>
            </a:pPr>
            <a:r>
              <a:rPr sz="1300" b="1">
                <a:solidFill>
                  <a:srgbClr val="FFFFFF"/>
                </a:solidFill>
                <a:latin typeface="Arial"/>
              </a:rPr>
              <a:t>Type</a:t>
            </a:r>
          </a:p>
        </p:txBody>
      </p:sp>
      <p:sp>
        <p:nvSpPr>
          <p:cNvPr id="9" name="Rectangle 8"/>
          <p:cNvSpPr/>
          <p:nvPr/>
        </p:nvSpPr>
        <p:spPr>
          <a:xfrm>
            <a:off x="2904134" y="1783080"/>
            <a:ext cx="4253789"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2150" y="1783080"/>
            <a:ext cx="3997757" cy="475488"/>
          </a:xfrm>
          <a:prstGeom prst="rect">
            <a:avLst/>
          </a:prstGeom>
          <a:noFill/>
        </p:spPr>
        <p:txBody>
          <a:bodyPr wrap="square" anchor="ctr">
            <a:spAutoFit/>
          </a:bodyPr>
          <a:lstStyle/>
          <a:p>
            <a:pPr algn="l">
              <a:spcAft>
                <a:spcPts val="400"/>
              </a:spcAft>
            </a:pPr>
            <a:r>
              <a:rPr sz="1300" b="1">
                <a:solidFill>
                  <a:srgbClr val="FFFFFF"/>
                </a:solidFill>
                <a:latin typeface="Arial"/>
              </a:rPr>
              <a:t>What it holds</a:t>
            </a:r>
          </a:p>
        </p:txBody>
      </p:sp>
      <p:sp>
        <p:nvSpPr>
          <p:cNvPr id="11" name="Rectangle 10"/>
          <p:cNvSpPr/>
          <p:nvPr/>
        </p:nvSpPr>
        <p:spPr>
          <a:xfrm>
            <a:off x="7157923" y="1783080"/>
            <a:ext cx="425378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85939" y="1783080"/>
            <a:ext cx="3997757" cy="475488"/>
          </a:xfrm>
          <a:prstGeom prst="rect">
            <a:avLst/>
          </a:prstGeom>
          <a:noFill/>
        </p:spPr>
        <p:txBody>
          <a:bodyPr wrap="square" anchor="ctr">
            <a:spAutoFit/>
          </a:bodyPr>
          <a:lstStyle/>
          <a:p>
            <a:pPr algn="l">
              <a:spcAft>
                <a:spcPts val="400"/>
              </a:spcAft>
            </a:pPr>
            <a:r>
              <a:rPr sz="1300" b="1">
                <a:solidFill>
                  <a:srgbClr val="FFFFFF"/>
                </a:solidFill>
                <a:latin typeface="Arial"/>
              </a:rPr>
              <a:t>Common failure</a:t>
            </a:r>
          </a:p>
        </p:txBody>
      </p:sp>
      <p:sp>
        <p:nvSpPr>
          <p:cNvPr id="13" name="Rectangle 12"/>
          <p:cNvSpPr/>
          <p:nvPr/>
        </p:nvSpPr>
        <p:spPr>
          <a:xfrm>
            <a:off x="777240" y="2258568"/>
            <a:ext cx="2126894"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907438" cy="414092"/>
          </a:xfrm>
          <a:prstGeom prst="rect">
            <a:avLst/>
          </a:prstGeom>
          <a:noFill/>
        </p:spPr>
        <p:txBody>
          <a:bodyPr wrap="square" anchor="ctr">
            <a:spAutoFit/>
          </a:bodyPr>
          <a:lstStyle/>
          <a:p>
            <a:pPr algn="l">
              <a:spcAft>
                <a:spcPts val="400"/>
              </a:spcAft>
            </a:pPr>
            <a:r>
              <a:rPr sz="1150" b="1">
                <a:solidFill>
                  <a:srgbClr val="161B26"/>
                </a:solidFill>
                <a:latin typeface="Arial"/>
              </a:rPr>
              <a:t>Text</a:t>
            </a:r>
          </a:p>
        </p:txBody>
      </p:sp>
      <p:sp>
        <p:nvSpPr>
          <p:cNvPr id="15" name="Rectangle 14"/>
          <p:cNvSpPr/>
          <p:nvPr/>
        </p:nvSpPr>
        <p:spPr>
          <a:xfrm>
            <a:off x="2904134" y="2258568"/>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258568"/>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Names, codes, IDs, postal codes</a:t>
            </a:r>
          </a:p>
        </p:txBody>
      </p:sp>
      <p:sp>
        <p:nvSpPr>
          <p:cNvPr id="17" name="Rectangle 16"/>
          <p:cNvSpPr/>
          <p:nvPr/>
        </p:nvSpPr>
        <p:spPr>
          <a:xfrm>
            <a:off x="7157923" y="2258568"/>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7651" y="2258568"/>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Leading zeros lost if typed as number</a:t>
            </a:r>
          </a:p>
        </p:txBody>
      </p:sp>
      <p:sp>
        <p:nvSpPr>
          <p:cNvPr id="19" name="Rectangle 18"/>
          <p:cNvSpPr/>
          <p:nvPr/>
        </p:nvSpPr>
        <p:spPr>
          <a:xfrm>
            <a:off x="777240" y="2672660"/>
            <a:ext cx="2126894"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672660"/>
            <a:ext cx="1907438" cy="414092"/>
          </a:xfrm>
          <a:prstGeom prst="rect">
            <a:avLst/>
          </a:prstGeom>
          <a:noFill/>
        </p:spPr>
        <p:txBody>
          <a:bodyPr wrap="square" anchor="ctr">
            <a:spAutoFit/>
          </a:bodyPr>
          <a:lstStyle/>
          <a:p>
            <a:pPr algn="l">
              <a:spcAft>
                <a:spcPts val="400"/>
              </a:spcAft>
            </a:pPr>
            <a:r>
              <a:rPr sz="1150" b="1">
                <a:solidFill>
                  <a:srgbClr val="161B26"/>
                </a:solidFill>
                <a:latin typeface="Arial"/>
              </a:rPr>
              <a:t>Whole Number</a:t>
            </a:r>
          </a:p>
        </p:txBody>
      </p:sp>
      <p:sp>
        <p:nvSpPr>
          <p:cNvPr id="21" name="Rectangle 20"/>
          <p:cNvSpPr/>
          <p:nvPr/>
        </p:nvSpPr>
        <p:spPr>
          <a:xfrm>
            <a:off x="2904134" y="2672660"/>
            <a:ext cx="4253789"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2672660"/>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Counts and quantities</a:t>
            </a:r>
          </a:p>
        </p:txBody>
      </p:sp>
      <p:sp>
        <p:nvSpPr>
          <p:cNvPr id="23" name="Rectangle 22"/>
          <p:cNvSpPr/>
          <p:nvPr/>
        </p:nvSpPr>
        <p:spPr>
          <a:xfrm>
            <a:off x="7157923" y="2672660"/>
            <a:ext cx="4253789"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7651" y="2672660"/>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Will not sum while stored as text</a:t>
            </a:r>
          </a:p>
        </p:txBody>
      </p:sp>
      <p:sp>
        <p:nvSpPr>
          <p:cNvPr id="25" name="Rectangle 24"/>
          <p:cNvSpPr/>
          <p:nvPr/>
        </p:nvSpPr>
        <p:spPr>
          <a:xfrm>
            <a:off x="777240" y="3086752"/>
            <a:ext cx="2126894"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086752"/>
            <a:ext cx="1907438" cy="414092"/>
          </a:xfrm>
          <a:prstGeom prst="rect">
            <a:avLst/>
          </a:prstGeom>
          <a:noFill/>
        </p:spPr>
        <p:txBody>
          <a:bodyPr wrap="square" anchor="ctr">
            <a:spAutoFit/>
          </a:bodyPr>
          <a:lstStyle/>
          <a:p>
            <a:pPr algn="l">
              <a:spcAft>
                <a:spcPts val="400"/>
              </a:spcAft>
            </a:pPr>
            <a:r>
              <a:rPr sz="1150" b="1">
                <a:solidFill>
                  <a:srgbClr val="161B26"/>
                </a:solidFill>
                <a:latin typeface="Arial"/>
              </a:rPr>
              <a:t>Decimal Number</a:t>
            </a:r>
          </a:p>
        </p:txBody>
      </p:sp>
      <p:sp>
        <p:nvSpPr>
          <p:cNvPr id="27" name="Rectangle 26"/>
          <p:cNvSpPr/>
          <p:nvPr/>
        </p:nvSpPr>
        <p:spPr>
          <a:xfrm>
            <a:off x="2904134" y="3086752"/>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086752"/>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Prices, amounts, rates</a:t>
            </a:r>
          </a:p>
        </p:txBody>
      </p:sp>
      <p:sp>
        <p:nvSpPr>
          <p:cNvPr id="29" name="Rectangle 28"/>
          <p:cNvSpPr/>
          <p:nvPr/>
        </p:nvSpPr>
        <p:spPr>
          <a:xfrm>
            <a:off x="7157923" y="3086752"/>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7651" y="3086752"/>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Currency prefix blocks the type change</a:t>
            </a:r>
          </a:p>
        </p:txBody>
      </p:sp>
      <p:sp>
        <p:nvSpPr>
          <p:cNvPr id="31" name="Rectangle 30"/>
          <p:cNvSpPr/>
          <p:nvPr/>
        </p:nvSpPr>
        <p:spPr>
          <a:xfrm>
            <a:off x="777240" y="3500844"/>
            <a:ext cx="2126894"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500844"/>
            <a:ext cx="1907438" cy="414092"/>
          </a:xfrm>
          <a:prstGeom prst="rect">
            <a:avLst/>
          </a:prstGeom>
          <a:noFill/>
        </p:spPr>
        <p:txBody>
          <a:bodyPr wrap="square" anchor="ctr">
            <a:spAutoFit/>
          </a:bodyPr>
          <a:lstStyle/>
          <a:p>
            <a:pPr algn="l">
              <a:spcAft>
                <a:spcPts val="400"/>
              </a:spcAft>
            </a:pPr>
            <a:r>
              <a:rPr sz="1150" b="1">
                <a:solidFill>
                  <a:srgbClr val="161B26"/>
                </a:solidFill>
                <a:latin typeface="Arial"/>
              </a:rPr>
              <a:t>Date</a:t>
            </a:r>
          </a:p>
        </p:txBody>
      </p:sp>
      <p:sp>
        <p:nvSpPr>
          <p:cNvPr id="33" name="Rectangle 32"/>
          <p:cNvSpPr/>
          <p:nvPr/>
        </p:nvSpPr>
        <p:spPr>
          <a:xfrm>
            <a:off x="2904134" y="3500844"/>
            <a:ext cx="4253789"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500844"/>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Calendar dates</a:t>
            </a:r>
          </a:p>
        </p:txBody>
      </p:sp>
      <p:sp>
        <p:nvSpPr>
          <p:cNvPr id="35" name="Rectangle 34"/>
          <p:cNvSpPr/>
          <p:nvPr/>
        </p:nvSpPr>
        <p:spPr>
          <a:xfrm>
            <a:off x="7157923" y="3500844"/>
            <a:ext cx="4253789"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1" y="3500844"/>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dd/mm/yyyy read as US format — use Using Locale</a:t>
            </a:r>
          </a:p>
        </p:txBody>
      </p:sp>
      <p:sp>
        <p:nvSpPr>
          <p:cNvPr id="37" name="Rectangle 36"/>
          <p:cNvSpPr/>
          <p:nvPr/>
        </p:nvSpPr>
        <p:spPr>
          <a:xfrm>
            <a:off x="777240" y="3914936"/>
            <a:ext cx="2126894"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3914936"/>
            <a:ext cx="1907438" cy="414092"/>
          </a:xfrm>
          <a:prstGeom prst="rect">
            <a:avLst/>
          </a:prstGeom>
          <a:noFill/>
        </p:spPr>
        <p:txBody>
          <a:bodyPr wrap="square" anchor="ctr">
            <a:spAutoFit/>
          </a:bodyPr>
          <a:lstStyle/>
          <a:p>
            <a:pPr algn="l">
              <a:spcAft>
                <a:spcPts val="400"/>
              </a:spcAft>
            </a:pPr>
            <a:r>
              <a:rPr sz="1150" b="1">
                <a:solidFill>
                  <a:srgbClr val="161B26"/>
                </a:solidFill>
                <a:latin typeface="Arial"/>
              </a:rPr>
              <a:t>Date/Time</a:t>
            </a:r>
          </a:p>
        </p:txBody>
      </p:sp>
      <p:sp>
        <p:nvSpPr>
          <p:cNvPr id="39" name="Rectangle 38"/>
          <p:cNvSpPr/>
          <p:nvPr/>
        </p:nvSpPr>
        <p:spPr>
          <a:xfrm>
            <a:off x="2904134" y="3914936"/>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3862" y="3914936"/>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Timestamps</a:t>
            </a:r>
          </a:p>
        </p:txBody>
      </p:sp>
      <p:sp>
        <p:nvSpPr>
          <p:cNvPr id="41" name="Rectangle 40"/>
          <p:cNvSpPr/>
          <p:nvPr/>
        </p:nvSpPr>
        <p:spPr>
          <a:xfrm>
            <a:off x="7157923" y="3914936"/>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67651" y="3914936"/>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Time zone shifts the date by a day</a:t>
            </a:r>
          </a:p>
        </p:txBody>
      </p:sp>
      <p:sp>
        <p:nvSpPr>
          <p:cNvPr id="43" name="Rectangle 42"/>
          <p:cNvSpPr/>
          <p:nvPr/>
        </p:nvSpPr>
        <p:spPr>
          <a:xfrm>
            <a:off x="777240" y="4329028"/>
            <a:ext cx="2126894"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329028"/>
            <a:ext cx="1907438" cy="414092"/>
          </a:xfrm>
          <a:prstGeom prst="rect">
            <a:avLst/>
          </a:prstGeom>
          <a:noFill/>
        </p:spPr>
        <p:txBody>
          <a:bodyPr wrap="square" anchor="ctr">
            <a:spAutoFit/>
          </a:bodyPr>
          <a:lstStyle/>
          <a:p>
            <a:pPr algn="l">
              <a:spcAft>
                <a:spcPts val="400"/>
              </a:spcAft>
            </a:pPr>
            <a:r>
              <a:rPr sz="1150" b="1">
                <a:solidFill>
                  <a:srgbClr val="161B26"/>
                </a:solidFill>
                <a:latin typeface="Arial"/>
              </a:rPr>
              <a:t>True/False</a:t>
            </a:r>
          </a:p>
        </p:txBody>
      </p:sp>
      <p:sp>
        <p:nvSpPr>
          <p:cNvPr id="45" name="Rectangle 44"/>
          <p:cNvSpPr/>
          <p:nvPr/>
        </p:nvSpPr>
        <p:spPr>
          <a:xfrm>
            <a:off x="2904134" y="4329028"/>
            <a:ext cx="4253789"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13862" y="4329028"/>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Logical flags</a:t>
            </a:r>
          </a:p>
        </p:txBody>
      </p:sp>
      <p:sp>
        <p:nvSpPr>
          <p:cNvPr id="47" name="Rectangle 46"/>
          <p:cNvSpPr/>
          <p:nvPr/>
        </p:nvSpPr>
        <p:spPr>
          <a:xfrm>
            <a:off x="7157923" y="4329028"/>
            <a:ext cx="4253789"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67651" y="4329028"/>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The words TRUE/FALSE stored as text</a:t>
            </a:r>
          </a:p>
        </p:txBody>
      </p:sp>
      <p:sp>
        <p:nvSpPr>
          <p:cNvPr id="49" name="Rectangle 48"/>
          <p:cNvSpPr/>
          <p:nvPr/>
        </p:nvSpPr>
        <p:spPr>
          <a:xfrm>
            <a:off x="777240" y="4743120"/>
            <a:ext cx="2126894"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 y="4743120"/>
            <a:ext cx="1907438" cy="414092"/>
          </a:xfrm>
          <a:prstGeom prst="rect">
            <a:avLst/>
          </a:prstGeom>
          <a:noFill/>
        </p:spPr>
        <p:txBody>
          <a:bodyPr wrap="square" anchor="ctr">
            <a:spAutoFit/>
          </a:bodyPr>
          <a:lstStyle/>
          <a:p>
            <a:pPr algn="l">
              <a:spcAft>
                <a:spcPts val="400"/>
              </a:spcAft>
            </a:pPr>
            <a:r>
              <a:rPr sz="1150" b="1">
                <a:solidFill>
                  <a:srgbClr val="161B26"/>
                </a:solidFill>
                <a:latin typeface="Arial"/>
              </a:rPr>
              <a:t>Any</a:t>
            </a:r>
          </a:p>
        </p:txBody>
      </p:sp>
      <p:sp>
        <p:nvSpPr>
          <p:cNvPr id="51" name="Rectangle 50"/>
          <p:cNvSpPr/>
          <p:nvPr/>
        </p:nvSpPr>
        <p:spPr>
          <a:xfrm>
            <a:off x="2904134" y="4743120"/>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013862" y="4743120"/>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Type not yet set</a:t>
            </a:r>
          </a:p>
        </p:txBody>
      </p:sp>
      <p:sp>
        <p:nvSpPr>
          <p:cNvPr id="53" name="Rectangle 52"/>
          <p:cNvSpPr/>
          <p:nvPr/>
        </p:nvSpPr>
        <p:spPr>
          <a:xfrm>
            <a:off x="7157923" y="4743120"/>
            <a:ext cx="4253789"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67651" y="4743120"/>
            <a:ext cx="4034333" cy="414092"/>
          </a:xfrm>
          <a:prstGeom prst="rect">
            <a:avLst/>
          </a:prstGeom>
          <a:noFill/>
        </p:spPr>
        <p:txBody>
          <a:bodyPr wrap="square" anchor="ctr">
            <a:spAutoFit/>
          </a:bodyPr>
          <a:lstStyle/>
          <a:p>
            <a:pPr algn="l">
              <a:spcAft>
                <a:spcPts val="400"/>
              </a:spcAft>
            </a:pPr>
            <a:r>
              <a:rPr sz="1100" b="0">
                <a:solidFill>
                  <a:srgbClr val="5B6372"/>
                </a:solidFill>
                <a:latin typeface="Arial"/>
              </a:rPr>
              <a:t>Excel guesses — and eventually guesses wrong</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wrong data type is the single most common cause of a broken refresh. Set every column's type explicitly as the FIRST thing you do.</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LOADING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Load Option Should I Choose?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Do you need to SEE this table on a worksheet?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Load To &gt; Table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Loads to a worksheet. Use for the final, report-ready output only.</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Only Create Connection</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Keeps it out of the grid. Use for staging queries that feed a merge or append.</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Tick 'Add this data to the Data Model' as well when the table will be used in Power Pivot. Loading everything to worksheets is the fastest way to bloat a workbook.</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GET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Getting Data — The Sources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From Table/Range</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The data already on a worksheet. The starting point for Lab 01.</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From Workbook</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Another Excel file — the pattern in Lab 02 for the monthly price list.</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From Text/CSV</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Exports from any system that can write a delimited file.</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From Folder</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Every file in a folder combined into one table — the monthly-file pattern.</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1F6FEB"/>
                </a:solidFill>
                <a:latin typeface="Arial"/>
              </a:rPr>
              <a:t>THE CONNECTION IS LIVE</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Power Query stores the path, not a copy. Replace the source file with a newer one of the same shape and Refresh brings the new data straight through.</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01: Load Sales Data and Fix Data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01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Southbridge Trading sales extract arrives with everything stored as text: order dates read as words, amounts carry a stray currency prefix, and quantities will not sum.</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clean Sales query loaded to a worksheet with every column correctly typed.</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Quantity and Amount sum in the status bar, Order Date filters offer date pickers, and Column quality reports 0% error on every column.</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LO1 · A1 · K1, K4 — Query data from a table or range and set correct data types.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01</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lab-01-load-and-data-types.xlsx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Data Profiling  ·  Full step-by-step: Learner Guide, Lab 01</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02: Combine an External Workbook as a Connection Only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02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regional price list lives in a separate workbook that the finance team refreshes monthly. The learner connects to that external file, loads it as Connection Only so it does not clutter the workbook grid, and confirms the connection refreshes independently.</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PriceList staging query held as Connection Only, ready to be merged later.</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The Queries &amp; Connections pane lists PriceList as 'Connection only', and no new worksheet was created.</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LO1 · A1 · K4 — Query data from another Excel file and load as connection only.</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02</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lab-02-external-connection.xlsx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External workbook source  ·  Full step-by-step: Learner Guide, Lab 02</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FILL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Fill Down and Fill 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828800"/>
            <a:ext cx="10058400" cy="1371600"/>
          </a:xfrm>
          <a:prstGeom prst="rect">
            <a:avLst/>
          </a:prstGeom>
          <a:noFill/>
        </p:spPr>
        <p:txBody>
          <a:bodyPr wrap="square" anchor="ctr">
            <a:spAutoFit/>
          </a:bodyPr>
          <a:lstStyle/>
          <a:p>
            <a:pPr algn="l">
              <a:spcAft>
                <a:spcPts val="400"/>
              </a:spcAft>
            </a:pPr>
            <a:r>
              <a:rPr sz="2000" b="1">
                <a:solidFill>
                  <a:srgbClr val="161B26"/>
                </a:solidFill>
                <a:latin typeface="Arial"/>
              </a:rPr>
              <a:t>Reports written for humans leave gaps. Fill turns them back into real data.</a:t>
            </a:r>
          </a:p>
        </p:txBody>
      </p:sp>
      <p:sp>
        <p:nvSpPr>
          <p:cNvPr id="10" name="Rectangle 9"/>
          <p:cNvSpPr/>
          <p:nvPr/>
        </p:nvSpPr>
        <p:spPr>
          <a:xfrm>
            <a:off x="777240"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52044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749039"/>
            <a:ext cx="2926080" cy="457200"/>
          </a:xfrm>
          <a:prstGeom prst="rect">
            <a:avLst/>
          </a:prstGeom>
          <a:noFill/>
        </p:spPr>
        <p:txBody>
          <a:bodyPr wrap="square" anchor="t">
            <a:spAutoFit/>
          </a:bodyPr>
          <a:lstStyle/>
          <a:p>
            <a:pPr algn="l">
              <a:spcAft>
                <a:spcPts val="400"/>
              </a:spcAft>
            </a:pPr>
            <a:r>
              <a:rPr sz="1400" b="1">
                <a:solidFill>
                  <a:srgbClr val="1F6FEB"/>
                </a:solidFill>
                <a:latin typeface="Arial"/>
              </a:rPr>
              <a:t>Fill Down</a:t>
            </a:r>
          </a:p>
        </p:txBody>
      </p:sp>
      <p:sp>
        <p:nvSpPr>
          <p:cNvPr id="13" name="TextBox 12"/>
          <p:cNvSpPr txBox="1"/>
          <p:nvPr/>
        </p:nvSpPr>
        <p:spPr>
          <a:xfrm>
            <a:off x="1014984"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Carries a value INTO the blank rows beneath it — the classic merged-cell repair.</a:t>
            </a:r>
          </a:p>
        </p:txBody>
      </p:sp>
      <p:sp>
        <p:nvSpPr>
          <p:cNvPr id="14" name="Rectangle 13"/>
          <p:cNvSpPr/>
          <p:nvPr/>
        </p:nvSpPr>
        <p:spPr>
          <a:xfrm>
            <a:off x="4425696"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352044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749039"/>
            <a:ext cx="2926080" cy="457200"/>
          </a:xfrm>
          <a:prstGeom prst="rect">
            <a:avLst/>
          </a:prstGeom>
          <a:noFill/>
        </p:spPr>
        <p:txBody>
          <a:bodyPr wrap="square" anchor="t">
            <a:spAutoFit/>
          </a:bodyPr>
          <a:lstStyle/>
          <a:p>
            <a:pPr algn="l">
              <a:spcAft>
                <a:spcPts val="400"/>
              </a:spcAft>
            </a:pPr>
            <a:r>
              <a:rPr sz="1400" b="1">
                <a:solidFill>
                  <a:srgbClr val="10B981"/>
                </a:solidFill>
                <a:latin typeface="Arial"/>
              </a:rPr>
              <a:t>Fill Up</a:t>
            </a:r>
          </a:p>
        </p:txBody>
      </p:sp>
      <p:sp>
        <p:nvSpPr>
          <p:cNvPr id="17" name="TextBox 16"/>
          <p:cNvSpPr txBox="1"/>
          <p:nvPr/>
        </p:nvSpPr>
        <p:spPr>
          <a:xfrm>
            <a:off x="4663440"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Carries a value into the blanks ABOVE it, for labels that sit under their group.</a:t>
            </a:r>
          </a:p>
        </p:txBody>
      </p:sp>
      <p:sp>
        <p:nvSpPr>
          <p:cNvPr id="18" name="Rectangle 17"/>
          <p:cNvSpPr/>
          <p:nvPr/>
        </p:nvSpPr>
        <p:spPr>
          <a:xfrm>
            <a:off x="8074152"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352044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3749039"/>
            <a:ext cx="2926080" cy="457200"/>
          </a:xfrm>
          <a:prstGeom prst="rect">
            <a:avLst/>
          </a:prstGeom>
          <a:noFill/>
        </p:spPr>
        <p:txBody>
          <a:bodyPr wrap="square" anchor="t">
            <a:spAutoFit/>
          </a:bodyPr>
          <a:lstStyle/>
          <a:p>
            <a:pPr algn="l">
              <a:spcAft>
                <a:spcPts val="400"/>
              </a:spcAft>
            </a:pPr>
            <a:r>
              <a:rPr sz="1400" b="1">
                <a:solidFill>
                  <a:srgbClr val="7C3AED"/>
                </a:solidFill>
                <a:latin typeface="Arial"/>
              </a:rPr>
              <a:t>Watch for null vs blank</a:t>
            </a:r>
          </a:p>
        </p:txBody>
      </p:sp>
      <p:sp>
        <p:nvSpPr>
          <p:cNvPr id="21" name="TextBox 20"/>
          <p:cNvSpPr txBox="1"/>
          <p:nvPr/>
        </p:nvSpPr>
        <p:spPr>
          <a:xfrm>
            <a:off x="8311896"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Fill only replaces null. Cells holding an empty string need Replace Values first.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03: Fill Down and Fill Up a Ragged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03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A departmental headcount report was typed for human eyes: the region name appears only on the first row of each block, and the reporting quarter sits below its group. The learner uses Fill Down and Fill Up to push those values across every row so the table becomes machine-readable.</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rectangular headcount table with no blank grouping cells.</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Every row carries a Region and a Quarter value, and the row count matches the number of real headcount records.</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LO1 · A1 · K2 — Repair merged-cell style gaps with Fill Down and Fill Up.</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03</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lab-03-fill-down-up.xlsx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Fill Down / Fill Up  ·  Full step-by-step: Learner Guide, Lab 03</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SPLIT COLUMN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Splitting a Column — Four 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97765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721620" cy="475488"/>
          </a:xfrm>
          <a:prstGeom prst="rect">
            <a:avLst/>
          </a:prstGeom>
          <a:noFill/>
        </p:spPr>
        <p:txBody>
          <a:bodyPr wrap="square" anchor="ctr">
            <a:spAutoFit/>
          </a:bodyPr>
          <a:lstStyle/>
          <a:p>
            <a:pPr algn="l">
              <a:spcAft>
                <a:spcPts val="400"/>
              </a:spcAft>
            </a:pPr>
            <a:r>
              <a:rPr sz="1300" b="1">
                <a:solidFill>
                  <a:srgbClr val="FFFFFF"/>
                </a:solidFill>
                <a:latin typeface="Arial"/>
              </a:rPr>
              <a:t>Method</a:t>
            </a:r>
          </a:p>
        </p:txBody>
      </p:sp>
      <p:sp>
        <p:nvSpPr>
          <p:cNvPr id="9" name="Rectangle 8"/>
          <p:cNvSpPr/>
          <p:nvPr/>
        </p:nvSpPr>
        <p:spPr>
          <a:xfrm>
            <a:off x="3754892" y="1783080"/>
            <a:ext cx="38284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2908" y="1783080"/>
            <a:ext cx="3572378" cy="4754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583302" y="1783080"/>
            <a:ext cx="382841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1318" y="1783080"/>
            <a:ext cx="3572378" cy="475488"/>
          </a:xfrm>
          <a:prstGeom prst="rect">
            <a:avLst/>
          </a:prstGeom>
          <a:noFill/>
        </p:spPr>
        <p:txBody>
          <a:bodyPr wrap="square" anchor="ctr">
            <a:spAutoFit/>
          </a:bodyPr>
          <a:lstStyle/>
          <a:p>
            <a:pPr algn="l">
              <a:spcAft>
                <a:spcPts val="400"/>
              </a:spcAft>
            </a:pPr>
            <a:r>
              <a:rPr sz="1300" b="1">
                <a:solidFill>
                  <a:srgbClr val="FFFFFF"/>
                </a:solidFill>
                <a:latin typeface="Arial"/>
              </a:rPr>
              <a:t>Use it when</a:t>
            </a:r>
          </a:p>
        </p:txBody>
      </p:sp>
      <p:sp>
        <p:nvSpPr>
          <p:cNvPr id="13" name="Rectangle 12"/>
          <p:cNvSpPr/>
          <p:nvPr/>
        </p:nvSpPr>
        <p:spPr>
          <a:xfrm>
            <a:off x="777240" y="2258568"/>
            <a:ext cx="297765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2758196" cy="713232"/>
          </a:xfrm>
          <a:prstGeom prst="rect">
            <a:avLst/>
          </a:prstGeom>
          <a:noFill/>
        </p:spPr>
        <p:txBody>
          <a:bodyPr wrap="square" anchor="ctr">
            <a:spAutoFit/>
          </a:bodyPr>
          <a:lstStyle/>
          <a:p>
            <a:pPr algn="l">
              <a:spcAft>
                <a:spcPts val="400"/>
              </a:spcAft>
            </a:pPr>
            <a:r>
              <a:rPr sz="1150" b="1">
                <a:solidFill>
                  <a:srgbClr val="161B26"/>
                </a:solidFill>
                <a:latin typeface="Arial"/>
              </a:rPr>
              <a:t>By Delimiter</a:t>
            </a:r>
          </a:p>
        </p:txBody>
      </p:sp>
      <p:sp>
        <p:nvSpPr>
          <p:cNvPr id="15" name="Rectangle 14"/>
          <p:cNvSpPr/>
          <p:nvPr/>
        </p:nvSpPr>
        <p:spPr>
          <a:xfrm>
            <a:off x="3754892" y="2258568"/>
            <a:ext cx="38284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4620" y="2258568"/>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Cuts at a chosen character</a:t>
            </a:r>
          </a:p>
        </p:txBody>
      </p:sp>
      <p:sp>
        <p:nvSpPr>
          <p:cNvPr id="17" name="Rectangle 16"/>
          <p:cNvSpPr/>
          <p:nvPr/>
        </p:nvSpPr>
        <p:spPr>
          <a:xfrm>
            <a:off x="7583302" y="2258568"/>
            <a:ext cx="38284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30" y="2258568"/>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Names, codes, comma-separated lists</a:t>
            </a:r>
          </a:p>
        </p:txBody>
      </p:sp>
      <p:sp>
        <p:nvSpPr>
          <p:cNvPr id="19" name="Rectangle 18"/>
          <p:cNvSpPr/>
          <p:nvPr/>
        </p:nvSpPr>
        <p:spPr>
          <a:xfrm>
            <a:off x="777240" y="2971800"/>
            <a:ext cx="297765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71800"/>
            <a:ext cx="2758196" cy="713232"/>
          </a:xfrm>
          <a:prstGeom prst="rect">
            <a:avLst/>
          </a:prstGeom>
          <a:noFill/>
        </p:spPr>
        <p:txBody>
          <a:bodyPr wrap="square" anchor="ctr">
            <a:spAutoFit/>
          </a:bodyPr>
          <a:lstStyle/>
          <a:p>
            <a:pPr algn="l">
              <a:spcAft>
                <a:spcPts val="400"/>
              </a:spcAft>
            </a:pPr>
            <a:r>
              <a:rPr sz="1150" b="1">
                <a:solidFill>
                  <a:srgbClr val="161B26"/>
                </a:solidFill>
                <a:latin typeface="Arial"/>
              </a:rPr>
              <a:t>By Number of Characters</a:t>
            </a:r>
          </a:p>
        </p:txBody>
      </p:sp>
      <p:sp>
        <p:nvSpPr>
          <p:cNvPr id="21" name="Rectangle 20"/>
          <p:cNvSpPr/>
          <p:nvPr/>
        </p:nvSpPr>
        <p:spPr>
          <a:xfrm>
            <a:off x="3754892" y="2971800"/>
            <a:ext cx="38284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64620" y="2971800"/>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Cuts at a fixed width</a:t>
            </a:r>
          </a:p>
        </p:txBody>
      </p:sp>
      <p:sp>
        <p:nvSpPr>
          <p:cNvPr id="23" name="Rectangle 22"/>
          <p:cNvSpPr/>
          <p:nvPr/>
        </p:nvSpPr>
        <p:spPr>
          <a:xfrm>
            <a:off x="7583302" y="2971800"/>
            <a:ext cx="38284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30" y="2971800"/>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Fixed-width legacy exports</a:t>
            </a:r>
          </a:p>
        </p:txBody>
      </p:sp>
      <p:sp>
        <p:nvSpPr>
          <p:cNvPr id="25" name="Rectangle 24"/>
          <p:cNvSpPr/>
          <p:nvPr/>
        </p:nvSpPr>
        <p:spPr>
          <a:xfrm>
            <a:off x="777240" y="3685032"/>
            <a:ext cx="297765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85032"/>
            <a:ext cx="2758196" cy="713232"/>
          </a:xfrm>
          <a:prstGeom prst="rect">
            <a:avLst/>
          </a:prstGeom>
          <a:noFill/>
        </p:spPr>
        <p:txBody>
          <a:bodyPr wrap="square" anchor="ctr">
            <a:spAutoFit/>
          </a:bodyPr>
          <a:lstStyle/>
          <a:p>
            <a:pPr algn="l">
              <a:spcAft>
                <a:spcPts val="400"/>
              </a:spcAft>
            </a:pPr>
            <a:r>
              <a:rPr sz="1150" b="1">
                <a:solidFill>
                  <a:srgbClr val="161B26"/>
                </a:solidFill>
                <a:latin typeface="Arial"/>
              </a:rPr>
              <a:t>By Positions</a:t>
            </a:r>
          </a:p>
        </p:txBody>
      </p:sp>
      <p:sp>
        <p:nvSpPr>
          <p:cNvPr id="27" name="Rectangle 26"/>
          <p:cNvSpPr/>
          <p:nvPr/>
        </p:nvSpPr>
        <p:spPr>
          <a:xfrm>
            <a:off x="3754892" y="3685032"/>
            <a:ext cx="38284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64620" y="3685032"/>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Cuts at named positions</a:t>
            </a:r>
          </a:p>
        </p:txBody>
      </p:sp>
      <p:sp>
        <p:nvSpPr>
          <p:cNvPr id="29" name="Rectangle 28"/>
          <p:cNvSpPr/>
          <p:nvPr/>
        </p:nvSpPr>
        <p:spPr>
          <a:xfrm>
            <a:off x="7583302" y="3685032"/>
            <a:ext cx="38284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30" y="3685032"/>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Mainframe or COBOL-style records</a:t>
            </a:r>
          </a:p>
        </p:txBody>
      </p:sp>
      <p:sp>
        <p:nvSpPr>
          <p:cNvPr id="31" name="Rectangle 30"/>
          <p:cNvSpPr/>
          <p:nvPr/>
        </p:nvSpPr>
        <p:spPr>
          <a:xfrm>
            <a:off x="777240" y="4398264"/>
            <a:ext cx="297765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398264"/>
            <a:ext cx="2758196" cy="713232"/>
          </a:xfrm>
          <a:prstGeom prst="rect">
            <a:avLst/>
          </a:prstGeom>
          <a:noFill/>
        </p:spPr>
        <p:txBody>
          <a:bodyPr wrap="square" anchor="ctr">
            <a:spAutoFit/>
          </a:bodyPr>
          <a:lstStyle/>
          <a:p>
            <a:pPr algn="l">
              <a:spcAft>
                <a:spcPts val="400"/>
              </a:spcAft>
            </a:pPr>
            <a:r>
              <a:rPr sz="1150" b="1">
                <a:solidFill>
                  <a:srgbClr val="161B26"/>
                </a:solidFill>
                <a:latin typeface="Arial"/>
              </a:rPr>
              <a:t>By Lowercase to Uppercase</a:t>
            </a:r>
          </a:p>
        </p:txBody>
      </p:sp>
      <p:sp>
        <p:nvSpPr>
          <p:cNvPr id="33" name="Rectangle 32"/>
          <p:cNvSpPr/>
          <p:nvPr/>
        </p:nvSpPr>
        <p:spPr>
          <a:xfrm>
            <a:off x="3754892" y="4398264"/>
            <a:ext cx="38284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64620" y="4398264"/>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Cuts at a case change</a:t>
            </a:r>
          </a:p>
        </p:txBody>
      </p:sp>
      <p:sp>
        <p:nvSpPr>
          <p:cNvPr id="35" name="Rectangle 34"/>
          <p:cNvSpPr/>
          <p:nvPr/>
        </p:nvSpPr>
        <p:spPr>
          <a:xfrm>
            <a:off x="7583302" y="4398264"/>
            <a:ext cx="38284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30" y="4398264"/>
            <a:ext cx="3608954" cy="713232"/>
          </a:xfrm>
          <a:prstGeom prst="rect">
            <a:avLst/>
          </a:prstGeom>
          <a:noFill/>
        </p:spPr>
        <p:txBody>
          <a:bodyPr wrap="square" anchor="ctr">
            <a:spAutoFit/>
          </a:bodyPr>
          <a:lstStyle/>
          <a:p>
            <a:pPr algn="l">
              <a:spcAft>
                <a:spcPts val="400"/>
              </a:spcAft>
            </a:pPr>
            <a:r>
              <a:rPr sz="1100" b="0">
                <a:solidFill>
                  <a:srgbClr val="5B6372"/>
                </a:solidFill>
                <a:latin typeface="Arial"/>
              </a:rPr>
              <a:t>camelCase or PascalCase fields</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Split into COLUMNS makes the row wider. Split into ROWS makes the table taller — that is how you normalise a comma-separated list into one record per value.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THE CHOICE THAT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Split Into Columns vs Split Into Rows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74920" cy="245059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7492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Split into Rows</a:t>
            </a:r>
          </a:p>
        </p:txBody>
      </p:sp>
      <p:sp>
        <p:nvSpPr>
          <p:cNvPr id="10" name="TextBox 9"/>
          <p:cNvSpPr txBox="1"/>
          <p:nvPr/>
        </p:nvSpPr>
        <p:spPr>
          <a:xfrm>
            <a:off x="1033272" y="2395728"/>
            <a:ext cx="4562856" cy="1737360"/>
          </a:xfrm>
          <a:prstGeom prst="rect">
            <a:avLst/>
          </a:prstGeom>
          <a:noFill/>
        </p:spPr>
        <p:txBody>
          <a:bodyPr wrap="square">
            <a:spAutoFit/>
          </a:bodyPr>
          <a:lstStyle/>
          <a:p>
            <a:pPr>
              <a:spcAft>
                <a:spcPts val="900"/>
              </a:spcAft>
            </a:pPr>
            <a:r>
              <a:rPr sz="1250">
                <a:solidFill>
                  <a:srgbClr val="161B26"/>
                </a:solidFill>
                <a:latin typeface="Arial"/>
              </a:rPr>
              <a:t>•  One product per row — a tidy, analysable table</a:t>
            </a:r>
          </a:p>
          <a:p>
            <a:pPr>
              <a:spcAft>
                <a:spcPts val="900"/>
              </a:spcAft>
            </a:pPr>
            <a:r>
              <a:rPr sz="1250">
                <a:solidFill>
                  <a:srgbClr val="161B26"/>
                </a:solidFill>
                <a:latin typeface="Arial"/>
              </a:rPr>
              <a:t>•  Row count grows; column count stays fixed</a:t>
            </a:r>
          </a:p>
          <a:p>
            <a:pPr>
              <a:spcAft>
                <a:spcPts val="900"/>
              </a:spcAft>
            </a:pPr>
            <a:r>
              <a:rPr sz="1250">
                <a:solidFill>
                  <a:srgbClr val="161B26"/>
                </a:solidFill>
                <a:latin typeface="Arial"/>
              </a:rPr>
              <a:t>•  PivotTables and merges work directly on it</a:t>
            </a:r>
          </a:p>
          <a:p>
            <a:pPr>
              <a:spcAft>
                <a:spcPts val="900"/>
              </a:spcAft>
            </a:pPr>
            <a:r>
              <a:rPr sz="1250">
                <a:solidFill>
                  <a:srgbClr val="161B26"/>
                </a:solidFill>
                <a:latin typeface="Arial"/>
              </a:rPr>
              <a:t>•  The right choice for a repeating list</a:t>
            </a:r>
          </a:p>
        </p:txBody>
      </p:sp>
      <p:sp>
        <p:nvSpPr>
          <p:cNvPr id="11" name="Rectangle 10"/>
          <p:cNvSpPr/>
          <p:nvPr/>
        </p:nvSpPr>
        <p:spPr>
          <a:xfrm>
            <a:off x="6355080" y="1783080"/>
            <a:ext cx="5074920" cy="2450592"/>
          </a:xfrm>
          <a:prstGeom prst="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Split into Columns</a:t>
            </a:r>
          </a:p>
        </p:txBody>
      </p:sp>
      <p:sp>
        <p:nvSpPr>
          <p:cNvPr id="14" name="TextBox 13"/>
          <p:cNvSpPr txBox="1"/>
          <p:nvPr/>
        </p:nvSpPr>
        <p:spPr>
          <a:xfrm>
            <a:off x="6611112" y="2395728"/>
            <a:ext cx="4562856" cy="1737360"/>
          </a:xfrm>
          <a:prstGeom prst="rect">
            <a:avLst/>
          </a:prstGeom>
          <a:noFill/>
        </p:spPr>
        <p:txBody>
          <a:bodyPr wrap="square">
            <a:spAutoFit/>
          </a:bodyPr>
          <a:lstStyle/>
          <a:p>
            <a:pPr>
              <a:spcAft>
                <a:spcPts val="900"/>
              </a:spcAft>
            </a:pPr>
            <a:r>
              <a:rPr sz="1250">
                <a:solidFill>
                  <a:srgbClr val="161B26"/>
                </a:solidFill>
                <a:latin typeface="Arial"/>
              </a:rPr>
              <a:t>•  Product 1, Product 2, Product 3 … columns</a:t>
            </a:r>
          </a:p>
          <a:p>
            <a:pPr>
              <a:spcAft>
                <a:spcPts val="900"/>
              </a:spcAft>
            </a:pPr>
            <a:r>
              <a:rPr sz="1250">
                <a:solidFill>
                  <a:srgbClr val="161B26"/>
                </a:solidFill>
                <a:latin typeface="Arial"/>
              </a:rPr>
              <a:t>•  Breaks the moment someone buys a fourth item</a:t>
            </a:r>
          </a:p>
          <a:p>
            <a:pPr>
              <a:spcAft>
                <a:spcPts val="900"/>
              </a:spcAft>
            </a:pPr>
            <a:r>
              <a:rPr sz="1250">
                <a:solidFill>
                  <a:srgbClr val="161B26"/>
                </a:solidFill>
                <a:latin typeface="Arial"/>
              </a:rPr>
              <a:t>•  Every downstream formula must be rewritten</a:t>
            </a:r>
          </a:p>
          <a:p>
            <a:pPr>
              <a:spcAft>
                <a:spcPts val="900"/>
              </a:spcAft>
            </a:pPr>
            <a:r>
              <a:rPr sz="1250">
                <a:solidFill>
                  <a:srgbClr val="161B26"/>
                </a:solidFill>
                <a:latin typeface="Arial"/>
              </a:rPr>
              <a:t>•  Only correct for a FIXED number of parts (e.g. first/last name)</a:t>
            </a:r>
          </a:p>
        </p:txBody>
      </p:sp>
      <p:sp>
        <p:nvSpPr>
          <p:cNvPr id="15" name="Rectangle 14"/>
          <p:cNvSpPr/>
          <p:nvPr/>
        </p:nvSpPr>
        <p:spPr>
          <a:xfrm>
            <a:off x="777240" y="4434840"/>
            <a:ext cx="10652760"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434840"/>
            <a:ext cx="100584"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434840"/>
            <a:ext cx="10149840" cy="640080"/>
          </a:xfrm>
          <a:prstGeom prst="rect">
            <a:avLst/>
          </a:prstGeom>
          <a:noFill/>
        </p:spPr>
        <p:txBody>
          <a:bodyPr wrap="square" anchor="ctr">
            <a:spAutoFit/>
          </a:bodyPr>
          <a:lstStyle/>
          <a:p>
            <a:pPr algn="l">
              <a:spcAft>
                <a:spcPts val="400"/>
              </a:spcAft>
            </a:pPr>
            <a:r>
              <a:rPr sz="1200" b="0">
                <a:solidFill>
                  <a:srgbClr val="5B6372"/>
                </a:solidFill>
                <a:latin typeface="Arial"/>
              </a:rPr>
              <a:t>Ask: can the number of parts change? If yes, split into rows.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04: Split Columns by Delimiter and into Rows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04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CRM export packs the customer's full name into one field and lists every product a customer bought as a comma-separated string. The learner splits the name into First and Last Name columns, then splits the product list into rows so each purchase becomes its own record.</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normalised customer table with one product per row.</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A customer who bought three products now occupies three rows, and no product value has a leading space.</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LO1 · A1 · K2 — Split a column by delimiter, into columns and into rows.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04</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lab-04-split-columns.xlsx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Split Column  ·  Full step-by-step: Learner Guide, Lab 04</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ADD COLUMN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Three Ways to Add a Column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Conditional Column</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A guided dialog that writes if/then/else for you. Best for banding and classification rules.</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Custom Column</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You write the M expression yourself. Needed for anything the dialog cannot express.</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Column From Examples</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You type the answer you want on the first row and Power Query infers the pattern.</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Index Column</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A sequential row number — useful for ranking and for restoring an original order after sorting.</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7C3AED"/>
                </a:solidFill>
                <a:latin typeface="Arial"/>
              </a:rPr>
              <a:t>WHICH ONE FIRST?</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Try the Conditional Column dialog first, then Column From Examples, and drop to a Custom Column only when neither can express the rule. All three produce the same kind of Applied Step.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1 · CONDITIONAL COLUMN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Conditional Column — What the Dialog Writes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Value Band rule from Lab 05, as the dialog builds it in M.</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40864"/>
            <a:ext cx="5632704" cy="274320"/>
          </a:xfrm>
          <a:prstGeom prst="rect">
            <a:avLst/>
          </a:prstGeom>
          <a:noFill/>
        </p:spPr>
        <p:txBody>
          <a:bodyPr wrap="square" anchor="t">
            <a:spAutoFit/>
          </a:bodyPr>
          <a:lstStyle/>
          <a:p>
            <a:pPr algn="l">
              <a:spcAft>
                <a:spcPts val="400"/>
              </a:spcAft>
            </a:pPr>
            <a:r>
              <a:rPr sz="900" b="1">
                <a:solidFill>
                  <a:srgbClr val="6A9955"/>
                </a:solidFill>
                <a:latin typeface="Arial"/>
              </a:rPr>
              <a:t>M</a:t>
            </a:r>
          </a:p>
        </p:txBody>
      </p:sp>
      <p:sp>
        <p:nvSpPr>
          <p:cNvPr id="10" name="TextBox 9"/>
          <p:cNvSpPr txBox="1"/>
          <p:nvPr/>
        </p:nvSpPr>
        <p:spPr>
          <a:xfrm>
            <a:off x="978408" y="2615184"/>
            <a:ext cx="5541264" cy="3291840"/>
          </a:xfrm>
          <a:prstGeom prst="rect">
            <a:avLst/>
          </a:prstGeom>
          <a:noFill/>
        </p:spPr>
        <p:txBody>
          <a:bodyPr wrap="square">
            <a:spAutoFit/>
          </a:bodyPr>
          <a:lstStyle/>
          <a:p>
            <a:pPr>
              <a:spcAft>
                <a:spcPts val="200"/>
              </a:spcAft>
            </a:pPr>
            <a:r>
              <a:rPr sz="1100">
                <a:solidFill>
                  <a:srgbClr val="CE9178"/>
                </a:solidFill>
                <a:latin typeface="Consolas"/>
              </a:rPr>
              <a:t>if [Amount] &gt;= 5000 then "High"</a:t>
            </a:r>
          </a:p>
          <a:p>
            <a:pPr>
              <a:spcAft>
                <a:spcPts val="200"/>
              </a:spcAft>
            </a:pPr>
            <a:r>
              <a:rPr sz="1100">
                <a:solidFill>
                  <a:srgbClr val="CE9178"/>
                </a:solidFill>
                <a:latin typeface="Consolas"/>
              </a:rPr>
              <a:t>else if [Amount] &gt;= 1000 then "Medium"</a:t>
            </a:r>
          </a:p>
          <a:p>
            <a:pPr>
              <a:spcAft>
                <a:spcPts val="200"/>
              </a:spcAft>
            </a:pPr>
            <a:r>
              <a:rPr sz="1100">
                <a:solidFill>
                  <a:srgbClr val="CE9178"/>
                </a:solidFill>
                <a:latin typeface="Consolas"/>
              </a:rPr>
              <a:t>else "Low"</a:t>
            </a:r>
          </a:p>
        </p:txBody>
      </p:sp>
      <p:sp>
        <p:nvSpPr>
          <p:cNvPr id="11" name="Rectangle 10"/>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Order is everything</a:t>
            </a:r>
          </a:p>
        </p:txBody>
      </p:sp>
      <p:sp>
        <p:nvSpPr>
          <p:cNvPr id="14" name="TextBox 13"/>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FIRST matching rule wins. Put the highest threshold at the top.</a:t>
            </a:r>
          </a:p>
        </p:txBody>
      </p:sp>
      <p:sp>
        <p:nvSpPr>
          <p:cNvPr id="15" name="Rectangle 14"/>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Test the boundary</a:t>
            </a:r>
          </a:p>
        </p:txBody>
      </p:sp>
      <p:sp>
        <p:nvSpPr>
          <p:cNvPr id="18" name="TextBox 17"/>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Amount exactly 5000 is High because the test is &gt;=, not &gt;.</a:t>
            </a:r>
          </a:p>
        </p:txBody>
      </p:sp>
      <p:sp>
        <p:nvSpPr>
          <p:cNvPr id="19" name="Rectangle 18"/>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else is compulsory</a:t>
            </a:r>
          </a:p>
        </p:txBody>
      </p:sp>
      <p:sp>
        <p:nvSpPr>
          <p:cNvPr id="22" name="TextBox 21"/>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Every if needs a final else, or the query returns an error.</a:t>
            </a:r>
          </a:p>
        </p:txBody>
      </p:sp>
      <p:sp>
        <p:nvSpPr>
          <p:cNvPr id="23" name="Rectangle 22"/>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Set the type after</a:t>
            </a:r>
          </a:p>
        </p:txBody>
      </p:sp>
      <p:sp>
        <p:nvSpPr>
          <p:cNvPr id="26" name="TextBox 25"/>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new column arrives as Any — set it to Text or Decimal explicitly.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05: Add Conditional, Custom and Example-Driven Columns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05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Management wants each order classified into a value band, a line total calculated, and an order reference built from existing fields.</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Sales query carrying Value Band, Line Total and Order Ref columns.</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Value Band shows High/Medium/Low correctly at the 1000 and 5000 boundaries, and Line Total equals Quantity x Unit Price on every row.</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LO1 · A1 · K1, K2 — Add conditional columns, custom columns and Column From Examples.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05</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lab-05-add-columns.xlsx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Conditional Column, Custom Column, Column From Examples  ·  Full step-by-step: Learner Guide, Lab 05</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SORT &amp; FILTER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Sort and Filter INSIDE the Query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128016" cy="1371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828800"/>
            <a:ext cx="10058400" cy="1371600"/>
          </a:xfrm>
          <a:prstGeom prst="rect">
            <a:avLst/>
          </a:prstGeom>
          <a:noFill/>
        </p:spPr>
        <p:txBody>
          <a:bodyPr wrap="square" anchor="ctr">
            <a:spAutoFit/>
          </a:bodyPr>
          <a:lstStyle/>
          <a:p>
            <a:pPr algn="l">
              <a:spcAft>
                <a:spcPts val="400"/>
              </a:spcAft>
            </a:pPr>
            <a:r>
              <a:rPr sz="2000" b="1">
                <a:solidFill>
                  <a:srgbClr val="161B26"/>
                </a:solidFill>
                <a:latin typeface="Arial"/>
              </a:rPr>
              <a:t>Filtering at source means Excel never loads the rows you did not want.</a:t>
            </a:r>
          </a:p>
        </p:txBody>
      </p:sp>
      <p:sp>
        <p:nvSpPr>
          <p:cNvPr id="10" name="Rectangle 9"/>
          <p:cNvSpPr/>
          <p:nvPr/>
        </p:nvSpPr>
        <p:spPr>
          <a:xfrm>
            <a:off x="777240"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52044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749039"/>
            <a:ext cx="2926080" cy="457200"/>
          </a:xfrm>
          <a:prstGeom prst="rect">
            <a:avLst/>
          </a:prstGeom>
          <a:noFill/>
        </p:spPr>
        <p:txBody>
          <a:bodyPr wrap="square" anchor="t">
            <a:spAutoFit/>
          </a:bodyPr>
          <a:lstStyle/>
          <a:p>
            <a:pPr algn="l">
              <a:spcAft>
                <a:spcPts val="400"/>
              </a:spcAft>
            </a:pPr>
            <a:r>
              <a:rPr sz="1400" b="1">
                <a:solidFill>
                  <a:srgbClr val="1F6FEB"/>
                </a:solidFill>
                <a:latin typeface="Arial"/>
              </a:rPr>
              <a:t>Filter early</a:t>
            </a:r>
          </a:p>
        </p:txBody>
      </p:sp>
      <p:sp>
        <p:nvSpPr>
          <p:cNvPr id="13" name="TextBox 12"/>
          <p:cNvSpPr txBox="1"/>
          <p:nvPr/>
        </p:nvSpPr>
        <p:spPr>
          <a:xfrm>
            <a:off x="1014984"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A filter placed before a merge or group is dramatically faster than one after.</a:t>
            </a:r>
          </a:p>
        </p:txBody>
      </p:sp>
      <p:sp>
        <p:nvSpPr>
          <p:cNvPr id="14" name="Rectangle 13"/>
          <p:cNvSpPr/>
          <p:nvPr/>
        </p:nvSpPr>
        <p:spPr>
          <a:xfrm>
            <a:off x="4425696"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352044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749039"/>
            <a:ext cx="2926080" cy="457200"/>
          </a:xfrm>
          <a:prstGeom prst="rect">
            <a:avLst/>
          </a:prstGeom>
          <a:noFill/>
        </p:spPr>
        <p:txBody>
          <a:bodyPr wrap="square" anchor="t">
            <a:spAutoFit/>
          </a:bodyPr>
          <a:lstStyle/>
          <a:p>
            <a:pPr algn="l">
              <a:spcAft>
                <a:spcPts val="400"/>
              </a:spcAft>
            </a:pPr>
            <a:r>
              <a:rPr sz="1400" b="1">
                <a:solidFill>
                  <a:srgbClr val="10B981"/>
                </a:solidFill>
                <a:latin typeface="Arial"/>
              </a:rPr>
              <a:t>Filters are permanent</a:t>
            </a:r>
          </a:p>
        </p:txBody>
      </p:sp>
      <p:sp>
        <p:nvSpPr>
          <p:cNvPr id="17" name="TextBox 16"/>
          <p:cNvSpPr txBox="1"/>
          <p:nvPr/>
        </p:nvSpPr>
        <p:spPr>
          <a:xfrm>
            <a:off x="4663440"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Unlike a worksheet AutoFilter, a query filter removes rows from the result.</a:t>
            </a:r>
          </a:p>
        </p:txBody>
      </p:sp>
      <p:sp>
        <p:nvSpPr>
          <p:cNvPr id="18" name="Rectangle 17"/>
          <p:cNvSpPr/>
          <p:nvPr/>
        </p:nvSpPr>
        <p:spPr>
          <a:xfrm>
            <a:off x="8074152"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352044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3749039"/>
            <a:ext cx="2926080" cy="457200"/>
          </a:xfrm>
          <a:prstGeom prst="rect">
            <a:avLst/>
          </a:prstGeom>
          <a:noFill/>
        </p:spPr>
        <p:txBody>
          <a:bodyPr wrap="square" anchor="t">
            <a:spAutoFit/>
          </a:bodyPr>
          <a:lstStyle/>
          <a:p>
            <a:pPr algn="l">
              <a:spcAft>
                <a:spcPts val="400"/>
              </a:spcAft>
            </a:pPr>
            <a:r>
              <a:rPr sz="1400" b="1">
                <a:solidFill>
                  <a:srgbClr val="7C3AED"/>
                </a:solidFill>
                <a:latin typeface="Arial"/>
              </a:rPr>
              <a:t>Sort is a step too</a:t>
            </a:r>
          </a:p>
        </p:txBody>
      </p:sp>
      <p:sp>
        <p:nvSpPr>
          <p:cNvPr id="21" name="TextBox 20"/>
          <p:cNvSpPr txBox="1"/>
          <p:nvPr/>
        </p:nvSpPr>
        <p:spPr>
          <a:xfrm>
            <a:off x="8311896"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Sorting by two columns records two steps — check the order in Applied Steps.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06: Merge Columns, Sort and Filter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06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despatch team needs a single address label field and a shortlist of the orders that actually need attention. The learner merges the address parts into one column with a chosen separator, then applies sorting and filtering inside the query so the refresh always returns the shortlist.</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despatch shortlist query, sorted and filtered at source.</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The query returns only non-cancelled orders above 1000, newest first, and Address Label reads as one comma-separated string.</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LO1 · A1 · K2, K3 — Merge columns, then sort and filter data in Power Query.</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06</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lab-06-merge-sort-filter.xlsx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Merge Columns, Sort, Filter  ·  Full step-by-step: Learner Guide, Lab 06</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930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ETL, recorded</a:t>
            </a:r>
          </a:p>
          <a:p>
            <a:pPr algn="l">
              <a:spcAft>
                <a:spcPts val="300"/>
              </a:spcAft>
            </a:pPr>
            <a:r>
              <a:rPr sz="1200" b="0">
                <a:solidFill>
                  <a:srgbClr val="5B6372"/>
                </a:solidFill>
                <a:latin typeface="Arial"/>
              </a:rPr>
              <a:t>Extract, Transform, Load — replayed on every Refresh</a:t>
            </a:r>
          </a:p>
        </p:txBody>
      </p:sp>
      <p:sp>
        <p:nvSpPr>
          <p:cNvPr id="12" name="Rectangle 11"/>
          <p:cNvSpPr/>
          <p:nvPr/>
        </p:nvSpPr>
        <p:spPr>
          <a:xfrm>
            <a:off x="6231636"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930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Types first</a:t>
            </a:r>
          </a:p>
          <a:p>
            <a:pPr algn="l">
              <a:spcAft>
                <a:spcPts val="300"/>
              </a:spcAft>
            </a:pPr>
            <a:r>
              <a:rPr sz="1200" b="0">
                <a:solidFill>
                  <a:srgbClr val="5B6372"/>
                </a:solidFill>
                <a:latin typeface="Arial"/>
              </a:rPr>
              <a:t>Set every column's data type before anything else</a:t>
            </a:r>
          </a:p>
        </p:txBody>
      </p:sp>
      <p:sp>
        <p:nvSpPr>
          <p:cNvPr id="17" name="Rectangle 16"/>
          <p:cNvSpPr/>
          <p:nvPr/>
        </p:nvSpPr>
        <p:spPr>
          <a:xfrm>
            <a:off x="777240"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91440"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7261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Connection Only</a:t>
            </a:r>
          </a:p>
          <a:p>
            <a:pPr algn="l">
              <a:spcAft>
                <a:spcPts val="300"/>
              </a:spcAft>
            </a:pPr>
            <a:r>
              <a:rPr sz="1200" b="0">
                <a:solidFill>
                  <a:srgbClr val="5B6372"/>
                </a:solidFill>
                <a:latin typeface="Arial"/>
              </a:rPr>
              <a:t>Keep staging queries out of the worksheet grid</a:t>
            </a:r>
          </a:p>
        </p:txBody>
      </p:sp>
      <p:sp>
        <p:nvSpPr>
          <p:cNvPr id="22" name="Rectangle 21"/>
          <p:cNvSpPr/>
          <p:nvPr/>
        </p:nvSpPr>
        <p:spPr>
          <a:xfrm>
            <a:off x="6231636"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6224"/>
            <a:ext cx="91440" cy="1368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7261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Fill repairs gaps</a:t>
            </a:r>
          </a:p>
          <a:p>
            <a:pPr algn="l">
              <a:spcAft>
                <a:spcPts val="300"/>
              </a:spcAft>
            </a:pPr>
            <a:r>
              <a:rPr sz="1200" b="0">
                <a:solidFill>
                  <a:srgbClr val="5B6372"/>
                </a:solidFill>
                <a:latin typeface="Arial"/>
              </a:rPr>
              <a:t>Fill Down and Fill Up rebuild machine-readable tables</a:t>
            </a:r>
          </a:p>
        </p:txBody>
      </p:sp>
      <p:sp>
        <p:nvSpPr>
          <p:cNvPr id="27" name="Rectangle 26"/>
          <p:cNvSpPr/>
          <p:nvPr/>
        </p:nvSpPr>
        <p:spPr>
          <a:xfrm>
            <a:off x="777240"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Split by rows</a:t>
            </a:r>
          </a:p>
          <a:p>
            <a:pPr algn="l">
              <a:spcAft>
                <a:spcPts val="300"/>
              </a:spcAft>
            </a:pPr>
            <a:r>
              <a:rPr sz="1200" b="0">
                <a:solidFill>
                  <a:srgbClr val="5B6372"/>
                </a:solidFill>
                <a:latin typeface="Arial"/>
              </a:rPr>
              <a:t>When the number of parts can change</a:t>
            </a:r>
          </a:p>
        </p:txBody>
      </p:sp>
      <p:sp>
        <p:nvSpPr>
          <p:cNvPr id="32" name="Rectangle 31"/>
          <p:cNvSpPr/>
          <p:nvPr/>
        </p:nvSpPr>
        <p:spPr>
          <a:xfrm>
            <a:off x="6231636"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9368"/>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Three add-column tools</a:t>
            </a:r>
          </a:p>
          <a:p>
            <a:pPr algn="l">
              <a:spcAft>
                <a:spcPts val="300"/>
              </a:spcAft>
            </a:pPr>
            <a:r>
              <a:rPr sz="1200" b="0">
                <a:solidFill>
                  <a:srgbClr val="5B6372"/>
                </a:solidFill>
                <a:latin typeface="Arial"/>
              </a:rPr>
              <a:t>Conditional, Custom, and From Examples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377440"/>
            <a:ext cx="10634472" cy="2103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377440"/>
            <a:ext cx="128016" cy="2103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743200"/>
            <a:ext cx="10058400" cy="914400"/>
          </a:xfrm>
          <a:prstGeom prst="rect">
            <a:avLst/>
          </a:prstGeom>
          <a:noFill/>
        </p:spPr>
        <p:txBody>
          <a:bodyPr wrap="square" anchor="t">
            <a:spAutoFit/>
          </a:bodyPr>
          <a:lstStyle/>
          <a:p>
            <a:pPr algn="l">
              <a:spcAft>
                <a:spcPts val="400"/>
              </a:spcAft>
            </a:pPr>
            <a:r>
              <a:rPr sz="4000" b="1">
                <a:solidFill>
                  <a:srgbClr val="161B26"/>
                </a:solidFill>
                <a:latin typeface="Arial"/>
              </a:rPr>
              <a:t>Lunch Break</a:t>
            </a:r>
          </a:p>
        </p:txBody>
      </p:sp>
      <p:sp>
        <p:nvSpPr>
          <p:cNvPr id="7" name="TextBox 6"/>
          <p:cNvSpPr txBox="1"/>
          <p:nvPr/>
        </p:nvSpPr>
        <p:spPr>
          <a:xfrm>
            <a:off x="1207008" y="3657600"/>
            <a:ext cx="10058400" cy="548640"/>
          </a:xfrm>
          <a:prstGeom prst="rect">
            <a:avLst/>
          </a:prstGeom>
          <a:noFill/>
        </p:spPr>
        <p:txBody>
          <a:bodyPr wrap="square" anchor="t">
            <a:spAutoFit/>
          </a:bodyPr>
          <a:lstStyle/>
          <a:p>
            <a:pPr algn="l">
              <a:spcAft>
                <a:spcPts val="400"/>
              </a:spcAft>
            </a:pPr>
            <a:r>
              <a:rPr sz="1800" b="0">
                <a:solidFill>
                  <a:srgbClr val="5B6372"/>
                </a:solidFill>
                <a:latin typeface="Arial"/>
              </a:rPr>
              <a:t>1 hour  ·  Digital Attendance (PM) on return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Analysis with Power Query and Power Pivot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Logic · Dates · Pivot and unpivot · Group By · Append · The Data Model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2 · FROM CLEAN TO USEFUL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Cleaning data is only half the job.</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Now you add the logic, the dates and the aggregation that answer the question.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THE M LANGUAGE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Excel Formulas vs Power Query 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70151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445483"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2478755" y="1783080"/>
            <a:ext cx="4466478"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771" y="1783080"/>
            <a:ext cx="4210446" cy="475488"/>
          </a:xfrm>
          <a:prstGeom prst="rect">
            <a:avLst/>
          </a:prstGeom>
          <a:noFill/>
        </p:spPr>
        <p:txBody>
          <a:bodyPr wrap="square" anchor="ctr">
            <a:spAutoFit/>
          </a:bodyPr>
          <a:lstStyle/>
          <a:p>
            <a:pPr algn="l">
              <a:spcAft>
                <a:spcPts val="400"/>
              </a:spcAft>
            </a:pPr>
            <a:r>
              <a:rPr sz="1300" b="1">
                <a:solidFill>
                  <a:srgbClr val="FFFFFF"/>
                </a:solidFill>
                <a:latin typeface="Arial"/>
              </a:rPr>
              <a:t>Excel worksheet</a:t>
            </a:r>
          </a:p>
        </p:txBody>
      </p:sp>
      <p:sp>
        <p:nvSpPr>
          <p:cNvPr id="11" name="Rectangle 10"/>
          <p:cNvSpPr/>
          <p:nvPr/>
        </p:nvSpPr>
        <p:spPr>
          <a:xfrm>
            <a:off x="6945233" y="1783080"/>
            <a:ext cx="4466478"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73249" y="1783080"/>
            <a:ext cx="4210446" cy="475488"/>
          </a:xfrm>
          <a:prstGeom prst="rect">
            <a:avLst/>
          </a:prstGeom>
          <a:noFill/>
        </p:spPr>
        <p:txBody>
          <a:bodyPr wrap="square" anchor="ctr">
            <a:spAutoFit/>
          </a:bodyPr>
          <a:lstStyle/>
          <a:p>
            <a:pPr algn="l">
              <a:spcAft>
                <a:spcPts val="400"/>
              </a:spcAft>
            </a:pPr>
            <a:r>
              <a:rPr sz="1300" b="1">
                <a:solidFill>
                  <a:srgbClr val="FFFFFF"/>
                </a:solidFill>
                <a:latin typeface="Arial"/>
              </a:rPr>
              <a:t>Power Query M</a:t>
            </a:r>
          </a:p>
        </p:txBody>
      </p:sp>
      <p:sp>
        <p:nvSpPr>
          <p:cNvPr id="13" name="Rectangle 12"/>
          <p:cNvSpPr/>
          <p:nvPr/>
        </p:nvSpPr>
        <p:spPr>
          <a:xfrm>
            <a:off x="777240" y="2258568"/>
            <a:ext cx="170151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482059" cy="483108"/>
          </a:xfrm>
          <a:prstGeom prst="rect">
            <a:avLst/>
          </a:prstGeom>
          <a:noFill/>
        </p:spPr>
        <p:txBody>
          <a:bodyPr wrap="square" anchor="ctr">
            <a:spAutoFit/>
          </a:bodyPr>
          <a:lstStyle/>
          <a:p>
            <a:pPr algn="l">
              <a:spcAft>
                <a:spcPts val="400"/>
              </a:spcAft>
            </a:pPr>
            <a:r>
              <a:rPr sz="1150" b="1">
                <a:solidFill>
                  <a:srgbClr val="161B26"/>
                </a:solidFill>
                <a:latin typeface="Arial"/>
              </a:rPr>
              <a:t>Syntax</a:t>
            </a:r>
          </a:p>
        </p:txBody>
      </p:sp>
      <p:sp>
        <p:nvSpPr>
          <p:cNvPr id="15" name="Rectangle 14"/>
          <p:cNvSpPr/>
          <p:nvPr/>
        </p:nvSpPr>
        <p:spPr>
          <a:xfrm>
            <a:off x="2478755" y="2258568"/>
            <a:ext cx="4466478"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88483" y="2258568"/>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IF(A2&gt;=500, 0, 15)</a:t>
            </a:r>
          </a:p>
        </p:txBody>
      </p:sp>
      <p:sp>
        <p:nvSpPr>
          <p:cNvPr id="17" name="Rectangle 16"/>
          <p:cNvSpPr/>
          <p:nvPr/>
        </p:nvSpPr>
        <p:spPr>
          <a:xfrm>
            <a:off x="6945233" y="2258568"/>
            <a:ext cx="4466478"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4961" y="2258568"/>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if [Amount] &gt;= 500 then 0 else 15</a:t>
            </a:r>
          </a:p>
        </p:txBody>
      </p:sp>
      <p:sp>
        <p:nvSpPr>
          <p:cNvPr id="19" name="Rectangle 18"/>
          <p:cNvSpPr/>
          <p:nvPr/>
        </p:nvSpPr>
        <p:spPr>
          <a:xfrm>
            <a:off x="777240" y="2741676"/>
            <a:ext cx="170151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41676"/>
            <a:ext cx="1482059" cy="483108"/>
          </a:xfrm>
          <a:prstGeom prst="rect">
            <a:avLst/>
          </a:prstGeom>
          <a:noFill/>
        </p:spPr>
        <p:txBody>
          <a:bodyPr wrap="square" anchor="ctr">
            <a:spAutoFit/>
          </a:bodyPr>
          <a:lstStyle/>
          <a:p>
            <a:pPr algn="l">
              <a:spcAft>
                <a:spcPts val="400"/>
              </a:spcAft>
            </a:pPr>
            <a:r>
              <a:rPr sz="1150" b="1">
                <a:solidFill>
                  <a:srgbClr val="161B26"/>
                </a:solidFill>
                <a:latin typeface="Arial"/>
              </a:rPr>
              <a:t>Case</a:t>
            </a:r>
          </a:p>
        </p:txBody>
      </p:sp>
      <p:sp>
        <p:nvSpPr>
          <p:cNvPr id="21" name="Rectangle 20"/>
          <p:cNvSpPr/>
          <p:nvPr/>
        </p:nvSpPr>
        <p:spPr>
          <a:xfrm>
            <a:off x="2478755" y="2741676"/>
            <a:ext cx="4466478"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88483" y="2741676"/>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IF, AND, OR — not case sensitive</a:t>
            </a:r>
          </a:p>
        </p:txBody>
      </p:sp>
      <p:sp>
        <p:nvSpPr>
          <p:cNvPr id="23" name="Rectangle 22"/>
          <p:cNvSpPr/>
          <p:nvPr/>
        </p:nvSpPr>
        <p:spPr>
          <a:xfrm>
            <a:off x="6945233" y="2741676"/>
            <a:ext cx="4466478"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4961" y="2741676"/>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if, and, or — MUST be lowercase</a:t>
            </a:r>
          </a:p>
        </p:txBody>
      </p:sp>
      <p:sp>
        <p:nvSpPr>
          <p:cNvPr id="25" name="Rectangle 24"/>
          <p:cNvSpPr/>
          <p:nvPr/>
        </p:nvSpPr>
        <p:spPr>
          <a:xfrm>
            <a:off x="777240" y="3224784"/>
            <a:ext cx="170151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224784"/>
            <a:ext cx="1482059" cy="483108"/>
          </a:xfrm>
          <a:prstGeom prst="rect">
            <a:avLst/>
          </a:prstGeom>
          <a:noFill/>
        </p:spPr>
        <p:txBody>
          <a:bodyPr wrap="square" anchor="ctr">
            <a:spAutoFit/>
          </a:bodyPr>
          <a:lstStyle/>
          <a:p>
            <a:pPr algn="l">
              <a:spcAft>
                <a:spcPts val="400"/>
              </a:spcAft>
            </a:pPr>
            <a:r>
              <a:rPr sz="1150" b="1">
                <a:solidFill>
                  <a:srgbClr val="161B26"/>
                </a:solidFill>
                <a:latin typeface="Arial"/>
              </a:rPr>
              <a:t>Refers to</a:t>
            </a:r>
          </a:p>
        </p:txBody>
      </p:sp>
      <p:sp>
        <p:nvSpPr>
          <p:cNvPr id="27" name="Rectangle 26"/>
          <p:cNvSpPr/>
          <p:nvPr/>
        </p:nvSpPr>
        <p:spPr>
          <a:xfrm>
            <a:off x="2478755" y="3224784"/>
            <a:ext cx="4466478"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88483" y="3224784"/>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Cell addresses (A2)</a:t>
            </a:r>
          </a:p>
        </p:txBody>
      </p:sp>
      <p:sp>
        <p:nvSpPr>
          <p:cNvPr id="29" name="Rectangle 28"/>
          <p:cNvSpPr/>
          <p:nvPr/>
        </p:nvSpPr>
        <p:spPr>
          <a:xfrm>
            <a:off x="6945233" y="3224784"/>
            <a:ext cx="4466478"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4961" y="3224784"/>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Column names in [square brackets]</a:t>
            </a:r>
          </a:p>
        </p:txBody>
      </p:sp>
      <p:sp>
        <p:nvSpPr>
          <p:cNvPr id="31" name="Rectangle 30"/>
          <p:cNvSpPr/>
          <p:nvPr/>
        </p:nvSpPr>
        <p:spPr>
          <a:xfrm>
            <a:off x="777240" y="3707892"/>
            <a:ext cx="170151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707892"/>
            <a:ext cx="1482059" cy="483108"/>
          </a:xfrm>
          <a:prstGeom prst="rect">
            <a:avLst/>
          </a:prstGeom>
          <a:noFill/>
        </p:spPr>
        <p:txBody>
          <a:bodyPr wrap="square" anchor="ctr">
            <a:spAutoFit/>
          </a:bodyPr>
          <a:lstStyle/>
          <a:p>
            <a:pPr algn="l">
              <a:spcAft>
                <a:spcPts val="400"/>
              </a:spcAft>
            </a:pPr>
            <a:r>
              <a:rPr sz="1150" b="1">
                <a:solidFill>
                  <a:srgbClr val="161B26"/>
                </a:solidFill>
                <a:latin typeface="Arial"/>
              </a:rPr>
              <a:t>else</a:t>
            </a:r>
          </a:p>
        </p:txBody>
      </p:sp>
      <p:sp>
        <p:nvSpPr>
          <p:cNvPr id="33" name="Rectangle 32"/>
          <p:cNvSpPr/>
          <p:nvPr/>
        </p:nvSpPr>
        <p:spPr>
          <a:xfrm>
            <a:off x="2478755" y="3707892"/>
            <a:ext cx="4466478"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88483" y="3707892"/>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Optional third argument</a:t>
            </a:r>
          </a:p>
        </p:txBody>
      </p:sp>
      <p:sp>
        <p:nvSpPr>
          <p:cNvPr id="35" name="Rectangle 34"/>
          <p:cNvSpPr/>
          <p:nvPr/>
        </p:nvSpPr>
        <p:spPr>
          <a:xfrm>
            <a:off x="6945233" y="3707892"/>
            <a:ext cx="4466478"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54961" y="3707892"/>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Compulsory — every if needs an else</a:t>
            </a:r>
          </a:p>
        </p:txBody>
      </p:sp>
      <p:sp>
        <p:nvSpPr>
          <p:cNvPr id="37" name="Rectangle 36"/>
          <p:cNvSpPr/>
          <p:nvPr/>
        </p:nvSpPr>
        <p:spPr>
          <a:xfrm>
            <a:off x="777240" y="4191000"/>
            <a:ext cx="170151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191000"/>
            <a:ext cx="1482059" cy="483108"/>
          </a:xfrm>
          <a:prstGeom prst="rect">
            <a:avLst/>
          </a:prstGeom>
          <a:noFill/>
        </p:spPr>
        <p:txBody>
          <a:bodyPr wrap="square" anchor="ctr">
            <a:spAutoFit/>
          </a:bodyPr>
          <a:lstStyle/>
          <a:p>
            <a:pPr algn="l">
              <a:spcAft>
                <a:spcPts val="400"/>
              </a:spcAft>
            </a:pPr>
            <a:r>
              <a:rPr sz="1150" b="1">
                <a:solidFill>
                  <a:srgbClr val="161B26"/>
                </a:solidFill>
                <a:latin typeface="Arial"/>
              </a:rPr>
              <a:t>Runs</a:t>
            </a:r>
          </a:p>
        </p:txBody>
      </p:sp>
      <p:sp>
        <p:nvSpPr>
          <p:cNvPr id="39" name="Rectangle 38"/>
          <p:cNvSpPr/>
          <p:nvPr/>
        </p:nvSpPr>
        <p:spPr>
          <a:xfrm>
            <a:off x="2478755" y="4191000"/>
            <a:ext cx="4466478"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88483" y="4191000"/>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Once per cell, on every calculation</a:t>
            </a:r>
          </a:p>
        </p:txBody>
      </p:sp>
      <p:sp>
        <p:nvSpPr>
          <p:cNvPr id="41" name="Rectangle 40"/>
          <p:cNvSpPr/>
          <p:nvPr/>
        </p:nvSpPr>
        <p:spPr>
          <a:xfrm>
            <a:off x="6945233" y="4191000"/>
            <a:ext cx="4466478"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54961" y="4191000"/>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Once per row, on refresh only</a:t>
            </a:r>
          </a:p>
        </p:txBody>
      </p:sp>
      <p:sp>
        <p:nvSpPr>
          <p:cNvPr id="43" name="Rectangle 42"/>
          <p:cNvSpPr/>
          <p:nvPr/>
        </p:nvSpPr>
        <p:spPr>
          <a:xfrm>
            <a:off x="777240" y="4674108"/>
            <a:ext cx="170151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674108"/>
            <a:ext cx="1482059" cy="483108"/>
          </a:xfrm>
          <a:prstGeom prst="rect">
            <a:avLst/>
          </a:prstGeom>
          <a:noFill/>
        </p:spPr>
        <p:txBody>
          <a:bodyPr wrap="square" anchor="ctr">
            <a:spAutoFit/>
          </a:bodyPr>
          <a:lstStyle/>
          <a:p>
            <a:pPr algn="l">
              <a:spcAft>
                <a:spcPts val="400"/>
              </a:spcAft>
            </a:pPr>
            <a:r>
              <a:rPr sz="1150" b="1">
                <a:solidFill>
                  <a:srgbClr val="161B26"/>
                </a:solidFill>
                <a:latin typeface="Arial"/>
              </a:rPr>
              <a:t>Text join</a:t>
            </a:r>
          </a:p>
        </p:txBody>
      </p:sp>
      <p:sp>
        <p:nvSpPr>
          <p:cNvPr id="45" name="Rectangle 44"/>
          <p:cNvSpPr/>
          <p:nvPr/>
        </p:nvSpPr>
        <p:spPr>
          <a:xfrm>
            <a:off x="2478755" y="4674108"/>
            <a:ext cx="4466478"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88483" y="4674108"/>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&amp;  or CONCAT()</a:t>
            </a:r>
          </a:p>
        </p:txBody>
      </p:sp>
      <p:sp>
        <p:nvSpPr>
          <p:cNvPr id="47" name="Rectangle 46"/>
          <p:cNvSpPr/>
          <p:nvPr/>
        </p:nvSpPr>
        <p:spPr>
          <a:xfrm>
            <a:off x="6945233" y="4674108"/>
            <a:ext cx="4466478"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54961" y="4674108"/>
            <a:ext cx="4247022" cy="483108"/>
          </a:xfrm>
          <a:prstGeom prst="rect">
            <a:avLst/>
          </a:prstGeom>
          <a:noFill/>
        </p:spPr>
        <p:txBody>
          <a:bodyPr wrap="square" anchor="ctr">
            <a:spAutoFit/>
          </a:bodyPr>
          <a:lstStyle/>
          <a:p>
            <a:pPr algn="l">
              <a:spcAft>
                <a:spcPts val="400"/>
              </a:spcAft>
            </a:pPr>
            <a:r>
              <a:rPr sz="1100" b="0">
                <a:solidFill>
                  <a:srgbClr val="5B6372"/>
                </a:solidFill>
                <a:latin typeface="Arial"/>
              </a:rPr>
              <a:t>&amp;  (text only — numbers need Text.From)</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M is case sensitive throughout. 'If' or 'IF' will not work — only 'if'. This is the single most common error when writing your first custom column.</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IF IN 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Writing IF Logic in 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The Shipping Cost rule from Lab 07 — written by hand in a Custom Column.</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40864"/>
            <a:ext cx="5632704" cy="274320"/>
          </a:xfrm>
          <a:prstGeom prst="rect">
            <a:avLst/>
          </a:prstGeom>
          <a:noFill/>
        </p:spPr>
        <p:txBody>
          <a:bodyPr wrap="square" anchor="t">
            <a:spAutoFit/>
          </a:bodyPr>
          <a:lstStyle/>
          <a:p>
            <a:pPr algn="l">
              <a:spcAft>
                <a:spcPts val="400"/>
              </a:spcAft>
            </a:pPr>
            <a:r>
              <a:rPr sz="900" b="1">
                <a:solidFill>
                  <a:srgbClr val="6A9955"/>
                </a:solidFill>
                <a:latin typeface="Arial"/>
              </a:rPr>
              <a:t>M</a:t>
            </a:r>
          </a:p>
        </p:txBody>
      </p:sp>
      <p:sp>
        <p:nvSpPr>
          <p:cNvPr id="10" name="TextBox 9"/>
          <p:cNvSpPr txBox="1"/>
          <p:nvPr/>
        </p:nvSpPr>
        <p:spPr>
          <a:xfrm>
            <a:off x="978408" y="2615184"/>
            <a:ext cx="5541264" cy="3291840"/>
          </a:xfrm>
          <a:prstGeom prst="rect">
            <a:avLst/>
          </a:prstGeom>
          <a:noFill/>
        </p:spPr>
        <p:txBody>
          <a:bodyPr wrap="square">
            <a:spAutoFit/>
          </a:bodyPr>
          <a:lstStyle/>
          <a:p>
            <a:pPr>
              <a:spcAft>
                <a:spcPts val="200"/>
              </a:spcAft>
            </a:pPr>
            <a:r>
              <a:rPr sz="1100">
                <a:solidFill>
                  <a:srgbClr val="C586C0"/>
                </a:solidFill>
                <a:latin typeface="Consolas"/>
              </a:rPr>
              <a:t>if [Amount] &gt;= 500 then 0</a:t>
            </a:r>
          </a:p>
          <a:p>
            <a:pPr>
              <a:spcAft>
                <a:spcPts val="200"/>
              </a:spcAft>
            </a:pPr>
            <a:r>
              <a:rPr sz="1100">
                <a:solidFill>
                  <a:srgbClr val="C586C0"/>
                </a:solidFill>
                <a:latin typeface="Consolas"/>
              </a:rPr>
              <a:t>else 15</a:t>
            </a:r>
          </a:p>
          <a:p>
            <a:pPr>
              <a:spcAft>
                <a:spcPts val="200"/>
              </a:spcAft>
            </a:pPr>
            <a:r>
              <a:rPr sz="1100">
                <a:solidFill>
                  <a:srgbClr val="D4D4D4"/>
                </a:solidFill>
                <a:latin typeface="Consolas"/>
              </a:rPr>
              <a:t/>
            </a:r>
          </a:p>
          <a:p>
            <a:pPr>
              <a:spcAft>
                <a:spcPts val="200"/>
              </a:spcAft>
            </a:pPr>
            <a:r>
              <a:rPr sz="1100">
                <a:solidFill>
                  <a:srgbClr val="6A9955"/>
                </a:solidFill>
                <a:latin typeface="Consolas"/>
              </a:rPr>
              <a:t>// a comparison alone returns true/false</a:t>
            </a:r>
          </a:p>
          <a:p>
            <a:pPr>
              <a:spcAft>
                <a:spcPts val="200"/>
              </a:spcAft>
            </a:pPr>
            <a:r>
              <a:rPr sz="1100">
                <a:solidFill>
                  <a:srgbClr val="D4D4D4"/>
                </a:solidFill>
                <a:latin typeface="Consolas"/>
              </a:rPr>
              <a:t>[Amount] &gt;= 500</a:t>
            </a:r>
          </a:p>
        </p:txBody>
      </p:sp>
      <p:sp>
        <p:nvSpPr>
          <p:cNvPr id="11" name="Rectangle 10"/>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Lowercase keywords</a:t>
            </a:r>
          </a:p>
        </p:txBody>
      </p:sp>
      <p:sp>
        <p:nvSpPr>
          <p:cNvPr id="14" name="TextBox 13"/>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if, then, else — capitalising any of them is an immediate error.</a:t>
            </a:r>
          </a:p>
        </p:txBody>
      </p:sp>
      <p:sp>
        <p:nvSpPr>
          <p:cNvPr id="15" name="Rectangle 14"/>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Columns in brackets</a:t>
            </a:r>
          </a:p>
        </p:txBody>
      </p:sp>
      <p:sp>
        <p:nvSpPr>
          <p:cNvPr id="18" name="TextBox 17"/>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[Amount] refers to the column. Spelling and case must match exactly.</a:t>
            </a:r>
          </a:p>
        </p:txBody>
      </p:sp>
      <p:sp>
        <p:nvSpPr>
          <p:cNvPr id="19" name="Rectangle 18"/>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No else = error</a:t>
            </a:r>
          </a:p>
        </p:txBody>
      </p:sp>
      <p:sp>
        <p:nvSpPr>
          <p:cNvPr id="22" name="TextBox 21"/>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Delete the else and Power Query refuses to build the column.</a:t>
            </a:r>
          </a:p>
        </p:txBody>
      </p:sp>
      <p:sp>
        <p:nvSpPr>
          <p:cNvPr id="23" name="Rectangle 22"/>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Comparisons are values</a:t>
            </a:r>
          </a:p>
        </p:txBody>
      </p:sp>
      <p:sp>
        <p:nvSpPr>
          <p:cNvPr id="26" name="TextBox 25"/>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[Amount] &gt;= 500 on its own returns TRUE/FALSE — set the type to True/False.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AND vs OR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Nesting Conditions — the AND / OR Truth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658618"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402586" cy="475488"/>
          </a:xfrm>
          <a:prstGeom prst="rect">
            <a:avLst/>
          </a:prstGeom>
          <a:noFill/>
        </p:spPr>
        <p:txBody>
          <a:bodyPr wrap="square" anchor="ctr">
            <a:spAutoFit/>
          </a:bodyPr>
          <a:lstStyle/>
          <a:p>
            <a:pPr algn="l">
              <a:spcAft>
                <a:spcPts val="400"/>
              </a:spcAft>
            </a:pPr>
            <a:r>
              <a:rPr sz="1300" b="1">
                <a:solidFill>
                  <a:srgbClr val="FFFFFF"/>
                </a:solidFill>
                <a:latin typeface="Arial"/>
              </a:rPr>
              <a:t>Amount &gt;= 5000</a:t>
            </a:r>
          </a:p>
        </p:txBody>
      </p:sp>
      <p:sp>
        <p:nvSpPr>
          <p:cNvPr id="9" name="Rectangle 8"/>
          <p:cNvSpPr/>
          <p:nvPr/>
        </p:nvSpPr>
        <p:spPr>
          <a:xfrm>
            <a:off x="3435858" y="1783080"/>
            <a:ext cx="2658618"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3874" y="1783080"/>
            <a:ext cx="2402586" cy="475488"/>
          </a:xfrm>
          <a:prstGeom prst="rect">
            <a:avLst/>
          </a:prstGeom>
          <a:noFill/>
        </p:spPr>
        <p:txBody>
          <a:bodyPr wrap="square" anchor="ctr">
            <a:spAutoFit/>
          </a:bodyPr>
          <a:lstStyle/>
          <a:p>
            <a:pPr algn="l">
              <a:spcAft>
                <a:spcPts val="400"/>
              </a:spcAft>
            </a:pPr>
            <a:r>
              <a:rPr sz="1300" b="1">
                <a:solidFill>
                  <a:srgbClr val="FFFFFF"/>
                </a:solidFill>
                <a:latin typeface="Arial"/>
              </a:rPr>
              <a:t>Days Outstanding &gt; 30</a:t>
            </a:r>
          </a:p>
        </p:txBody>
      </p:sp>
      <p:sp>
        <p:nvSpPr>
          <p:cNvPr id="11" name="Rectangle 10"/>
          <p:cNvSpPr/>
          <p:nvPr/>
        </p:nvSpPr>
        <p:spPr>
          <a:xfrm>
            <a:off x="6094476" y="1783080"/>
            <a:ext cx="2658618"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2492" y="1783080"/>
            <a:ext cx="2402586" cy="475488"/>
          </a:xfrm>
          <a:prstGeom prst="rect">
            <a:avLst/>
          </a:prstGeom>
          <a:noFill/>
        </p:spPr>
        <p:txBody>
          <a:bodyPr wrap="square" anchor="ctr">
            <a:spAutoFit/>
          </a:bodyPr>
          <a:lstStyle/>
          <a:p>
            <a:pPr algn="l">
              <a:spcAft>
                <a:spcPts val="400"/>
              </a:spcAft>
            </a:pPr>
            <a:r>
              <a:rPr sz="1300" b="1">
                <a:solidFill>
                  <a:srgbClr val="FFFFFF"/>
                </a:solidFill>
                <a:latin typeface="Arial"/>
              </a:rPr>
              <a:t>and →</a:t>
            </a:r>
          </a:p>
        </p:txBody>
      </p:sp>
      <p:sp>
        <p:nvSpPr>
          <p:cNvPr id="13" name="Rectangle 12"/>
          <p:cNvSpPr/>
          <p:nvPr/>
        </p:nvSpPr>
        <p:spPr>
          <a:xfrm>
            <a:off x="8753094" y="1783080"/>
            <a:ext cx="2658618"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81110" y="1783080"/>
            <a:ext cx="2402586" cy="475488"/>
          </a:xfrm>
          <a:prstGeom prst="rect">
            <a:avLst/>
          </a:prstGeom>
          <a:noFill/>
        </p:spPr>
        <p:txBody>
          <a:bodyPr wrap="square" anchor="ctr">
            <a:spAutoFit/>
          </a:bodyPr>
          <a:lstStyle/>
          <a:p>
            <a:pPr algn="l">
              <a:spcAft>
                <a:spcPts val="400"/>
              </a:spcAft>
            </a:pPr>
            <a:r>
              <a:rPr sz="1300" b="1">
                <a:solidFill>
                  <a:srgbClr val="FFFFFF"/>
                </a:solidFill>
                <a:latin typeface="Arial"/>
              </a:rPr>
              <a:t>or →</a:t>
            </a:r>
          </a:p>
        </p:txBody>
      </p:sp>
      <p:sp>
        <p:nvSpPr>
          <p:cNvPr id="15" name="Rectangle 14"/>
          <p:cNvSpPr/>
          <p:nvPr/>
        </p:nvSpPr>
        <p:spPr>
          <a:xfrm>
            <a:off x="777240" y="2258568"/>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58568"/>
            <a:ext cx="2439162" cy="713232"/>
          </a:xfrm>
          <a:prstGeom prst="rect">
            <a:avLst/>
          </a:prstGeom>
          <a:noFill/>
        </p:spPr>
        <p:txBody>
          <a:bodyPr wrap="square" anchor="ctr">
            <a:spAutoFit/>
          </a:bodyPr>
          <a:lstStyle/>
          <a:p>
            <a:pPr algn="l">
              <a:spcAft>
                <a:spcPts val="400"/>
              </a:spcAft>
            </a:pPr>
            <a:r>
              <a:rPr sz="1150" b="1">
                <a:solidFill>
                  <a:srgbClr val="161B26"/>
                </a:solidFill>
                <a:latin typeface="Arial"/>
              </a:rPr>
              <a:t>TRUE</a:t>
            </a:r>
          </a:p>
        </p:txBody>
      </p:sp>
      <p:sp>
        <p:nvSpPr>
          <p:cNvPr id="17" name="Rectangle 16"/>
          <p:cNvSpPr/>
          <p:nvPr/>
        </p:nvSpPr>
        <p:spPr>
          <a:xfrm>
            <a:off x="3435858" y="2258568"/>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45586" y="2258568"/>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TRUE</a:t>
            </a:r>
          </a:p>
        </p:txBody>
      </p:sp>
      <p:sp>
        <p:nvSpPr>
          <p:cNvPr id="19" name="Rectangle 18"/>
          <p:cNvSpPr/>
          <p:nvPr/>
        </p:nvSpPr>
        <p:spPr>
          <a:xfrm>
            <a:off x="6094476" y="2258568"/>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4204" y="2258568"/>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TRUE (Escalate)</a:t>
            </a:r>
          </a:p>
        </p:txBody>
      </p:sp>
      <p:sp>
        <p:nvSpPr>
          <p:cNvPr id="21" name="Rectangle 20"/>
          <p:cNvSpPr/>
          <p:nvPr/>
        </p:nvSpPr>
        <p:spPr>
          <a:xfrm>
            <a:off x="8753094" y="2258568"/>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2822" y="2258568"/>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TRUE</a:t>
            </a:r>
          </a:p>
        </p:txBody>
      </p:sp>
      <p:sp>
        <p:nvSpPr>
          <p:cNvPr id="23" name="Rectangle 22"/>
          <p:cNvSpPr/>
          <p:nvPr/>
        </p:nvSpPr>
        <p:spPr>
          <a:xfrm>
            <a:off x="777240" y="2971800"/>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971800"/>
            <a:ext cx="2439162" cy="713232"/>
          </a:xfrm>
          <a:prstGeom prst="rect">
            <a:avLst/>
          </a:prstGeom>
          <a:noFill/>
        </p:spPr>
        <p:txBody>
          <a:bodyPr wrap="square" anchor="ctr">
            <a:spAutoFit/>
          </a:bodyPr>
          <a:lstStyle/>
          <a:p>
            <a:pPr algn="l">
              <a:spcAft>
                <a:spcPts val="400"/>
              </a:spcAft>
            </a:pPr>
            <a:r>
              <a:rPr sz="1150" b="1">
                <a:solidFill>
                  <a:srgbClr val="161B26"/>
                </a:solidFill>
                <a:latin typeface="Arial"/>
              </a:rPr>
              <a:t>TRUE</a:t>
            </a:r>
          </a:p>
        </p:txBody>
      </p:sp>
      <p:sp>
        <p:nvSpPr>
          <p:cNvPr id="25" name="Rectangle 24"/>
          <p:cNvSpPr/>
          <p:nvPr/>
        </p:nvSpPr>
        <p:spPr>
          <a:xfrm>
            <a:off x="3435858" y="2971800"/>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45586" y="2971800"/>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FALSE</a:t>
            </a:r>
          </a:p>
        </p:txBody>
      </p:sp>
      <p:sp>
        <p:nvSpPr>
          <p:cNvPr id="27" name="Rectangle 26"/>
          <p:cNvSpPr/>
          <p:nvPr/>
        </p:nvSpPr>
        <p:spPr>
          <a:xfrm>
            <a:off x="6094476" y="2971800"/>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4204" y="2971800"/>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FALSE</a:t>
            </a:r>
          </a:p>
        </p:txBody>
      </p:sp>
      <p:sp>
        <p:nvSpPr>
          <p:cNvPr id="29" name="Rectangle 28"/>
          <p:cNvSpPr/>
          <p:nvPr/>
        </p:nvSpPr>
        <p:spPr>
          <a:xfrm>
            <a:off x="8753094" y="2971800"/>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2822" y="2971800"/>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TRUE (Watch)</a:t>
            </a:r>
          </a:p>
        </p:txBody>
      </p:sp>
      <p:sp>
        <p:nvSpPr>
          <p:cNvPr id="31" name="Rectangle 30"/>
          <p:cNvSpPr/>
          <p:nvPr/>
        </p:nvSpPr>
        <p:spPr>
          <a:xfrm>
            <a:off x="777240" y="3685032"/>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85032"/>
            <a:ext cx="2439162" cy="713232"/>
          </a:xfrm>
          <a:prstGeom prst="rect">
            <a:avLst/>
          </a:prstGeom>
          <a:noFill/>
        </p:spPr>
        <p:txBody>
          <a:bodyPr wrap="square" anchor="ctr">
            <a:spAutoFit/>
          </a:bodyPr>
          <a:lstStyle/>
          <a:p>
            <a:pPr algn="l">
              <a:spcAft>
                <a:spcPts val="400"/>
              </a:spcAft>
            </a:pPr>
            <a:r>
              <a:rPr sz="1150" b="1">
                <a:solidFill>
                  <a:srgbClr val="161B26"/>
                </a:solidFill>
                <a:latin typeface="Arial"/>
              </a:rPr>
              <a:t>FALSE</a:t>
            </a:r>
          </a:p>
        </p:txBody>
      </p:sp>
      <p:sp>
        <p:nvSpPr>
          <p:cNvPr id="33" name="Rectangle 32"/>
          <p:cNvSpPr/>
          <p:nvPr/>
        </p:nvSpPr>
        <p:spPr>
          <a:xfrm>
            <a:off x="3435858" y="3685032"/>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45586" y="3685032"/>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TRUE</a:t>
            </a:r>
          </a:p>
        </p:txBody>
      </p:sp>
      <p:sp>
        <p:nvSpPr>
          <p:cNvPr id="35" name="Rectangle 34"/>
          <p:cNvSpPr/>
          <p:nvPr/>
        </p:nvSpPr>
        <p:spPr>
          <a:xfrm>
            <a:off x="6094476" y="3685032"/>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04204" y="3685032"/>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FALSE</a:t>
            </a:r>
          </a:p>
        </p:txBody>
      </p:sp>
      <p:sp>
        <p:nvSpPr>
          <p:cNvPr id="37" name="Rectangle 36"/>
          <p:cNvSpPr/>
          <p:nvPr/>
        </p:nvSpPr>
        <p:spPr>
          <a:xfrm>
            <a:off x="8753094" y="3685032"/>
            <a:ext cx="2658618"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2822" y="3685032"/>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TRUE (Watch)</a:t>
            </a:r>
          </a:p>
        </p:txBody>
      </p:sp>
      <p:sp>
        <p:nvSpPr>
          <p:cNvPr id="39" name="Rectangle 38"/>
          <p:cNvSpPr/>
          <p:nvPr/>
        </p:nvSpPr>
        <p:spPr>
          <a:xfrm>
            <a:off x="777240" y="4398264"/>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398264"/>
            <a:ext cx="2439162" cy="713232"/>
          </a:xfrm>
          <a:prstGeom prst="rect">
            <a:avLst/>
          </a:prstGeom>
          <a:noFill/>
        </p:spPr>
        <p:txBody>
          <a:bodyPr wrap="square" anchor="ctr">
            <a:spAutoFit/>
          </a:bodyPr>
          <a:lstStyle/>
          <a:p>
            <a:pPr algn="l">
              <a:spcAft>
                <a:spcPts val="400"/>
              </a:spcAft>
            </a:pPr>
            <a:r>
              <a:rPr sz="1150" b="1">
                <a:solidFill>
                  <a:srgbClr val="161B26"/>
                </a:solidFill>
                <a:latin typeface="Arial"/>
              </a:rPr>
              <a:t>FALSE</a:t>
            </a:r>
          </a:p>
        </p:txBody>
      </p:sp>
      <p:sp>
        <p:nvSpPr>
          <p:cNvPr id="41" name="Rectangle 40"/>
          <p:cNvSpPr/>
          <p:nvPr/>
        </p:nvSpPr>
        <p:spPr>
          <a:xfrm>
            <a:off x="3435858" y="4398264"/>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45586" y="4398264"/>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FALSE</a:t>
            </a:r>
          </a:p>
        </p:txBody>
      </p:sp>
      <p:sp>
        <p:nvSpPr>
          <p:cNvPr id="43" name="Rectangle 42"/>
          <p:cNvSpPr/>
          <p:nvPr/>
        </p:nvSpPr>
        <p:spPr>
          <a:xfrm>
            <a:off x="6094476" y="4398264"/>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04204" y="4398264"/>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FALSE</a:t>
            </a:r>
          </a:p>
        </p:txBody>
      </p:sp>
      <p:sp>
        <p:nvSpPr>
          <p:cNvPr id="45" name="Rectangle 44"/>
          <p:cNvSpPr/>
          <p:nvPr/>
        </p:nvSpPr>
        <p:spPr>
          <a:xfrm>
            <a:off x="8753094" y="4398264"/>
            <a:ext cx="2658618"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62822" y="4398264"/>
            <a:ext cx="2439162" cy="713232"/>
          </a:xfrm>
          <a:prstGeom prst="rect">
            <a:avLst/>
          </a:prstGeom>
          <a:noFill/>
        </p:spPr>
        <p:txBody>
          <a:bodyPr wrap="square" anchor="ctr">
            <a:spAutoFit/>
          </a:bodyPr>
          <a:lstStyle/>
          <a:p>
            <a:pPr algn="l">
              <a:spcAft>
                <a:spcPts val="400"/>
              </a:spcAft>
            </a:pPr>
            <a:r>
              <a:rPr sz="1100" b="0">
                <a:solidFill>
                  <a:srgbClr val="5B6372"/>
                </a:solidFill>
                <a:latin typeface="Arial"/>
              </a:rPr>
              <a:t>FALSE (Normal)</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'and' needs BOTH sides true; 'or' needs EITHER. Lab 08 builds exactly this rule — rows SO-9201 to SO-9204 cover all four lines of this table.</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07: Conditional Logic with IF in 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07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Conditional Column dialog cannot express every rule, so the learner moves to the Custom Column window and writes M directly. The lab contrasts Excel's IF() with M's lowercase, case-sensitive if / then / else and shows why a missing else is an error.</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Shipping Cost column driven by a hand-written M if expression.</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Orders of 500 or more show Shipping Cost 0 and Free Shipping TRUE; the boundary row at exactly 500 qualifies.</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LO2 · A2 · K1, K2 — Write IF logic in the Power Query M language.</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07</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lab-07-if-formulas.xlsx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Custom Column, M language  ·  Full step-by-step: Learner Guide, Lab 07</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08: Nest IF with AND for a Priority Flag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08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An order is escalated only when it is both high value and already overdue. The learner nests conditions using M's and / or operators to produce a single Priority column, then verifies each branch against a worked truth table.</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Priority column classifying every order as Escalate, Watch or Normal.</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Only orders meeting BOTH the value and ageing tests read Escalate; orders meeting one read Watch.</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LO2 · A2 · K2 — Nest conditions with and / or to resolve a multi-factor rule.</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08</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lab-08-nested-if-and.xlsx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Custom Column, M logical operators  ·  Full step-by-step: Learner Guide, Lab 08</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2 · DATES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Date Functions You Will Actually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Date.AddDays</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Date.AddDays([Invoice Date], 30) — the due date from payment terms.</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Duration.Days</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Turns the gap between two dates into a whole number of days.</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Date.Year / Month</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Pulls the year or month out for grouping and reporting.</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Date.From</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Converts text or a date/time into a clean Date value.</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F59E0B"/>
                </a:solidFill>
                <a:latin typeface="Arial"/>
              </a:rPr>
              <a:t>THE WORKED EXAMPLE IN LAB 09</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Invoice INV-9001 is dated 1 May 2026 with 30-day terms. Date.AddDays gives a Due Date of 31 May 2026; against a 30 June 2026 reporting date that is exactly 30 days overdue.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2 · THE DEADLINE PIPELINE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Invoice Date to Ageing Bucket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Invoice Date</a:t>
            </a:r>
          </a:p>
        </p:txBody>
      </p:sp>
      <p:sp>
        <p:nvSpPr>
          <p:cNvPr id="12" name="TextBox 11"/>
          <p:cNvSpPr txBox="1"/>
          <p:nvPr/>
        </p:nvSpPr>
        <p:spPr>
          <a:xfrm>
            <a:off x="850392"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raw source column</a:t>
            </a:r>
          </a:p>
        </p:txBody>
      </p:sp>
      <p:cxnSp>
        <p:nvCxnSpPr>
          <p:cNvPr id="13" name="Connector 12"/>
          <p:cNvCxnSpPr/>
          <p:nvPr/>
        </p:nvCxnSpPr>
        <p:spPr>
          <a:xfrm>
            <a:off x="2651760"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 Terms Days</a:t>
            </a:r>
          </a:p>
        </p:txBody>
      </p:sp>
      <p:sp>
        <p:nvSpPr>
          <p:cNvPr id="19" name="TextBox 18"/>
          <p:cNvSpPr txBox="1"/>
          <p:nvPr/>
        </p:nvSpPr>
        <p:spPr>
          <a:xfrm>
            <a:off x="3054096"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Date.AddDays</a:t>
            </a:r>
          </a:p>
        </p:txBody>
      </p:sp>
      <p:cxnSp>
        <p:nvCxnSpPr>
          <p:cNvPr id="20" name="Connector 19"/>
          <p:cNvCxnSpPr/>
          <p:nvPr/>
        </p:nvCxnSpPr>
        <p:spPr>
          <a:xfrm>
            <a:off x="4855464"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Due Date</a:t>
            </a:r>
          </a:p>
        </p:txBody>
      </p:sp>
      <p:sp>
        <p:nvSpPr>
          <p:cNvPr id="26" name="TextBox 25"/>
          <p:cNvSpPr txBox="1"/>
          <p:nvPr/>
        </p:nvSpPr>
        <p:spPr>
          <a:xfrm>
            <a:off x="5257800"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When payment is expected</a:t>
            </a:r>
          </a:p>
        </p:txBody>
      </p:sp>
      <p:cxnSp>
        <p:nvCxnSpPr>
          <p:cNvPr id="27" name="Connector 26"/>
          <p:cNvCxnSpPr/>
          <p:nvPr/>
        </p:nvCxnSpPr>
        <p:spPr>
          <a:xfrm>
            <a:off x="7059168"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Days Overdue</a:t>
            </a:r>
          </a:p>
        </p:txBody>
      </p:sp>
      <p:sp>
        <p:nvSpPr>
          <p:cNvPr id="33" name="TextBox 32"/>
          <p:cNvSpPr txBox="1"/>
          <p:nvPr/>
        </p:nvSpPr>
        <p:spPr>
          <a:xfrm>
            <a:off x="7461504"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Duration.Days vs today</a:t>
            </a:r>
          </a:p>
        </p:txBody>
      </p:sp>
      <p:cxnSp>
        <p:nvCxnSpPr>
          <p:cNvPr id="34" name="Connector 33"/>
          <p:cNvCxnSpPr/>
          <p:nvPr/>
        </p:nvCxnSpPr>
        <p:spPr>
          <a:xfrm>
            <a:off x="9262872"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Ageing Bucket</a:t>
            </a:r>
          </a:p>
        </p:txBody>
      </p:sp>
      <p:sp>
        <p:nvSpPr>
          <p:cNvPr id="40" name="TextBox 39"/>
          <p:cNvSpPr txBox="1"/>
          <p:nvPr/>
        </p:nvSpPr>
        <p:spPr>
          <a:xfrm>
            <a:off x="9665208"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Conditional column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WHY BUILD IT IN THE QUERY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one of these columns recalculates on Refresh. Next month's invoice file drops in and the whole ageing report rebuilds itself.</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09: Calculate Deadlines with Date.AddDays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09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Each invoice carries payment terms in days. The learner derives the due date with Date.AddDays, compares it against a fixed reporting date to produce days overdue, and bins the result into ageing buckets the finance team recognises.</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An invoice ageing query with Due Date, Days Overdue and Ageing Bucket.</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An invoice dated 1 May 2026 with 30-day terms shows Due Date 31 May 2026 and Days Overdue 30.</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LO2 · A2 · K1, K3 — Use Date functions to derive deadlines and ageing buckets.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09</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lab-09-adddays-deadline.xlsx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Date functions, Custom Column  ·  Full step-by-step: Learner Guide, Lab 09</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2 · UNPIVOT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Wide is for humans. Tall is for machines.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Unpivot is the single most valuable transformation in Power Query.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SHAPE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Unpivot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74920" cy="2852928"/>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7492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Tall / tidy — 3 columns</a:t>
            </a:r>
          </a:p>
        </p:txBody>
      </p:sp>
      <p:sp>
        <p:nvSpPr>
          <p:cNvPr id="10" name="TextBox 9"/>
          <p:cNvSpPr txBox="1"/>
          <p:nvPr/>
        </p:nvSpPr>
        <p:spPr>
          <a:xfrm>
            <a:off x="1033272" y="2395728"/>
            <a:ext cx="4562856" cy="2139696"/>
          </a:xfrm>
          <a:prstGeom prst="rect">
            <a:avLst/>
          </a:prstGeom>
          <a:noFill/>
        </p:spPr>
        <p:txBody>
          <a:bodyPr wrap="square">
            <a:spAutoFit/>
          </a:bodyPr>
          <a:lstStyle/>
          <a:p>
            <a:pPr>
              <a:spcAft>
                <a:spcPts val="900"/>
              </a:spcAft>
            </a:pPr>
            <a:r>
              <a:rPr sz="1250">
                <a:solidFill>
                  <a:srgbClr val="161B26"/>
                </a:solidFill>
                <a:latin typeface="Arial"/>
              </a:rPr>
              <a:t>•  Region · Month · Sales</a:t>
            </a:r>
          </a:p>
          <a:p>
            <a:pPr>
              <a:spcAft>
                <a:spcPts val="900"/>
              </a:spcAft>
            </a:pPr>
            <a:r>
              <a:rPr sz="1250">
                <a:solidFill>
                  <a:srgbClr val="161B26"/>
                </a:solidFill>
                <a:latin typeface="Arial"/>
              </a:rPr>
              <a:t>•  One row per observation</a:t>
            </a:r>
          </a:p>
          <a:p>
            <a:pPr>
              <a:spcAft>
                <a:spcPts val="900"/>
              </a:spcAft>
            </a:pPr>
            <a:r>
              <a:rPr sz="1250">
                <a:solidFill>
                  <a:srgbClr val="161B26"/>
                </a:solidFill>
                <a:latin typeface="Arial"/>
              </a:rPr>
              <a:t>•  PivotTables slice it any way you like</a:t>
            </a:r>
          </a:p>
          <a:p>
            <a:pPr>
              <a:spcAft>
                <a:spcPts val="900"/>
              </a:spcAft>
            </a:pPr>
            <a:r>
              <a:rPr sz="1250">
                <a:solidFill>
                  <a:srgbClr val="161B26"/>
                </a:solidFill>
                <a:latin typeface="Arial"/>
              </a:rPr>
              <a:t>•  A 13th month adds ROWS, not columns</a:t>
            </a:r>
          </a:p>
          <a:p>
            <a:pPr>
              <a:spcAft>
                <a:spcPts val="900"/>
              </a:spcAft>
            </a:pPr>
            <a:r>
              <a:rPr sz="1250">
                <a:solidFill>
                  <a:srgbClr val="161B26"/>
                </a:solidFill>
                <a:latin typeface="Arial"/>
              </a:rPr>
              <a:t>•  Merges and the Data Model work directly</a:t>
            </a:r>
          </a:p>
        </p:txBody>
      </p:sp>
      <p:sp>
        <p:nvSpPr>
          <p:cNvPr id="11" name="Rectangle 10"/>
          <p:cNvSpPr/>
          <p:nvPr/>
        </p:nvSpPr>
        <p:spPr>
          <a:xfrm>
            <a:off x="6355080" y="1783080"/>
            <a:ext cx="5074920" cy="2852928"/>
          </a:xfrm>
          <a:prstGeom prst="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Wide / cross-tab — 13 columns</a:t>
            </a:r>
          </a:p>
        </p:txBody>
      </p:sp>
      <p:sp>
        <p:nvSpPr>
          <p:cNvPr id="14" name="TextBox 13"/>
          <p:cNvSpPr txBox="1"/>
          <p:nvPr/>
        </p:nvSpPr>
        <p:spPr>
          <a:xfrm>
            <a:off x="6611112" y="2395728"/>
            <a:ext cx="4562856" cy="2139696"/>
          </a:xfrm>
          <a:prstGeom prst="rect">
            <a:avLst/>
          </a:prstGeom>
          <a:noFill/>
        </p:spPr>
        <p:txBody>
          <a:bodyPr wrap="square">
            <a:spAutoFit/>
          </a:bodyPr>
          <a:lstStyle/>
          <a:p>
            <a:pPr>
              <a:spcAft>
                <a:spcPts val="900"/>
              </a:spcAft>
            </a:pPr>
            <a:r>
              <a:rPr sz="1250">
                <a:solidFill>
                  <a:srgbClr val="161B26"/>
                </a:solidFill>
                <a:latin typeface="Arial"/>
              </a:rPr>
              <a:t>•  Region · Jan · Feb · Mar … Dec</a:t>
            </a:r>
          </a:p>
          <a:p>
            <a:pPr>
              <a:spcAft>
                <a:spcPts val="900"/>
              </a:spcAft>
            </a:pPr>
            <a:r>
              <a:rPr sz="1250">
                <a:solidFill>
                  <a:srgbClr val="161B26"/>
                </a:solidFill>
                <a:latin typeface="Arial"/>
              </a:rPr>
              <a:t>•  One row per region, values spread across</a:t>
            </a:r>
          </a:p>
          <a:p>
            <a:pPr>
              <a:spcAft>
                <a:spcPts val="900"/>
              </a:spcAft>
            </a:pPr>
            <a:r>
              <a:rPr sz="1250">
                <a:solidFill>
                  <a:srgbClr val="161B26"/>
                </a:solidFill>
                <a:latin typeface="Arial"/>
              </a:rPr>
              <a:t>•  A PivotTable cannot group by month</a:t>
            </a:r>
          </a:p>
          <a:p>
            <a:pPr>
              <a:spcAft>
                <a:spcPts val="900"/>
              </a:spcAft>
            </a:pPr>
            <a:r>
              <a:rPr sz="1250">
                <a:solidFill>
                  <a:srgbClr val="161B26"/>
                </a:solidFill>
                <a:latin typeface="Arial"/>
              </a:rPr>
              <a:t>•  A 13th month breaks every formula</a:t>
            </a:r>
          </a:p>
          <a:p>
            <a:pPr>
              <a:spcAft>
                <a:spcPts val="900"/>
              </a:spcAft>
            </a:pPr>
            <a:r>
              <a:rPr sz="1250">
                <a:solidFill>
                  <a:srgbClr val="161B26"/>
                </a:solidFill>
                <a:latin typeface="Arial"/>
              </a:rPr>
              <a:t>•  Readable for people, useless for analysis</a:t>
            </a:r>
          </a:p>
        </p:txBody>
      </p:sp>
      <p:sp>
        <p:nvSpPr>
          <p:cNvPr id="15" name="Rectangle 14"/>
          <p:cNvSpPr/>
          <p:nvPr/>
        </p:nvSpPr>
        <p:spPr>
          <a:xfrm>
            <a:off x="777240" y="4837176"/>
            <a:ext cx="10652760"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837176"/>
            <a:ext cx="100584"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837176"/>
            <a:ext cx="10149840" cy="640080"/>
          </a:xfrm>
          <a:prstGeom prst="rect">
            <a:avLst/>
          </a:prstGeom>
          <a:noFill/>
        </p:spPr>
        <p:txBody>
          <a:bodyPr wrap="square" anchor="ctr">
            <a:spAutoFit/>
          </a:bodyPr>
          <a:lstStyle/>
          <a:p>
            <a:pPr algn="l">
              <a:spcAft>
                <a:spcPts val="400"/>
              </a:spcAft>
            </a:pPr>
            <a:r>
              <a:rPr sz="1200" b="0">
                <a:solidFill>
                  <a:srgbClr val="5B6372"/>
                </a:solidFill>
                <a:latin typeface="Arial"/>
              </a:rPr>
              <a:t>Lab 10 turns 5 regions x 12 month columns into 60 tidy rows.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UNPIVOT WARNINGS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Three Unpivot Commands — Choose Carefully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934309" cy="475488"/>
          </a:xfrm>
          <a:prstGeom prst="rect">
            <a:avLst/>
          </a:prstGeom>
          <a:noFill/>
        </p:spPr>
        <p:txBody>
          <a:bodyPr wrap="square" anchor="ctr">
            <a:spAutoFit/>
          </a:bodyPr>
          <a:lstStyle/>
          <a:p>
            <a:pPr algn="l">
              <a:spcAft>
                <a:spcPts val="400"/>
              </a:spcAft>
            </a:pPr>
            <a:r>
              <a:rPr sz="1300" b="1">
                <a:solidFill>
                  <a:srgbClr val="FFFFFF"/>
                </a:solidFill>
                <a:latin typeface="Arial"/>
              </a:rPr>
              <a:t>Command</a:t>
            </a:r>
          </a:p>
        </p:txBody>
      </p:sp>
      <p:sp>
        <p:nvSpPr>
          <p:cNvPr id="9" name="Rectangle 8"/>
          <p:cNvSpPr/>
          <p:nvPr/>
        </p:nvSpPr>
        <p:spPr>
          <a:xfrm>
            <a:off x="3967581" y="1783080"/>
            <a:ext cx="372206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597" y="1783080"/>
            <a:ext cx="3466033" cy="475488"/>
          </a:xfrm>
          <a:prstGeom prst="rect">
            <a:avLst/>
          </a:prstGeom>
          <a:noFill/>
        </p:spPr>
        <p:txBody>
          <a:bodyPr wrap="square" anchor="ctr">
            <a:spAutoFit/>
          </a:bodyPr>
          <a:lstStyle/>
          <a:p>
            <a:pPr algn="l">
              <a:spcAft>
                <a:spcPts val="400"/>
              </a:spcAft>
            </a:pPr>
            <a:r>
              <a:rPr sz="1300" b="1">
                <a:solidFill>
                  <a:srgbClr val="FFFFFF"/>
                </a:solidFill>
                <a:latin typeface="Arial"/>
              </a:rPr>
              <a:t>What it unpivots</a:t>
            </a:r>
          </a:p>
        </p:txBody>
      </p:sp>
      <p:sp>
        <p:nvSpPr>
          <p:cNvPr id="11" name="Rectangle 10"/>
          <p:cNvSpPr/>
          <p:nvPr/>
        </p:nvSpPr>
        <p:spPr>
          <a:xfrm>
            <a:off x="7689646" y="1783080"/>
            <a:ext cx="372206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7662" y="1783080"/>
            <a:ext cx="3466033" cy="475488"/>
          </a:xfrm>
          <a:prstGeom prst="rect">
            <a:avLst/>
          </a:prstGeom>
          <a:noFill/>
        </p:spPr>
        <p:txBody>
          <a:bodyPr wrap="square" anchor="ctr">
            <a:spAutoFit/>
          </a:bodyPr>
          <a:lstStyle/>
          <a:p>
            <a:pPr algn="l">
              <a:spcAft>
                <a:spcPts val="400"/>
              </a:spcAft>
            </a:pPr>
            <a:r>
              <a:rPr sz="1300" b="1">
                <a:solidFill>
                  <a:srgbClr val="FFFFFF"/>
                </a:solidFill>
                <a:latin typeface="Arial"/>
              </a:rPr>
              <a:t>Survives a new column?</a:t>
            </a:r>
          </a:p>
        </p:txBody>
      </p:sp>
      <p:sp>
        <p:nvSpPr>
          <p:cNvPr id="13" name="Rectangle 12"/>
          <p:cNvSpPr/>
          <p:nvPr/>
        </p:nvSpPr>
        <p:spPr>
          <a:xfrm>
            <a:off x="777240" y="2258568"/>
            <a:ext cx="3190341"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2970885" cy="713232"/>
          </a:xfrm>
          <a:prstGeom prst="rect">
            <a:avLst/>
          </a:prstGeom>
          <a:noFill/>
        </p:spPr>
        <p:txBody>
          <a:bodyPr wrap="square" anchor="ctr">
            <a:spAutoFit/>
          </a:bodyPr>
          <a:lstStyle/>
          <a:p>
            <a:pPr algn="l">
              <a:spcAft>
                <a:spcPts val="400"/>
              </a:spcAft>
            </a:pPr>
            <a:r>
              <a:rPr sz="1150" b="1">
                <a:solidFill>
                  <a:srgbClr val="161B26"/>
                </a:solidFill>
                <a:latin typeface="Arial"/>
              </a:rPr>
              <a:t>Unpivot Columns</a:t>
            </a:r>
          </a:p>
        </p:txBody>
      </p:sp>
      <p:sp>
        <p:nvSpPr>
          <p:cNvPr id="15" name="Rectangle 14"/>
          <p:cNvSpPr/>
          <p:nvPr/>
        </p:nvSpPr>
        <p:spPr>
          <a:xfrm>
            <a:off x="3967581" y="2258568"/>
            <a:ext cx="372206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77309" y="2258568"/>
            <a:ext cx="3502609" cy="713232"/>
          </a:xfrm>
          <a:prstGeom prst="rect">
            <a:avLst/>
          </a:prstGeom>
          <a:noFill/>
        </p:spPr>
        <p:txBody>
          <a:bodyPr wrap="square" anchor="ctr">
            <a:spAutoFit/>
          </a:bodyPr>
          <a:lstStyle/>
          <a:p>
            <a:pPr algn="l">
              <a:spcAft>
                <a:spcPts val="400"/>
              </a:spcAft>
            </a:pPr>
            <a:r>
              <a:rPr sz="1100" b="0">
                <a:solidFill>
                  <a:srgbClr val="5B6372"/>
                </a:solidFill>
                <a:latin typeface="Arial"/>
              </a:rPr>
              <a:t>Only the columns you selected</a:t>
            </a:r>
          </a:p>
        </p:txBody>
      </p:sp>
      <p:sp>
        <p:nvSpPr>
          <p:cNvPr id="17" name="Rectangle 16"/>
          <p:cNvSpPr/>
          <p:nvPr/>
        </p:nvSpPr>
        <p:spPr>
          <a:xfrm>
            <a:off x="7689646" y="2258568"/>
            <a:ext cx="372206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99374" y="2258568"/>
            <a:ext cx="3502609" cy="713232"/>
          </a:xfrm>
          <a:prstGeom prst="rect">
            <a:avLst/>
          </a:prstGeom>
          <a:noFill/>
        </p:spPr>
        <p:txBody>
          <a:bodyPr wrap="square" anchor="ctr">
            <a:spAutoFit/>
          </a:bodyPr>
          <a:lstStyle/>
          <a:p>
            <a:pPr algn="l">
              <a:spcAft>
                <a:spcPts val="400"/>
              </a:spcAft>
            </a:pPr>
            <a:r>
              <a:rPr sz="1100" b="0">
                <a:solidFill>
                  <a:srgbClr val="5B6372"/>
                </a:solidFill>
                <a:latin typeface="Arial"/>
              </a:rPr>
              <a:t>No — the new month is ignored</a:t>
            </a:r>
          </a:p>
        </p:txBody>
      </p:sp>
      <p:sp>
        <p:nvSpPr>
          <p:cNvPr id="19" name="Rectangle 18"/>
          <p:cNvSpPr/>
          <p:nvPr/>
        </p:nvSpPr>
        <p:spPr>
          <a:xfrm>
            <a:off x="777240" y="2971800"/>
            <a:ext cx="3190341"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71800"/>
            <a:ext cx="2970885" cy="713232"/>
          </a:xfrm>
          <a:prstGeom prst="rect">
            <a:avLst/>
          </a:prstGeom>
          <a:noFill/>
        </p:spPr>
        <p:txBody>
          <a:bodyPr wrap="square" anchor="ctr">
            <a:spAutoFit/>
          </a:bodyPr>
          <a:lstStyle/>
          <a:p>
            <a:pPr algn="l">
              <a:spcAft>
                <a:spcPts val="400"/>
              </a:spcAft>
            </a:pPr>
            <a:r>
              <a:rPr sz="1150" b="1">
                <a:solidFill>
                  <a:srgbClr val="161B26"/>
                </a:solidFill>
                <a:latin typeface="Arial"/>
              </a:rPr>
              <a:t>Unpivot Other Columns</a:t>
            </a:r>
          </a:p>
        </p:txBody>
      </p:sp>
      <p:sp>
        <p:nvSpPr>
          <p:cNvPr id="21" name="Rectangle 20"/>
          <p:cNvSpPr/>
          <p:nvPr/>
        </p:nvSpPr>
        <p:spPr>
          <a:xfrm>
            <a:off x="3967581" y="2971800"/>
            <a:ext cx="372206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2971800"/>
            <a:ext cx="3502609" cy="713232"/>
          </a:xfrm>
          <a:prstGeom prst="rect">
            <a:avLst/>
          </a:prstGeom>
          <a:noFill/>
        </p:spPr>
        <p:txBody>
          <a:bodyPr wrap="square" anchor="ctr">
            <a:spAutoFit/>
          </a:bodyPr>
          <a:lstStyle/>
          <a:p>
            <a:pPr algn="l">
              <a:spcAft>
                <a:spcPts val="400"/>
              </a:spcAft>
            </a:pPr>
            <a:r>
              <a:rPr sz="1100" b="0">
                <a:solidFill>
                  <a:srgbClr val="5B6372"/>
                </a:solidFill>
                <a:latin typeface="Arial"/>
              </a:rPr>
              <a:t>Everything EXCEPT your selection</a:t>
            </a:r>
          </a:p>
        </p:txBody>
      </p:sp>
      <p:sp>
        <p:nvSpPr>
          <p:cNvPr id="23" name="Rectangle 22"/>
          <p:cNvSpPr/>
          <p:nvPr/>
        </p:nvSpPr>
        <p:spPr>
          <a:xfrm>
            <a:off x="7689646" y="2971800"/>
            <a:ext cx="372206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99374" y="2971800"/>
            <a:ext cx="3502609" cy="713232"/>
          </a:xfrm>
          <a:prstGeom prst="rect">
            <a:avLst/>
          </a:prstGeom>
          <a:noFill/>
        </p:spPr>
        <p:txBody>
          <a:bodyPr wrap="square" anchor="ctr">
            <a:spAutoFit/>
          </a:bodyPr>
          <a:lstStyle/>
          <a:p>
            <a:pPr algn="l">
              <a:spcAft>
                <a:spcPts val="400"/>
              </a:spcAft>
            </a:pPr>
            <a:r>
              <a:rPr sz="1100" b="0">
                <a:solidFill>
                  <a:srgbClr val="5B6372"/>
                </a:solidFill>
                <a:latin typeface="Arial"/>
              </a:rPr>
              <a:t>Yes — this is the safe one</a:t>
            </a:r>
          </a:p>
        </p:txBody>
      </p:sp>
      <p:sp>
        <p:nvSpPr>
          <p:cNvPr id="25" name="Rectangle 24"/>
          <p:cNvSpPr/>
          <p:nvPr/>
        </p:nvSpPr>
        <p:spPr>
          <a:xfrm>
            <a:off x="777240" y="3685032"/>
            <a:ext cx="3190341"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85032"/>
            <a:ext cx="2970885" cy="713232"/>
          </a:xfrm>
          <a:prstGeom prst="rect">
            <a:avLst/>
          </a:prstGeom>
          <a:noFill/>
        </p:spPr>
        <p:txBody>
          <a:bodyPr wrap="square" anchor="ctr">
            <a:spAutoFit/>
          </a:bodyPr>
          <a:lstStyle/>
          <a:p>
            <a:pPr algn="l">
              <a:spcAft>
                <a:spcPts val="400"/>
              </a:spcAft>
            </a:pPr>
            <a:r>
              <a:rPr sz="1150" b="1">
                <a:solidFill>
                  <a:srgbClr val="161B26"/>
                </a:solidFill>
                <a:latin typeface="Arial"/>
              </a:rPr>
              <a:t>Unpivot Only Selected</a:t>
            </a:r>
          </a:p>
        </p:txBody>
      </p:sp>
      <p:sp>
        <p:nvSpPr>
          <p:cNvPr id="27" name="Rectangle 26"/>
          <p:cNvSpPr/>
          <p:nvPr/>
        </p:nvSpPr>
        <p:spPr>
          <a:xfrm>
            <a:off x="3967581" y="3685032"/>
            <a:ext cx="372206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77309" y="3685032"/>
            <a:ext cx="3502609" cy="713232"/>
          </a:xfrm>
          <a:prstGeom prst="rect">
            <a:avLst/>
          </a:prstGeom>
          <a:noFill/>
        </p:spPr>
        <p:txBody>
          <a:bodyPr wrap="square" anchor="ctr">
            <a:spAutoFit/>
          </a:bodyPr>
          <a:lstStyle/>
          <a:p>
            <a:pPr algn="l">
              <a:spcAft>
                <a:spcPts val="400"/>
              </a:spcAft>
            </a:pPr>
            <a:r>
              <a:rPr sz="1100" b="0">
                <a:solidFill>
                  <a:srgbClr val="5B6372"/>
                </a:solidFill>
                <a:latin typeface="Arial"/>
              </a:rPr>
              <a:t>Only that selection, fixed forever</a:t>
            </a:r>
          </a:p>
        </p:txBody>
      </p:sp>
      <p:sp>
        <p:nvSpPr>
          <p:cNvPr id="29" name="Rectangle 28"/>
          <p:cNvSpPr/>
          <p:nvPr/>
        </p:nvSpPr>
        <p:spPr>
          <a:xfrm>
            <a:off x="7689646" y="3685032"/>
            <a:ext cx="372206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99374" y="3685032"/>
            <a:ext cx="3502609" cy="713232"/>
          </a:xfrm>
          <a:prstGeom prst="rect">
            <a:avLst/>
          </a:prstGeom>
          <a:noFill/>
        </p:spPr>
        <p:txBody>
          <a:bodyPr wrap="square" anchor="ctr">
            <a:spAutoFit/>
          </a:bodyPr>
          <a:lstStyle/>
          <a:p>
            <a:pPr algn="l">
              <a:spcAft>
                <a:spcPts val="400"/>
              </a:spcAft>
            </a:pPr>
            <a:r>
              <a:rPr sz="1100" b="0">
                <a:solidFill>
                  <a:srgbClr val="5B6372"/>
                </a:solidFill>
                <a:latin typeface="Arial"/>
              </a:rPr>
              <a:t>No — silently misses it</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Select the columns you want to KEEP, then Unpivot Other Columns. Your query then survives next year's extra month without any edit.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Unpivot a Wide Report into Tidy Rows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10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monthly sales report is laid out with one column per month — readable for a human, useless for a PivotTable.</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tidy long-format sales table with Month and Sales columns.</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The result has exactly three columns (Region, Month, Sales) and a row count of regions x months.</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LO2 · A2 · K2, K3 — Unpivot columns, and choose between Unpivot Other Columns and Unpivot Only Selected.</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10</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lab-10-unpivot.xlsx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Unpivot  ·  Full step-by-step: Learner Guide, Lab 10</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PIVOT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Pivot — the Reverse Trip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128016" cy="1371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828800"/>
            <a:ext cx="10058400" cy="1371600"/>
          </a:xfrm>
          <a:prstGeom prst="rect">
            <a:avLst/>
          </a:prstGeom>
          <a:noFill/>
        </p:spPr>
        <p:txBody>
          <a:bodyPr wrap="square" anchor="ctr">
            <a:spAutoFit/>
          </a:bodyPr>
          <a:lstStyle/>
          <a:p>
            <a:pPr algn="l">
              <a:spcAft>
                <a:spcPts val="400"/>
              </a:spcAft>
            </a:pPr>
            <a:r>
              <a:rPr sz="2000" b="1">
                <a:solidFill>
                  <a:srgbClr val="161B26"/>
                </a:solidFill>
                <a:latin typeface="Arial"/>
              </a:rPr>
              <a:t>Pivot Column turns rows back into columns. The Don't Aggregate option is the one that matters.</a:t>
            </a:r>
          </a:p>
        </p:txBody>
      </p:sp>
      <p:sp>
        <p:nvSpPr>
          <p:cNvPr id="10" name="Rectangle 9"/>
          <p:cNvSpPr/>
          <p:nvPr/>
        </p:nvSpPr>
        <p:spPr>
          <a:xfrm>
            <a:off x="777240"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52044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749039"/>
            <a:ext cx="2926080" cy="457200"/>
          </a:xfrm>
          <a:prstGeom prst="rect">
            <a:avLst/>
          </a:prstGeom>
          <a:noFill/>
        </p:spPr>
        <p:txBody>
          <a:bodyPr wrap="square" anchor="t">
            <a:spAutoFit/>
          </a:bodyPr>
          <a:lstStyle/>
          <a:p>
            <a:pPr algn="l">
              <a:spcAft>
                <a:spcPts val="400"/>
              </a:spcAft>
            </a:pPr>
            <a:r>
              <a:rPr sz="1400" b="1">
                <a:solidFill>
                  <a:srgbClr val="1F6FEB"/>
                </a:solidFill>
                <a:latin typeface="Arial"/>
              </a:rPr>
              <a:t>Default: aggregate</a:t>
            </a:r>
          </a:p>
        </p:txBody>
      </p:sp>
      <p:sp>
        <p:nvSpPr>
          <p:cNvPr id="13" name="TextBox 12"/>
          <p:cNvSpPr txBox="1"/>
          <p:nvPr/>
        </p:nvSpPr>
        <p:spPr>
          <a:xfrm>
            <a:off x="1014984"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Pivot sums or counts the values — right for numbers, wrong for text.</a:t>
            </a:r>
          </a:p>
        </p:txBody>
      </p:sp>
      <p:sp>
        <p:nvSpPr>
          <p:cNvPr id="14" name="Rectangle 13"/>
          <p:cNvSpPr/>
          <p:nvPr/>
        </p:nvSpPr>
        <p:spPr>
          <a:xfrm>
            <a:off x="4425696"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352044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749039"/>
            <a:ext cx="2926080" cy="457200"/>
          </a:xfrm>
          <a:prstGeom prst="rect">
            <a:avLst/>
          </a:prstGeom>
          <a:noFill/>
        </p:spPr>
        <p:txBody>
          <a:bodyPr wrap="square" anchor="t">
            <a:spAutoFit/>
          </a:bodyPr>
          <a:lstStyle/>
          <a:p>
            <a:pPr algn="l">
              <a:spcAft>
                <a:spcPts val="400"/>
              </a:spcAft>
            </a:pPr>
            <a:r>
              <a:rPr sz="1400" b="1">
                <a:solidFill>
                  <a:srgbClr val="10B981"/>
                </a:solidFill>
                <a:latin typeface="Arial"/>
              </a:rPr>
              <a:t>Don't Aggregate</a:t>
            </a:r>
          </a:p>
        </p:txBody>
      </p:sp>
      <p:sp>
        <p:nvSpPr>
          <p:cNvPr id="17" name="TextBox 16"/>
          <p:cNvSpPr txBox="1"/>
          <p:nvPr/>
        </p:nvSpPr>
        <p:spPr>
          <a:xfrm>
            <a:off x="4663440"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Keeps each individual value. Use it for attributes like Warranty or Supplier.</a:t>
            </a:r>
          </a:p>
        </p:txBody>
      </p:sp>
      <p:sp>
        <p:nvSpPr>
          <p:cNvPr id="18" name="Rectangle 17"/>
          <p:cNvSpPr/>
          <p:nvPr/>
        </p:nvSpPr>
        <p:spPr>
          <a:xfrm>
            <a:off x="8074152"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352044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3749039"/>
            <a:ext cx="2926080" cy="457200"/>
          </a:xfrm>
          <a:prstGeom prst="rect">
            <a:avLst/>
          </a:prstGeom>
          <a:noFill/>
        </p:spPr>
        <p:txBody>
          <a:bodyPr wrap="square" anchor="t">
            <a:spAutoFit/>
          </a:bodyPr>
          <a:lstStyle/>
          <a:p>
            <a:pPr algn="l">
              <a:spcAft>
                <a:spcPts val="400"/>
              </a:spcAft>
            </a:pPr>
            <a:r>
              <a:rPr sz="1400" b="1">
                <a:solidFill>
                  <a:srgbClr val="7C3AED"/>
                </a:solidFill>
                <a:latin typeface="Arial"/>
              </a:rPr>
              <a:t>Error if duplicated</a:t>
            </a:r>
          </a:p>
        </p:txBody>
      </p:sp>
      <p:sp>
        <p:nvSpPr>
          <p:cNvPr id="21" name="TextBox 20"/>
          <p:cNvSpPr txBox="1"/>
          <p:nvPr/>
        </p:nvSpPr>
        <p:spPr>
          <a:xfrm>
            <a:off x="8311896"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Don't Aggregate fails when a key repeats — there would be two values for one cell.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APPEND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Append — Stacking 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828800"/>
            <a:ext cx="10058400" cy="1371600"/>
          </a:xfrm>
          <a:prstGeom prst="rect">
            <a:avLst/>
          </a:prstGeom>
          <a:noFill/>
        </p:spPr>
        <p:txBody>
          <a:bodyPr wrap="square" anchor="ctr">
            <a:spAutoFit/>
          </a:bodyPr>
          <a:lstStyle/>
          <a:p>
            <a:pPr algn="l">
              <a:spcAft>
                <a:spcPts val="400"/>
              </a:spcAft>
            </a:pPr>
            <a:r>
              <a:rPr sz="2000" b="1">
                <a:solidFill>
                  <a:srgbClr val="161B26"/>
                </a:solidFill>
                <a:latin typeface="Arial"/>
              </a:rPr>
              <a:t>Append adds ROWS. Merge adds COLUMNS. Confusing the two is the classic beginner error.</a:t>
            </a:r>
          </a:p>
        </p:txBody>
      </p:sp>
      <p:sp>
        <p:nvSpPr>
          <p:cNvPr id="10" name="Rectangle 9"/>
          <p:cNvSpPr/>
          <p:nvPr/>
        </p:nvSpPr>
        <p:spPr>
          <a:xfrm>
            <a:off x="777240"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52044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749039"/>
            <a:ext cx="2926080" cy="457200"/>
          </a:xfrm>
          <a:prstGeom prst="rect">
            <a:avLst/>
          </a:prstGeom>
          <a:noFill/>
        </p:spPr>
        <p:txBody>
          <a:bodyPr wrap="square" anchor="t">
            <a:spAutoFit/>
          </a:bodyPr>
          <a:lstStyle/>
          <a:p>
            <a:pPr algn="l">
              <a:spcAft>
                <a:spcPts val="400"/>
              </a:spcAft>
            </a:pPr>
            <a:r>
              <a:rPr sz="1400" b="1">
                <a:solidFill>
                  <a:srgbClr val="1F6FEB"/>
                </a:solidFill>
                <a:latin typeface="Arial"/>
              </a:rPr>
              <a:t>Column names must match</a:t>
            </a:r>
          </a:p>
        </p:txBody>
      </p:sp>
      <p:sp>
        <p:nvSpPr>
          <p:cNvPr id="13" name="TextBox 12"/>
          <p:cNvSpPr txBox="1"/>
          <p:nvPr/>
        </p:nvSpPr>
        <p:spPr>
          <a:xfrm>
            <a:off x="1014984"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Exactly — including case and spaces. A mismatch creates a new column of nulls.</a:t>
            </a:r>
          </a:p>
        </p:txBody>
      </p:sp>
      <p:sp>
        <p:nvSpPr>
          <p:cNvPr id="14" name="Rectangle 13"/>
          <p:cNvSpPr/>
          <p:nvPr/>
        </p:nvSpPr>
        <p:spPr>
          <a:xfrm>
            <a:off x="4425696"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352044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749039"/>
            <a:ext cx="2926080" cy="457200"/>
          </a:xfrm>
          <a:prstGeom prst="rect">
            <a:avLst/>
          </a:prstGeom>
          <a:noFill/>
        </p:spPr>
        <p:txBody>
          <a:bodyPr wrap="square" anchor="t">
            <a:spAutoFit/>
          </a:bodyPr>
          <a:lstStyle/>
          <a:p>
            <a:pPr algn="l">
              <a:spcAft>
                <a:spcPts val="400"/>
              </a:spcAft>
            </a:pPr>
            <a:r>
              <a:rPr sz="1400" b="1">
                <a:solidFill>
                  <a:srgbClr val="10B981"/>
                </a:solidFill>
                <a:latin typeface="Arial"/>
              </a:rPr>
              <a:t>Two or more tables</a:t>
            </a:r>
          </a:p>
        </p:txBody>
      </p:sp>
      <p:sp>
        <p:nvSpPr>
          <p:cNvPr id="17" name="TextBox 16"/>
          <p:cNvSpPr txBox="1"/>
          <p:nvPr/>
        </p:nvSpPr>
        <p:spPr>
          <a:xfrm>
            <a:off x="4663440"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'Append Queries as New' keeps the sources intact and creates a third query.</a:t>
            </a:r>
          </a:p>
        </p:txBody>
      </p:sp>
      <p:sp>
        <p:nvSpPr>
          <p:cNvPr id="18" name="Rectangle 17"/>
          <p:cNvSpPr/>
          <p:nvPr/>
        </p:nvSpPr>
        <p:spPr>
          <a:xfrm>
            <a:off x="8074152"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352044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3749039"/>
            <a:ext cx="2926080" cy="457200"/>
          </a:xfrm>
          <a:prstGeom prst="rect">
            <a:avLst/>
          </a:prstGeom>
          <a:noFill/>
        </p:spPr>
        <p:txBody>
          <a:bodyPr wrap="square" anchor="t">
            <a:spAutoFit/>
          </a:bodyPr>
          <a:lstStyle/>
          <a:p>
            <a:pPr algn="l">
              <a:spcAft>
                <a:spcPts val="400"/>
              </a:spcAft>
            </a:pPr>
            <a:r>
              <a:rPr sz="1400" b="1">
                <a:solidFill>
                  <a:srgbClr val="7C3AED"/>
                </a:solidFill>
                <a:latin typeface="Arial"/>
              </a:rPr>
              <a:t>The monthly-file pattern</a:t>
            </a:r>
          </a:p>
        </p:txBody>
      </p:sp>
      <p:sp>
        <p:nvSpPr>
          <p:cNvPr id="21" name="TextBox 20"/>
          <p:cNvSpPr txBox="1"/>
          <p:nvPr/>
        </p:nvSpPr>
        <p:spPr>
          <a:xfrm>
            <a:off x="8311896"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Append Q1 and Q2, or point From Folder at a folder of identical files.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Pivot, Pivot Without Aggregation, and Append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11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learner reverses an unpivot to rebuild a cross-tab, meets the Don't Aggregate option that preserves individual values instead of summing them, and then appends the Q1 and Q2 extracts into a single continuous table.</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pivoted cross-tab plus an appended half-year table.</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HalfYear's row count equals Q1 rows plus Q2 rows, with no column of all nulls.</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LO2 · A2 · K2, K3 — Pivot a column, use Don't Aggregate, and append queries.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11</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lab-11-pivot-append.xlsx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Pivot Column, Append Queries  ·  Full step-by-step: Learner Guide, Lab 11</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GROUP BY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Group By — Aggregating Inside the Query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Count Rows</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How many orders per region — the most common aggregation.</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Sum</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Total sales value per group.</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Average / Min / Max</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Typical, smallest and largest order in each group.</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All Rows</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Keeps the underlying detail rows nested for later drill-through.</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1F6FEB"/>
                </a:solidFill>
                <a:latin typeface="Arial"/>
              </a:rPr>
              <a:t>BASIC VS ADVANCED</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Basic groups by one column with one aggregation. Switch to ADVANCED to group by several columns and add several aggregations at once — that is what Lab 12 does with 400 transactions.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Summarise with Group By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12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Rather than loading 20,000 transaction rows into the grid, the learner aggregates them inside the query. The lab covers basic and advanced Group By, multiple aggregations, grouping on more than one column, and keeping the underlying rows with All Rows.</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regional sales summary with count, sum and average in one query.</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Total Sales across all groups equals the grand total of the source Amount column.</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LO2 · A2 · K1, K3 — Aggregate rows to a summary grain with Group By.</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12</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lab-12-group-by.xlsx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Group By  ·  Full step-by-step: Learner Guide, Lab 12</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2 · POWER PIVOT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Power Pivot is where the tables meet.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Power Query shapes each table; the Data Model relates them and DAX measures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THE FULL STACK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Power Query and Power Pivot — the Division of Labour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Power Query</a:t>
            </a:r>
          </a:p>
        </p:txBody>
      </p:sp>
      <p:sp>
        <p:nvSpPr>
          <p:cNvPr id="12" name="TextBox 11"/>
          <p:cNvSpPr txBox="1"/>
          <p:nvPr/>
        </p:nvSpPr>
        <p:spPr>
          <a:xfrm>
            <a:off x="850392"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Get and shape each table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Model</a:t>
            </a:r>
          </a:p>
        </p:txBody>
      </p:sp>
      <p:sp>
        <p:nvSpPr>
          <p:cNvPr id="19" name="TextBox 18"/>
          <p:cNvSpPr txBox="1"/>
          <p:nvPr/>
        </p:nvSpPr>
        <p:spPr>
          <a:xfrm>
            <a:off x="3054096"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Load tables in, no grid</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Relationships</a:t>
            </a:r>
          </a:p>
        </p:txBody>
      </p:sp>
      <p:sp>
        <p:nvSpPr>
          <p:cNvPr id="26" name="TextBox 25"/>
          <p:cNvSpPr txBox="1"/>
          <p:nvPr/>
        </p:nvSpPr>
        <p:spPr>
          <a:xfrm>
            <a:off x="5257800"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Join fact to lookup</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DAX Measures</a:t>
            </a:r>
          </a:p>
        </p:txBody>
      </p:sp>
      <p:sp>
        <p:nvSpPr>
          <p:cNvPr id="33" name="TextBox 32"/>
          <p:cNvSpPr txBox="1"/>
          <p:nvPr/>
        </p:nvSpPr>
        <p:spPr>
          <a:xfrm>
            <a:off x="7461504"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Calculate on demand</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PivotTable</a:t>
            </a:r>
          </a:p>
        </p:txBody>
      </p:sp>
      <p:sp>
        <p:nvSpPr>
          <p:cNvPr id="40" name="TextBox 39"/>
          <p:cNvSpPr txBox="1"/>
          <p:nvPr/>
        </p:nvSpPr>
        <p:spPr>
          <a:xfrm>
            <a:off x="9665208"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Slice and report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RULE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Shape in Power Query. Relate and calculate in Power Pivot. Doing row-level clean-up in DAX, or trying to relate tables in M, fights the tools.</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THE DATA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Star Schema — Fact and Lookup 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296241" cy="475488"/>
          </a:xfrm>
          <a:prstGeom prst="rect">
            <a:avLst/>
          </a:prstGeom>
          <a:noFill/>
        </p:spPr>
        <p:txBody>
          <a:bodyPr wrap="square" anchor="ctr">
            <a:spAutoFit/>
          </a:bodyPr>
          <a:lstStyle/>
          <a:p>
            <a:pPr algn="l">
              <a:spcAft>
                <a:spcPts val="400"/>
              </a:spcAft>
            </a:pPr>
            <a:r>
              <a:rPr sz="1300" b="1">
                <a:solidFill>
                  <a:srgbClr val="FFFFFF"/>
                </a:solidFill>
                <a:latin typeface="Arial"/>
              </a:rPr>
              <a:t>Table</a:t>
            </a:r>
          </a:p>
        </p:txBody>
      </p:sp>
      <p:sp>
        <p:nvSpPr>
          <p:cNvPr id="9" name="Rectangle 8"/>
          <p:cNvSpPr/>
          <p:nvPr/>
        </p:nvSpPr>
        <p:spPr>
          <a:xfrm>
            <a:off x="3329513" y="1783080"/>
            <a:ext cx="4041099"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7529" y="1783080"/>
            <a:ext cx="3785067" cy="475488"/>
          </a:xfrm>
          <a:prstGeom prst="rect">
            <a:avLst/>
          </a:prstGeom>
          <a:noFill/>
        </p:spPr>
        <p:txBody>
          <a:bodyPr wrap="square" anchor="ctr">
            <a:spAutoFit/>
          </a:bodyPr>
          <a:lstStyle/>
          <a:p>
            <a:pPr algn="l">
              <a:spcAft>
                <a:spcPts val="400"/>
              </a:spcAft>
            </a:pPr>
            <a:r>
              <a:rPr sz="1300" b="1">
                <a:solidFill>
                  <a:srgbClr val="FFFFFF"/>
                </a:solidFill>
                <a:latin typeface="Arial"/>
              </a:rPr>
              <a:t>Kind</a:t>
            </a:r>
          </a:p>
        </p:txBody>
      </p:sp>
      <p:sp>
        <p:nvSpPr>
          <p:cNvPr id="11" name="Rectangle 10"/>
          <p:cNvSpPr/>
          <p:nvPr/>
        </p:nvSpPr>
        <p:spPr>
          <a:xfrm>
            <a:off x="7370612" y="1783080"/>
            <a:ext cx="4041099"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628" y="1783080"/>
            <a:ext cx="3785067" cy="475488"/>
          </a:xfrm>
          <a:prstGeom prst="rect">
            <a:avLst/>
          </a:prstGeom>
          <a:noFill/>
        </p:spPr>
        <p:txBody>
          <a:bodyPr wrap="square" anchor="ctr">
            <a:spAutoFit/>
          </a:bodyPr>
          <a:lstStyle/>
          <a:p>
            <a:pPr algn="l">
              <a:spcAft>
                <a:spcPts val="400"/>
              </a:spcAft>
            </a:pPr>
            <a:r>
              <a:rPr sz="1300" b="1">
                <a:solidFill>
                  <a:srgbClr val="FFFFFF"/>
                </a:solidFill>
                <a:latin typeface="Arial"/>
              </a:rPr>
              <a:t>What it holds</a:t>
            </a:r>
          </a:p>
        </p:txBody>
      </p:sp>
      <p:sp>
        <p:nvSpPr>
          <p:cNvPr id="13" name="Rectangle 12"/>
          <p:cNvSpPr/>
          <p:nvPr/>
        </p:nvSpPr>
        <p:spPr>
          <a:xfrm>
            <a:off x="777240" y="2258568"/>
            <a:ext cx="2552273"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2332817" cy="713232"/>
          </a:xfrm>
          <a:prstGeom prst="rect">
            <a:avLst/>
          </a:prstGeom>
          <a:noFill/>
        </p:spPr>
        <p:txBody>
          <a:bodyPr wrap="square" anchor="ctr">
            <a:spAutoFit/>
          </a:bodyPr>
          <a:lstStyle/>
          <a:p>
            <a:pPr algn="l">
              <a:spcAft>
                <a:spcPts val="400"/>
              </a:spcAft>
            </a:pPr>
            <a:r>
              <a:rPr sz="1150" b="1">
                <a:solidFill>
                  <a:srgbClr val="161B26"/>
                </a:solidFill>
                <a:latin typeface="Arial"/>
              </a:rPr>
              <a:t>Sales</a:t>
            </a:r>
          </a:p>
        </p:txBody>
      </p:sp>
      <p:sp>
        <p:nvSpPr>
          <p:cNvPr id="15" name="Rectangle 14"/>
          <p:cNvSpPr/>
          <p:nvPr/>
        </p:nvSpPr>
        <p:spPr>
          <a:xfrm>
            <a:off x="3329513" y="2258568"/>
            <a:ext cx="4041099"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258568"/>
            <a:ext cx="3821643" cy="713232"/>
          </a:xfrm>
          <a:prstGeom prst="rect">
            <a:avLst/>
          </a:prstGeom>
          <a:noFill/>
        </p:spPr>
        <p:txBody>
          <a:bodyPr wrap="square" anchor="ctr">
            <a:spAutoFit/>
          </a:bodyPr>
          <a:lstStyle/>
          <a:p>
            <a:pPr algn="l">
              <a:spcAft>
                <a:spcPts val="400"/>
              </a:spcAft>
            </a:pPr>
            <a:r>
              <a:rPr sz="1100" b="0">
                <a:solidFill>
                  <a:srgbClr val="5B6372"/>
                </a:solidFill>
                <a:latin typeface="Arial"/>
              </a:rPr>
              <a:t>Fact</a:t>
            </a:r>
          </a:p>
        </p:txBody>
      </p:sp>
      <p:sp>
        <p:nvSpPr>
          <p:cNvPr id="17" name="Rectangle 16"/>
          <p:cNvSpPr/>
          <p:nvPr/>
        </p:nvSpPr>
        <p:spPr>
          <a:xfrm>
            <a:off x="7370612" y="2258568"/>
            <a:ext cx="4041099"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40" y="2258568"/>
            <a:ext cx="3821643" cy="713232"/>
          </a:xfrm>
          <a:prstGeom prst="rect">
            <a:avLst/>
          </a:prstGeom>
          <a:noFill/>
        </p:spPr>
        <p:txBody>
          <a:bodyPr wrap="square" anchor="ctr">
            <a:spAutoFit/>
          </a:bodyPr>
          <a:lstStyle/>
          <a:p>
            <a:pPr algn="l">
              <a:spcAft>
                <a:spcPts val="400"/>
              </a:spcAft>
            </a:pPr>
            <a:r>
              <a:rPr sz="1100" b="0">
                <a:solidFill>
                  <a:srgbClr val="5B6372"/>
                </a:solidFill>
                <a:latin typeface="Arial"/>
              </a:rPr>
              <a:t>One row per transaction — the numbers you measure</a:t>
            </a:r>
          </a:p>
        </p:txBody>
      </p:sp>
      <p:sp>
        <p:nvSpPr>
          <p:cNvPr id="19" name="Rectangle 18"/>
          <p:cNvSpPr/>
          <p:nvPr/>
        </p:nvSpPr>
        <p:spPr>
          <a:xfrm>
            <a:off x="777240" y="2971800"/>
            <a:ext cx="2552273"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971800"/>
            <a:ext cx="2332817" cy="713232"/>
          </a:xfrm>
          <a:prstGeom prst="rect">
            <a:avLst/>
          </a:prstGeom>
          <a:noFill/>
        </p:spPr>
        <p:txBody>
          <a:bodyPr wrap="square" anchor="ctr">
            <a:spAutoFit/>
          </a:bodyPr>
          <a:lstStyle/>
          <a:p>
            <a:pPr algn="l">
              <a:spcAft>
                <a:spcPts val="400"/>
              </a:spcAft>
            </a:pPr>
            <a:r>
              <a:rPr sz="1150" b="1">
                <a:solidFill>
                  <a:srgbClr val="161B26"/>
                </a:solidFill>
                <a:latin typeface="Arial"/>
              </a:rPr>
              <a:t>Products</a:t>
            </a:r>
          </a:p>
        </p:txBody>
      </p:sp>
      <p:sp>
        <p:nvSpPr>
          <p:cNvPr id="21" name="Rectangle 20"/>
          <p:cNvSpPr/>
          <p:nvPr/>
        </p:nvSpPr>
        <p:spPr>
          <a:xfrm>
            <a:off x="3329513" y="2971800"/>
            <a:ext cx="4041099"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2971800"/>
            <a:ext cx="3821643" cy="713232"/>
          </a:xfrm>
          <a:prstGeom prst="rect">
            <a:avLst/>
          </a:prstGeom>
          <a:noFill/>
        </p:spPr>
        <p:txBody>
          <a:bodyPr wrap="square" anchor="ctr">
            <a:spAutoFit/>
          </a:bodyPr>
          <a:lstStyle/>
          <a:p>
            <a:pPr algn="l">
              <a:spcAft>
                <a:spcPts val="400"/>
              </a:spcAft>
            </a:pPr>
            <a:r>
              <a:rPr sz="1100" b="0">
                <a:solidFill>
                  <a:srgbClr val="5B6372"/>
                </a:solidFill>
                <a:latin typeface="Arial"/>
              </a:rPr>
              <a:t>Lookup / Dimension</a:t>
            </a:r>
          </a:p>
        </p:txBody>
      </p:sp>
      <p:sp>
        <p:nvSpPr>
          <p:cNvPr id="23" name="Rectangle 22"/>
          <p:cNvSpPr/>
          <p:nvPr/>
        </p:nvSpPr>
        <p:spPr>
          <a:xfrm>
            <a:off x="7370612" y="2971800"/>
            <a:ext cx="4041099"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40" y="2971800"/>
            <a:ext cx="3821643" cy="713232"/>
          </a:xfrm>
          <a:prstGeom prst="rect">
            <a:avLst/>
          </a:prstGeom>
          <a:noFill/>
        </p:spPr>
        <p:txBody>
          <a:bodyPr wrap="square" anchor="ctr">
            <a:spAutoFit/>
          </a:bodyPr>
          <a:lstStyle/>
          <a:p>
            <a:pPr algn="l">
              <a:spcAft>
                <a:spcPts val="400"/>
              </a:spcAft>
            </a:pPr>
            <a:r>
              <a:rPr sz="1100" b="0">
                <a:solidFill>
                  <a:srgbClr val="5B6372"/>
                </a:solidFill>
                <a:latin typeface="Arial"/>
              </a:rPr>
              <a:t>One row per product — how you slice</a:t>
            </a:r>
          </a:p>
        </p:txBody>
      </p:sp>
      <p:sp>
        <p:nvSpPr>
          <p:cNvPr id="25" name="Rectangle 24"/>
          <p:cNvSpPr/>
          <p:nvPr/>
        </p:nvSpPr>
        <p:spPr>
          <a:xfrm>
            <a:off x="777240" y="3685032"/>
            <a:ext cx="2552273"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85032"/>
            <a:ext cx="2332817" cy="713232"/>
          </a:xfrm>
          <a:prstGeom prst="rect">
            <a:avLst/>
          </a:prstGeom>
          <a:noFill/>
        </p:spPr>
        <p:txBody>
          <a:bodyPr wrap="square" anchor="ctr">
            <a:spAutoFit/>
          </a:bodyPr>
          <a:lstStyle/>
          <a:p>
            <a:pPr algn="l">
              <a:spcAft>
                <a:spcPts val="400"/>
              </a:spcAft>
            </a:pPr>
            <a:r>
              <a:rPr sz="1150" b="1">
                <a:solidFill>
                  <a:srgbClr val="161B26"/>
                </a:solidFill>
                <a:latin typeface="Arial"/>
              </a:rPr>
              <a:t>Calendar</a:t>
            </a:r>
          </a:p>
        </p:txBody>
      </p:sp>
      <p:sp>
        <p:nvSpPr>
          <p:cNvPr id="27" name="Rectangle 26"/>
          <p:cNvSpPr/>
          <p:nvPr/>
        </p:nvSpPr>
        <p:spPr>
          <a:xfrm>
            <a:off x="3329513" y="3685032"/>
            <a:ext cx="4041099"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685032"/>
            <a:ext cx="3821643" cy="713232"/>
          </a:xfrm>
          <a:prstGeom prst="rect">
            <a:avLst/>
          </a:prstGeom>
          <a:noFill/>
        </p:spPr>
        <p:txBody>
          <a:bodyPr wrap="square" anchor="ctr">
            <a:spAutoFit/>
          </a:bodyPr>
          <a:lstStyle/>
          <a:p>
            <a:pPr algn="l">
              <a:spcAft>
                <a:spcPts val="400"/>
              </a:spcAft>
            </a:pPr>
            <a:r>
              <a:rPr sz="1100" b="0">
                <a:solidFill>
                  <a:srgbClr val="5B6372"/>
                </a:solidFill>
                <a:latin typeface="Arial"/>
              </a:rPr>
              <a:t>Lookup / Dimension</a:t>
            </a:r>
          </a:p>
        </p:txBody>
      </p:sp>
      <p:sp>
        <p:nvSpPr>
          <p:cNvPr id="29" name="Rectangle 28"/>
          <p:cNvSpPr/>
          <p:nvPr/>
        </p:nvSpPr>
        <p:spPr>
          <a:xfrm>
            <a:off x="7370612" y="3685032"/>
            <a:ext cx="4041099"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40" y="3685032"/>
            <a:ext cx="3821643" cy="713232"/>
          </a:xfrm>
          <a:prstGeom prst="rect">
            <a:avLst/>
          </a:prstGeom>
          <a:noFill/>
        </p:spPr>
        <p:txBody>
          <a:bodyPr wrap="square" anchor="ctr">
            <a:spAutoFit/>
          </a:bodyPr>
          <a:lstStyle/>
          <a:p>
            <a:pPr algn="l">
              <a:spcAft>
                <a:spcPts val="400"/>
              </a:spcAft>
            </a:pPr>
            <a:r>
              <a:rPr sz="1100" b="0">
                <a:solidFill>
                  <a:srgbClr val="5B6372"/>
                </a:solidFill>
                <a:latin typeface="Arial"/>
              </a:rPr>
              <a:t>One row per date — time intelligence</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Relationships run ONE-TO-MANY from the lookup table to the fact table. Lab 13 builds exactly this three-table model.</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DAX MEASURES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Implicit vs Explicit Measures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74920" cy="2852928"/>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7492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Explicit measure (do this)</a:t>
            </a:r>
          </a:p>
        </p:txBody>
      </p:sp>
      <p:sp>
        <p:nvSpPr>
          <p:cNvPr id="10" name="TextBox 9"/>
          <p:cNvSpPr txBox="1"/>
          <p:nvPr/>
        </p:nvSpPr>
        <p:spPr>
          <a:xfrm>
            <a:off x="1033272" y="2395728"/>
            <a:ext cx="4562856" cy="2139696"/>
          </a:xfrm>
          <a:prstGeom prst="rect">
            <a:avLst/>
          </a:prstGeom>
          <a:noFill/>
        </p:spPr>
        <p:txBody>
          <a:bodyPr wrap="square">
            <a:spAutoFit/>
          </a:bodyPr>
          <a:lstStyle/>
          <a:p>
            <a:pPr>
              <a:spcAft>
                <a:spcPts val="900"/>
              </a:spcAft>
            </a:pPr>
            <a:r>
              <a:rPr sz="1250">
                <a:solidFill>
                  <a:srgbClr val="161B26"/>
                </a:solidFill>
                <a:latin typeface="Arial"/>
              </a:rPr>
              <a:t>•  Written once in the Calculation Area</a:t>
            </a:r>
          </a:p>
          <a:p>
            <a:pPr>
              <a:spcAft>
                <a:spcPts val="900"/>
              </a:spcAft>
            </a:pPr>
            <a:r>
              <a:rPr sz="1250">
                <a:solidFill>
                  <a:srgbClr val="161B26"/>
                </a:solidFill>
                <a:latin typeface="Arial"/>
              </a:rPr>
              <a:t>•  Total Sales := SUM(Sales[Amount])</a:t>
            </a:r>
          </a:p>
          <a:p>
            <a:pPr>
              <a:spcAft>
                <a:spcPts val="900"/>
              </a:spcAft>
            </a:pPr>
            <a:r>
              <a:rPr sz="1250">
                <a:solidFill>
                  <a:srgbClr val="161B26"/>
                </a:solidFill>
                <a:latin typeface="Arial"/>
              </a:rPr>
              <a:t>•  Reusable in every PivotTable and other measures</a:t>
            </a:r>
          </a:p>
          <a:p>
            <a:pPr>
              <a:spcAft>
                <a:spcPts val="900"/>
              </a:spcAft>
            </a:pPr>
            <a:r>
              <a:rPr sz="1250">
                <a:solidFill>
                  <a:srgbClr val="161B26"/>
                </a:solidFill>
                <a:latin typeface="Arial"/>
              </a:rPr>
              <a:t>•  Renaming it updates everywhere</a:t>
            </a:r>
          </a:p>
          <a:p>
            <a:pPr>
              <a:spcAft>
                <a:spcPts val="900"/>
              </a:spcAft>
            </a:pPr>
            <a:r>
              <a:rPr sz="1250">
                <a:solidFill>
                  <a:srgbClr val="161B26"/>
                </a:solidFill>
                <a:latin typeface="Arial"/>
              </a:rPr>
              <a:t>•  The professional practice</a:t>
            </a:r>
          </a:p>
        </p:txBody>
      </p:sp>
      <p:sp>
        <p:nvSpPr>
          <p:cNvPr id="11" name="Rectangle 10"/>
          <p:cNvSpPr/>
          <p:nvPr/>
        </p:nvSpPr>
        <p:spPr>
          <a:xfrm>
            <a:off x="6355080" y="1783080"/>
            <a:ext cx="5074920" cy="2852928"/>
          </a:xfrm>
          <a:prstGeom prst="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Implicit measure (avoid)</a:t>
            </a:r>
          </a:p>
        </p:txBody>
      </p:sp>
      <p:sp>
        <p:nvSpPr>
          <p:cNvPr id="14" name="TextBox 13"/>
          <p:cNvSpPr txBox="1"/>
          <p:nvPr/>
        </p:nvSpPr>
        <p:spPr>
          <a:xfrm>
            <a:off x="6611112" y="2395728"/>
            <a:ext cx="4562856" cy="2139696"/>
          </a:xfrm>
          <a:prstGeom prst="rect">
            <a:avLst/>
          </a:prstGeom>
          <a:noFill/>
        </p:spPr>
        <p:txBody>
          <a:bodyPr wrap="square">
            <a:spAutoFit/>
          </a:bodyPr>
          <a:lstStyle/>
          <a:p>
            <a:pPr>
              <a:spcAft>
                <a:spcPts val="900"/>
              </a:spcAft>
            </a:pPr>
            <a:r>
              <a:rPr sz="1250">
                <a:solidFill>
                  <a:srgbClr val="161B26"/>
                </a:solidFill>
                <a:latin typeface="Arial"/>
              </a:rPr>
              <a:t>•  Created by dragging a field into Values</a:t>
            </a:r>
          </a:p>
          <a:p>
            <a:pPr>
              <a:spcAft>
                <a:spcPts val="900"/>
              </a:spcAft>
            </a:pPr>
            <a:r>
              <a:rPr sz="1250">
                <a:solidFill>
                  <a:srgbClr val="161B26"/>
                </a:solidFill>
                <a:latin typeface="Arial"/>
              </a:rPr>
              <a:t>•  Excel silently picks SUM for you</a:t>
            </a:r>
          </a:p>
          <a:p>
            <a:pPr>
              <a:spcAft>
                <a:spcPts val="900"/>
              </a:spcAft>
            </a:pPr>
            <a:r>
              <a:rPr sz="1250">
                <a:solidFill>
                  <a:srgbClr val="161B26"/>
                </a:solidFill>
                <a:latin typeface="Arial"/>
              </a:rPr>
              <a:t>•  Cannot be reused or referenced by name</a:t>
            </a:r>
          </a:p>
          <a:p>
            <a:pPr>
              <a:spcAft>
                <a:spcPts val="900"/>
              </a:spcAft>
            </a:pPr>
            <a:r>
              <a:rPr sz="1250">
                <a:solidFill>
                  <a:srgbClr val="161B26"/>
                </a:solidFill>
                <a:latin typeface="Arial"/>
              </a:rPr>
              <a:t>•  Disappears when the field is removed</a:t>
            </a:r>
          </a:p>
          <a:p>
            <a:pPr>
              <a:spcAft>
                <a:spcPts val="900"/>
              </a:spcAft>
            </a:pPr>
            <a:r>
              <a:rPr sz="1250">
                <a:solidFill>
                  <a:srgbClr val="161B26"/>
                </a:solidFill>
                <a:latin typeface="Arial"/>
              </a:rPr>
              <a:t>•  Fine for a quick look, wrong for a model</a:t>
            </a:r>
          </a:p>
        </p:txBody>
      </p:sp>
      <p:sp>
        <p:nvSpPr>
          <p:cNvPr id="15" name="Rectangle 14"/>
          <p:cNvSpPr/>
          <p:nvPr/>
        </p:nvSpPr>
        <p:spPr>
          <a:xfrm>
            <a:off x="777240" y="4837176"/>
            <a:ext cx="10652760"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837176"/>
            <a:ext cx="100584"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837176"/>
            <a:ext cx="10149840" cy="640080"/>
          </a:xfrm>
          <a:prstGeom prst="rect">
            <a:avLst/>
          </a:prstGeom>
          <a:noFill/>
        </p:spPr>
        <p:txBody>
          <a:bodyPr wrap="square" anchor="ctr">
            <a:spAutoFit/>
          </a:bodyPr>
          <a:lstStyle/>
          <a:p>
            <a:pPr algn="l">
              <a:spcAft>
                <a:spcPts val="400"/>
              </a:spcAft>
            </a:pPr>
            <a:r>
              <a:rPr sz="1200" b="0">
                <a:solidFill>
                  <a:srgbClr val="5B6372"/>
                </a:solidFill>
                <a:latin typeface="Arial"/>
              </a:rPr>
              <a:t>Always write explicit measures. Lab 13 creates four of them.</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DAX</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DAX Measures You Build in Lab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Written in the Power Pivot Calculation Area, one measure per cell.</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40864"/>
            <a:ext cx="5632704" cy="274320"/>
          </a:xfrm>
          <a:prstGeom prst="rect">
            <a:avLst/>
          </a:prstGeom>
          <a:noFill/>
        </p:spPr>
        <p:txBody>
          <a:bodyPr wrap="square" anchor="t">
            <a:spAutoFit/>
          </a:bodyPr>
          <a:lstStyle/>
          <a:p>
            <a:pPr algn="l">
              <a:spcAft>
                <a:spcPts val="400"/>
              </a:spcAft>
            </a:pPr>
            <a:r>
              <a:rPr sz="900" b="1">
                <a:solidFill>
                  <a:srgbClr val="6A9955"/>
                </a:solidFill>
                <a:latin typeface="Arial"/>
              </a:rPr>
              <a:t>DAX</a:t>
            </a:r>
          </a:p>
        </p:txBody>
      </p:sp>
      <p:sp>
        <p:nvSpPr>
          <p:cNvPr id="10" name="TextBox 9"/>
          <p:cNvSpPr txBox="1"/>
          <p:nvPr/>
        </p:nvSpPr>
        <p:spPr>
          <a:xfrm>
            <a:off x="978408" y="2615184"/>
            <a:ext cx="5541264" cy="3291840"/>
          </a:xfrm>
          <a:prstGeom prst="rect">
            <a:avLst/>
          </a:prstGeom>
          <a:noFill/>
        </p:spPr>
        <p:txBody>
          <a:bodyPr wrap="square">
            <a:spAutoFit/>
          </a:bodyPr>
          <a:lstStyle/>
          <a:p>
            <a:pPr>
              <a:spcAft>
                <a:spcPts val="200"/>
              </a:spcAft>
            </a:pPr>
            <a:r>
              <a:rPr sz="1100">
                <a:solidFill>
                  <a:srgbClr val="D4D4D4"/>
                </a:solidFill>
                <a:latin typeface="Consolas"/>
              </a:rPr>
              <a:t>Total Sales := SUM(Sales[Amount])</a:t>
            </a:r>
          </a:p>
          <a:p>
            <a:pPr>
              <a:spcAft>
                <a:spcPts val="200"/>
              </a:spcAft>
            </a:pPr>
            <a:r>
              <a:rPr sz="1100">
                <a:solidFill>
                  <a:srgbClr val="D4D4D4"/>
                </a:solidFill>
                <a:latin typeface="Consolas"/>
              </a:rPr>
              <a:t/>
            </a:r>
          </a:p>
          <a:p>
            <a:pPr>
              <a:spcAft>
                <a:spcPts val="200"/>
              </a:spcAft>
            </a:pPr>
            <a:r>
              <a:rPr sz="1100">
                <a:solidFill>
                  <a:srgbClr val="D4D4D4"/>
                </a:solidFill>
                <a:latin typeface="Consolas"/>
              </a:rPr>
              <a:t>Order Count := COUNTROWS(Sales)</a:t>
            </a:r>
          </a:p>
          <a:p>
            <a:pPr>
              <a:spcAft>
                <a:spcPts val="200"/>
              </a:spcAft>
            </a:pPr>
            <a:r>
              <a:rPr sz="1100">
                <a:solidFill>
                  <a:srgbClr val="D4D4D4"/>
                </a:solidFill>
                <a:latin typeface="Consolas"/>
              </a:rPr>
              <a:t/>
            </a:r>
          </a:p>
          <a:p>
            <a:pPr>
              <a:spcAft>
                <a:spcPts val="200"/>
              </a:spcAft>
            </a:pPr>
            <a:r>
              <a:rPr sz="1100">
                <a:solidFill>
                  <a:srgbClr val="D4D4D4"/>
                </a:solidFill>
                <a:latin typeface="Consolas"/>
              </a:rPr>
              <a:t>Average Order :=</a:t>
            </a:r>
          </a:p>
          <a:p>
            <a:pPr>
              <a:spcAft>
                <a:spcPts val="200"/>
              </a:spcAft>
            </a:pPr>
            <a:r>
              <a:rPr sz="1100">
                <a:solidFill>
                  <a:srgbClr val="D4D4D4"/>
                </a:solidFill>
                <a:latin typeface="Consolas"/>
              </a:rPr>
              <a:t>    DIVIDE([Total Sales], [Order Count])</a:t>
            </a:r>
          </a:p>
          <a:p>
            <a:pPr>
              <a:spcAft>
                <a:spcPts val="200"/>
              </a:spcAft>
            </a:pPr>
            <a:r>
              <a:rPr sz="1100">
                <a:solidFill>
                  <a:srgbClr val="D4D4D4"/>
                </a:solidFill>
                <a:latin typeface="Consolas"/>
              </a:rPr>
              <a:t/>
            </a:r>
          </a:p>
          <a:p>
            <a:pPr>
              <a:spcAft>
                <a:spcPts val="200"/>
              </a:spcAft>
            </a:pPr>
            <a:r>
              <a:rPr sz="1100">
                <a:solidFill>
                  <a:srgbClr val="D4D4D4"/>
                </a:solidFill>
                <a:latin typeface="Consolas"/>
              </a:rPr>
              <a:t>Sales YTD :=</a:t>
            </a:r>
          </a:p>
          <a:p>
            <a:pPr>
              <a:spcAft>
                <a:spcPts val="200"/>
              </a:spcAft>
            </a:pPr>
            <a:r>
              <a:rPr sz="1100">
                <a:solidFill>
                  <a:srgbClr val="D4D4D4"/>
                </a:solidFill>
                <a:latin typeface="Consolas"/>
              </a:rPr>
              <a:t>    TOTALYTD([Total Sales], Calendar[Date])</a:t>
            </a:r>
          </a:p>
        </p:txBody>
      </p:sp>
      <p:sp>
        <p:nvSpPr>
          <p:cNvPr id="11" name="Rectangle 10"/>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SUM aggregates a column</a:t>
            </a:r>
          </a:p>
        </p:txBody>
      </p:sp>
      <p:sp>
        <p:nvSpPr>
          <p:cNvPr id="14" name="TextBox 13"/>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It respects whatever filters the PivotTable applies.</a:t>
            </a:r>
          </a:p>
        </p:txBody>
      </p:sp>
      <p:sp>
        <p:nvSpPr>
          <p:cNvPr id="15" name="Rectangle 14"/>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COUNTROWS counts the table</a:t>
            </a:r>
          </a:p>
        </p:txBody>
      </p:sp>
      <p:sp>
        <p:nvSpPr>
          <p:cNvPr id="18" name="TextBox 17"/>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Not a column — so blank values still count as rows.</a:t>
            </a:r>
          </a:p>
        </p:txBody>
      </p:sp>
      <p:sp>
        <p:nvSpPr>
          <p:cNvPr id="19" name="Rectangle 18"/>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DIVIDE, never /</a:t>
            </a:r>
          </a:p>
        </p:txBody>
      </p:sp>
      <p:sp>
        <p:nvSpPr>
          <p:cNvPr id="22" name="TextBox 21"/>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DIVIDE returns blank on a divide-by-zero instead of an error.</a:t>
            </a:r>
          </a:p>
        </p:txBody>
      </p:sp>
      <p:sp>
        <p:nvSpPr>
          <p:cNvPr id="23" name="Rectangle 22"/>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TOTALYTD needs a date table</a:t>
            </a:r>
          </a:p>
        </p:txBody>
      </p:sp>
      <p:sp>
        <p:nvSpPr>
          <p:cNvPr id="26" name="TextBox 25"/>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Mark Calendar as a Date Table first, or time intelligence returns blank.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13: Build a Power Pivot Data Model with DAX Measures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13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learner loads the fact and lookup tables to the Power Pivot Data Model, draws relationships in Diagram View, and writes explicit DAX measures.</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Power Pivot data model with three related tables and four DAX measures.</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A PivotTable with Products[Category] on rows and [Total Sales] in values returns per-category totals that sum to the grand total.</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LO2 · A2 · K3, K4 — Load to the Data Model, create relationships and write DAX measures.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13</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lab-13-power-pivot-model.xlsx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Power Pivot, DAX, Diagram View  ·  Full step-by-step: Learner Guide, Lab 13</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930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M is case sensitive</a:t>
            </a:r>
          </a:p>
          <a:p>
            <a:pPr algn="l">
              <a:spcAft>
                <a:spcPts val="300"/>
              </a:spcAft>
            </a:pPr>
            <a:r>
              <a:rPr sz="1200" b="0">
                <a:solidFill>
                  <a:srgbClr val="5B6372"/>
                </a:solidFill>
                <a:latin typeface="Arial"/>
              </a:rPr>
              <a:t>if / then / else / and / or are always lowercase</a:t>
            </a:r>
          </a:p>
        </p:txBody>
      </p:sp>
      <p:sp>
        <p:nvSpPr>
          <p:cNvPr id="12" name="Rectangle 11"/>
          <p:cNvSpPr/>
          <p:nvPr/>
        </p:nvSpPr>
        <p:spPr>
          <a:xfrm>
            <a:off x="6231636"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930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Every if needs an else</a:t>
            </a:r>
          </a:p>
          <a:p>
            <a:pPr algn="l">
              <a:spcAft>
                <a:spcPts val="300"/>
              </a:spcAft>
            </a:pPr>
            <a:r>
              <a:rPr sz="1200" b="0">
                <a:solidFill>
                  <a:srgbClr val="5B6372"/>
                </a:solidFill>
                <a:latin typeface="Arial"/>
              </a:rPr>
              <a:t>There is no optional third argument in M</a:t>
            </a:r>
          </a:p>
        </p:txBody>
      </p:sp>
      <p:sp>
        <p:nvSpPr>
          <p:cNvPr id="17" name="Rectangle 16"/>
          <p:cNvSpPr/>
          <p:nvPr/>
        </p:nvSpPr>
        <p:spPr>
          <a:xfrm>
            <a:off x="777240"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91440"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7261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Date.AddDays</a:t>
            </a:r>
          </a:p>
          <a:p>
            <a:pPr algn="l">
              <a:spcAft>
                <a:spcPts val="300"/>
              </a:spcAft>
            </a:pPr>
            <a:r>
              <a:rPr sz="1200" b="0">
                <a:solidFill>
                  <a:srgbClr val="5B6372"/>
                </a:solidFill>
                <a:latin typeface="Arial"/>
              </a:rPr>
              <a:t>Derives deadlines that recalculate on refresh</a:t>
            </a:r>
          </a:p>
        </p:txBody>
      </p:sp>
      <p:sp>
        <p:nvSpPr>
          <p:cNvPr id="22" name="Rectangle 21"/>
          <p:cNvSpPr/>
          <p:nvPr/>
        </p:nvSpPr>
        <p:spPr>
          <a:xfrm>
            <a:off x="6231636"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6224"/>
            <a:ext cx="91440" cy="1368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7261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Unpivot Other Columns</a:t>
            </a:r>
          </a:p>
          <a:p>
            <a:pPr algn="l">
              <a:spcAft>
                <a:spcPts val="300"/>
              </a:spcAft>
            </a:pPr>
            <a:r>
              <a:rPr sz="1200" b="0">
                <a:solidFill>
                  <a:srgbClr val="5B6372"/>
                </a:solidFill>
                <a:latin typeface="Arial"/>
              </a:rPr>
              <a:t>The version that survives a new column</a:t>
            </a:r>
          </a:p>
        </p:txBody>
      </p:sp>
      <p:sp>
        <p:nvSpPr>
          <p:cNvPr id="27" name="Rectangle 26"/>
          <p:cNvSpPr/>
          <p:nvPr/>
        </p:nvSpPr>
        <p:spPr>
          <a:xfrm>
            <a:off x="777240"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Append = rows, Merge = columns</a:t>
            </a:r>
          </a:p>
          <a:p>
            <a:pPr algn="l">
              <a:spcAft>
                <a:spcPts val="300"/>
              </a:spcAft>
            </a:pPr>
            <a:r>
              <a:rPr sz="1200" b="0">
                <a:solidFill>
                  <a:srgbClr val="5B6372"/>
                </a:solidFill>
                <a:latin typeface="Arial"/>
              </a:rPr>
              <a:t>The most common mix-up</a:t>
            </a:r>
          </a:p>
        </p:txBody>
      </p:sp>
      <p:sp>
        <p:nvSpPr>
          <p:cNvPr id="32" name="Rectangle 31"/>
          <p:cNvSpPr/>
          <p:nvPr/>
        </p:nvSpPr>
        <p:spPr>
          <a:xfrm>
            <a:off x="6231636"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9368"/>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Explicit DAX measures</a:t>
            </a:r>
          </a:p>
          <a:p>
            <a:pPr algn="l">
              <a:spcAft>
                <a:spcPts val="300"/>
              </a:spcAft>
            </a:pPr>
            <a:r>
              <a:rPr sz="1200" b="0">
                <a:solidFill>
                  <a:srgbClr val="5B6372"/>
                </a:solidFill>
                <a:latin typeface="Arial"/>
              </a:rPr>
              <a:t>Written once, reusable everywhere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377440"/>
            <a:ext cx="10634472" cy="2103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377440"/>
            <a:ext cx="128016" cy="2103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743200"/>
            <a:ext cx="10058400" cy="914400"/>
          </a:xfrm>
          <a:prstGeom prst="rect">
            <a:avLst/>
          </a:prstGeom>
          <a:noFill/>
        </p:spPr>
        <p:txBody>
          <a:bodyPr wrap="square" anchor="t">
            <a:spAutoFit/>
          </a:bodyPr>
          <a:lstStyle/>
          <a:p>
            <a:pPr algn="l">
              <a:spcAft>
                <a:spcPts val="400"/>
              </a:spcAft>
            </a:pPr>
            <a:r>
              <a:rPr sz="4000" b="1">
                <a:solidFill>
                  <a:srgbClr val="161B26"/>
                </a:solidFill>
                <a:latin typeface="Arial"/>
              </a:rPr>
              <a:t>Tea Break</a:t>
            </a:r>
          </a:p>
        </p:txBody>
      </p:sp>
      <p:sp>
        <p:nvSpPr>
          <p:cNvPr id="7" name="TextBox 6"/>
          <p:cNvSpPr txBox="1"/>
          <p:nvPr/>
        </p:nvSpPr>
        <p:spPr>
          <a:xfrm>
            <a:off x="1207008" y="3657600"/>
            <a:ext cx="10058400" cy="548640"/>
          </a:xfrm>
          <a:prstGeom prst="rect">
            <a:avLst/>
          </a:prstGeom>
          <a:noFill/>
        </p:spPr>
        <p:txBody>
          <a:bodyPr wrap="square" anchor="t">
            <a:spAutoFit/>
          </a:bodyPr>
          <a:lstStyle/>
          <a:p>
            <a:pPr algn="l">
              <a:spcAft>
                <a:spcPts val="400"/>
              </a:spcAft>
            </a:pPr>
            <a:r>
              <a:rPr sz="1800" b="0">
                <a:solidFill>
                  <a:srgbClr val="5B6372"/>
                </a:solidFill>
                <a:latin typeface="Arial"/>
              </a:rPr>
              <a:t>15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Advanced Data Analysis using Power Query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six joins · Merge · Approximate match · Fuzzy matching · Transformation tables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TOPIC 3 · JOINS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Choosing the wrong join changes your row count silently.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No error, no warning — just a different answer. This topic makes the choice deliberate.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THE MERGE PIPELINE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 Merge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Two queries</a:t>
            </a:r>
          </a:p>
        </p:txBody>
      </p:sp>
      <p:sp>
        <p:nvSpPr>
          <p:cNvPr id="12" name="TextBox 11"/>
          <p:cNvSpPr txBox="1"/>
          <p:nvPr/>
        </p:nvSpPr>
        <p:spPr>
          <a:xfrm>
            <a:off x="850392"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A left and a right table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Matching columns</a:t>
            </a:r>
          </a:p>
        </p:txBody>
      </p:sp>
      <p:sp>
        <p:nvSpPr>
          <p:cNvPr id="19" name="TextBox 18"/>
          <p:cNvSpPr txBox="1"/>
          <p:nvPr/>
        </p:nvSpPr>
        <p:spPr>
          <a:xfrm>
            <a:off x="3054096"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The key you join on</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Join kind</a:t>
            </a:r>
          </a:p>
        </p:txBody>
      </p:sp>
      <p:sp>
        <p:nvSpPr>
          <p:cNvPr id="26" name="TextBox 25"/>
          <p:cNvSpPr txBox="1"/>
          <p:nvPr/>
        </p:nvSpPr>
        <p:spPr>
          <a:xfrm>
            <a:off x="5257800"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Which rows survive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Nested table</a:t>
            </a:r>
          </a:p>
        </p:txBody>
      </p:sp>
      <p:sp>
        <p:nvSpPr>
          <p:cNvPr id="33" name="TextBox 32"/>
          <p:cNvSpPr txBox="1"/>
          <p:nvPr/>
        </p:nvSpPr>
        <p:spPr>
          <a:xfrm>
            <a:off x="7461504"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One column of tables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Expand</a:t>
            </a:r>
          </a:p>
        </p:txBody>
      </p:sp>
      <p:sp>
        <p:nvSpPr>
          <p:cNvPr id="40" name="TextBox 39"/>
          <p:cNvSpPr txBox="1"/>
          <p:nvPr/>
        </p:nvSpPr>
        <p:spPr>
          <a:xfrm>
            <a:off x="9665208" y="3730752"/>
            <a:ext cx="1673352" cy="512064"/>
          </a:xfrm>
          <a:prstGeom prst="rect">
            <a:avLst/>
          </a:prstGeom>
          <a:noFill/>
        </p:spPr>
        <p:txBody>
          <a:bodyPr wrap="square" anchor="ctr">
            <a:spAutoFit/>
          </a:bodyPr>
          <a:lstStyle/>
          <a:p>
            <a:pPr algn="ctr">
              <a:spcAft>
                <a:spcPts val="0"/>
              </a:spcAft>
            </a:pPr>
            <a:r>
              <a:rPr sz="900" b="0">
                <a:solidFill>
                  <a:srgbClr val="5B6372"/>
                </a:solidFill>
                <a:latin typeface="Arial"/>
              </a:rPr>
              <a:t>Pick the columns you need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STEP EVERYONE FORGETS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merge produces a COLUMN OF TABLES. Nothing useful appears until you click the expand arrow and choose which columns to bring through.</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3 · ALL SIX</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Six Join Kinds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914204"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658172" cy="475488"/>
          </a:xfrm>
          <a:prstGeom prst="rect">
            <a:avLst/>
          </a:prstGeom>
          <a:noFill/>
        </p:spPr>
        <p:txBody>
          <a:bodyPr wrap="square" anchor="ctr">
            <a:spAutoFit/>
          </a:bodyPr>
          <a:lstStyle/>
          <a:p>
            <a:pPr algn="l">
              <a:spcAft>
                <a:spcPts val="400"/>
              </a:spcAft>
            </a:pPr>
            <a:r>
              <a:rPr sz="1300" b="1">
                <a:solidFill>
                  <a:srgbClr val="FFFFFF"/>
                </a:solidFill>
                <a:latin typeface="Arial"/>
              </a:rPr>
              <a:t>Join kind</a:t>
            </a:r>
          </a:p>
        </p:txBody>
      </p:sp>
      <p:sp>
        <p:nvSpPr>
          <p:cNvPr id="9" name="Rectangle 8"/>
          <p:cNvSpPr/>
          <p:nvPr/>
        </p:nvSpPr>
        <p:spPr>
          <a:xfrm>
            <a:off x="2691444" y="1783080"/>
            <a:ext cx="436013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9460" y="1783080"/>
            <a:ext cx="4104102" cy="475488"/>
          </a:xfrm>
          <a:prstGeom prst="rect">
            <a:avLst/>
          </a:prstGeom>
          <a:noFill/>
        </p:spPr>
        <p:txBody>
          <a:bodyPr wrap="square" anchor="ctr">
            <a:spAutoFit/>
          </a:bodyPr>
          <a:lstStyle/>
          <a:p>
            <a:pPr algn="l">
              <a:spcAft>
                <a:spcPts val="400"/>
              </a:spcAft>
            </a:pPr>
            <a:r>
              <a:rPr sz="1300" b="1">
                <a:solidFill>
                  <a:srgbClr val="FFFFFF"/>
                </a:solidFill>
                <a:latin typeface="Arial"/>
              </a:rPr>
              <a:t>Which rows you keep</a:t>
            </a:r>
          </a:p>
        </p:txBody>
      </p:sp>
      <p:sp>
        <p:nvSpPr>
          <p:cNvPr id="11" name="Rectangle 10"/>
          <p:cNvSpPr/>
          <p:nvPr/>
        </p:nvSpPr>
        <p:spPr>
          <a:xfrm>
            <a:off x="7051578" y="1783080"/>
            <a:ext cx="4360134"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9594" y="1783080"/>
            <a:ext cx="4104102"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3" name="Rectangle 12"/>
          <p:cNvSpPr/>
          <p:nvPr/>
        </p:nvSpPr>
        <p:spPr>
          <a:xfrm>
            <a:off x="777240" y="2258568"/>
            <a:ext cx="191420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694748" cy="483108"/>
          </a:xfrm>
          <a:prstGeom prst="rect">
            <a:avLst/>
          </a:prstGeom>
          <a:noFill/>
        </p:spPr>
        <p:txBody>
          <a:bodyPr wrap="square" anchor="ctr">
            <a:spAutoFit/>
          </a:bodyPr>
          <a:lstStyle/>
          <a:p>
            <a:pPr algn="l">
              <a:spcAft>
                <a:spcPts val="400"/>
              </a:spcAft>
            </a:pPr>
            <a:r>
              <a:rPr sz="1150" b="1">
                <a:solidFill>
                  <a:srgbClr val="161B26"/>
                </a:solidFill>
                <a:latin typeface="Arial"/>
              </a:rPr>
              <a:t>Left Outer</a:t>
            </a:r>
          </a:p>
        </p:txBody>
      </p:sp>
      <p:sp>
        <p:nvSpPr>
          <p:cNvPr id="15" name="Rectangle 14"/>
          <p:cNvSpPr/>
          <p:nvPr/>
        </p:nvSpPr>
        <p:spPr>
          <a:xfrm>
            <a:off x="2691444" y="2258568"/>
            <a:ext cx="436013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1172" y="2258568"/>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ALL left rows + matches from the right</a:t>
            </a:r>
          </a:p>
        </p:txBody>
      </p:sp>
      <p:sp>
        <p:nvSpPr>
          <p:cNvPr id="17" name="Rectangle 16"/>
          <p:cNvSpPr/>
          <p:nvPr/>
        </p:nvSpPr>
        <p:spPr>
          <a:xfrm>
            <a:off x="7051578" y="2258568"/>
            <a:ext cx="436013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1306" y="2258568"/>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The safe default — an XLOOKUP replacement</a:t>
            </a:r>
          </a:p>
        </p:txBody>
      </p:sp>
      <p:sp>
        <p:nvSpPr>
          <p:cNvPr id="19" name="Rectangle 18"/>
          <p:cNvSpPr/>
          <p:nvPr/>
        </p:nvSpPr>
        <p:spPr>
          <a:xfrm>
            <a:off x="777240" y="2741676"/>
            <a:ext cx="191420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41676"/>
            <a:ext cx="1694748" cy="483108"/>
          </a:xfrm>
          <a:prstGeom prst="rect">
            <a:avLst/>
          </a:prstGeom>
          <a:noFill/>
        </p:spPr>
        <p:txBody>
          <a:bodyPr wrap="square" anchor="ctr">
            <a:spAutoFit/>
          </a:bodyPr>
          <a:lstStyle/>
          <a:p>
            <a:pPr algn="l">
              <a:spcAft>
                <a:spcPts val="400"/>
              </a:spcAft>
            </a:pPr>
            <a:r>
              <a:rPr sz="1150" b="1">
                <a:solidFill>
                  <a:srgbClr val="161B26"/>
                </a:solidFill>
                <a:latin typeface="Arial"/>
              </a:rPr>
              <a:t>Right Outer</a:t>
            </a:r>
          </a:p>
        </p:txBody>
      </p:sp>
      <p:sp>
        <p:nvSpPr>
          <p:cNvPr id="21" name="Rectangle 20"/>
          <p:cNvSpPr/>
          <p:nvPr/>
        </p:nvSpPr>
        <p:spPr>
          <a:xfrm>
            <a:off x="2691444" y="2741676"/>
            <a:ext cx="436013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01172" y="2741676"/>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ALL right rows + matches from the left</a:t>
            </a:r>
          </a:p>
        </p:txBody>
      </p:sp>
      <p:sp>
        <p:nvSpPr>
          <p:cNvPr id="23" name="Rectangle 22"/>
          <p:cNvSpPr/>
          <p:nvPr/>
        </p:nvSpPr>
        <p:spPr>
          <a:xfrm>
            <a:off x="7051578" y="2741676"/>
            <a:ext cx="436013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61306" y="2741676"/>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Rare — usually swap the tables instead</a:t>
            </a:r>
          </a:p>
        </p:txBody>
      </p:sp>
      <p:sp>
        <p:nvSpPr>
          <p:cNvPr id="25" name="Rectangle 24"/>
          <p:cNvSpPr/>
          <p:nvPr/>
        </p:nvSpPr>
        <p:spPr>
          <a:xfrm>
            <a:off x="777240" y="3224784"/>
            <a:ext cx="191420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224784"/>
            <a:ext cx="1694748" cy="483108"/>
          </a:xfrm>
          <a:prstGeom prst="rect">
            <a:avLst/>
          </a:prstGeom>
          <a:noFill/>
        </p:spPr>
        <p:txBody>
          <a:bodyPr wrap="square" anchor="ctr">
            <a:spAutoFit/>
          </a:bodyPr>
          <a:lstStyle/>
          <a:p>
            <a:pPr algn="l">
              <a:spcAft>
                <a:spcPts val="400"/>
              </a:spcAft>
            </a:pPr>
            <a:r>
              <a:rPr sz="1150" b="1">
                <a:solidFill>
                  <a:srgbClr val="161B26"/>
                </a:solidFill>
                <a:latin typeface="Arial"/>
              </a:rPr>
              <a:t>Full Outer</a:t>
            </a:r>
          </a:p>
        </p:txBody>
      </p:sp>
      <p:sp>
        <p:nvSpPr>
          <p:cNvPr id="27" name="Rectangle 26"/>
          <p:cNvSpPr/>
          <p:nvPr/>
        </p:nvSpPr>
        <p:spPr>
          <a:xfrm>
            <a:off x="2691444" y="3224784"/>
            <a:ext cx="436013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01172" y="3224784"/>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Every row from BOTH tables</a:t>
            </a:r>
          </a:p>
        </p:txBody>
      </p:sp>
      <p:sp>
        <p:nvSpPr>
          <p:cNvPr id="29" name="Rectangle 28"/>
          <p:cNvSpPr/>
          <p:nvPr/>
        </p:nvSpPr>
        <p:spPr>
          <a:xfrm>
            <a:off x="7051578" y="3224784"/>
            <a:ext cx="436013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61306" y="3224784"/>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Reconciling two systems</a:t>
            </a:r>
          </a:p>
        </p:txBody>
      </p:sp>
      <p:sp>
        <p:nvSpPr>
          <p:cNvPr id="31" name="Rectangle 30"/>
          <p:cNvSpPr/>
          <p:nvPr/>
        </p:nvSpPr>
        <p:spPr>
          <a:xfrm>
            <a:off x="777240" y="3707892"/>
            <a:ext cx="191420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707892"/>
            <a:ext cx="1694748" cy="483108"/>
          </a:xfrm>
          <a:prstGeom prst="rect">
            <a:avLst/>
          </a:prstGeom>
          <a:noFill/>
        </p:spPr>
        <p:txBody>
          <a:bodyPr wrap="square" anchor="ctr">
            <a:spAutoFit/>
          </a:bodyPr>
          <a:lstStyle/>
          <a:p>
            <a:pPr algn="l">
              <a:spcAft>
                <a:spcPts val="400"/>
              </a:spcAft>
            </a:pPr>
            <a:r>
              <a:rPr sz="1150" b="1">
                <a:solidFill>
                  <a:srgbClr val="161B26"/>
                </a:solidFill>
                <a:latin typeface="Arial"/>
              </a:rPr>
              <a:t>Inner</a:t>
            </a:r>
          </a:p>
        </p:txBody>
      </p:sp>
      <p:sp>
        <p:nvSpPr>
          <p:cNvPr id="33" name="Rectangle 32"/>
          <p:cNvSpPr/>
          <p:nvPr/>
        </p:nvSpPr>
        <p:spPr>
          <a:xfrm>
            <a:off x="2691444" y="3707892"/>
            <a:ext cx="436013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01172" y="3707892"/>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Only rows that match on BOTH sides</a:t>
            </a:r>
          </a:p>
        </p:txBody>
      </p:sp>
      <p:sp>
        <p:nvSpPr>
          <p:cNvPr id="35" name="Rectangle 34"/>
          <p:cNvSpPr/>
          <p:nvPr/>
        </p:nvSpPr>
        <p:spPr>
          <a:xfrm>
            <a:off x="7051578" y="3707892"/>
            <a:ext cx="436013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61306" y="3707892"/>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Confirmed, complete records only</a:t>
            </a:r>
          </a:p>
        </p:txBody>
      </p:sp>
      <p:sp>
        <p:nvSpPr>
          <p:cNvPr id="37" name="Rectangle 36"/>
          <p:cNvSpPr/>
          <p:nvPr/>
        </p:nvSpPr>
        <p:spPr>
          <a:xfrm>
            <a:off x="777240" y="4191000"/>
            <a:ext cx="191420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191000"/>
            <a:ext cx="1694748" cy="483108"/>
          </a:xfrm>
          <a:prstGeom prst="rect">
            <a:avLst/>
          </a:prstGeom>
          <a:noFill/>
        </p:spPr>
        <p:txBody>
          <a:bodyPr wrap="square" anchor="ctr">
            <a:spAutoFit/>
          </a:bodyPr>
          <a:lstStyle/>
          <a:p>
            <a:pPr algn="l">
              <a:spcAft>
                <a:spcPts val="400"/>
              </a:spcAft>
            </a:pPr>
            <a:r>
              <a:rPr sz="1150" b="1">
                <a:solidFill>
                  <a:srgbClr val="161B26"/>
                </a:solidFill>
                <a:latin typeface="Arial"/>
              </a:rPr>
              <a:t>Left Anti</a:t>
            </a:r>
          </a:p>
        </p:txBody>
      </p:sp>
      <p:sp>
        <p:nvSpPr>
          <p:cNvPr id="39" name="Rectangle 38"/>
          <p:cNvSpPr/>
          <p:nvPr/>
        </p:nvSpPr>
        <p:spPr>
          <a:xfrm>
            <a:off x="2691444" y="4191000"/>
            <a:ext cx="436013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01172" y="4191000"/>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Left rows with NO match on the right</a:t>
            </a:r>
          </a:p>
        </p:txBody>
      </p:sp>
      <p:sp>
        <p:nvSpPr>
          <p:cNvPr id="41" name="Rectangle 40"/>
          <p:cNvSpPr/>
          <p:nvPr/>
        </p:nvSpPr>
        <p:spPr>
          <a:xfrm>
            <a:off x="7051578" y="4191000"/>
            <a:ext cx="4360134"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61306" y="4191000"/>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Find orphans — orders with a bad product ID</a:t>
            </a:r>
          </a:p>
        </p:txBody>
      </p:sp>
      <p:sp>
        <p:nvSpPr>
          <p:cNvPr id="43" name="Rectangle 42"/>
          <p:cNvSpPr/>
          <p:nvPr/>
        </p:nvSpPr>
        <p:spPr>
          <a:xfrm>
            <a:off x="777240" y="4674108"/>
            <a:ext cx="191420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4674108"/>
            <a:ext cx="1694748" cy="483108"/>
          </a:xfrm>
          <a:prstGeom prst="rect">
            <a:avLst/>
          </a:prstGeom>
          <a:noFill/>
        </p:spPr>
        <p:txBody>
          <a:bodyPr wrap="square" anchor="ctr">
            <a:spAutoFit/>
          </a:bodyPr>
          <a:lstStyle/>
          <a:p>
            <a:pPr algn="l">
              <a:spcAft>
                <a:spcPts val="400"/>
              </a:spcAft>
            </a:pPr>
            <a:r>
              <a:rPr sz="1150" b="1">
                <a:solidFill>
                  <a:srgbClr val="161B26"/>
                </a:solidFill>
                <a:latin typeface="Arial"/>
              </a:rPr>
              <a:t>Right Anti</a:t>
            </a:r>
          </a:p>
        </p:txBody>
      </p:sp>
      <p:sp>
        <p:nvSpPr>
          <p:cNvPr id="45" name="Rectangle 44"/>
          <p:cNvSpPr/>
          <p:nvPr/>
        </p:nvSpPr>
        <p:spPr>
          <a:xfrm>
            <a:off x="2691444" y="4674108"/>
            <a:ext cx="436013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01172" y="4674108"/>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Right rows with NO match on the left</a:t>
            </a:r>
          </a:p>
        </p:txBody>
      </p:sp>
      <p:sp>
        <p:nvSpPr>
          <p:cNvPr id="47" name="Rectangle 46"/>
          <p:cNvSpPr/>
          <p:nvPr/>
        </p:nvSpPr>
        <p:spPr>
          <a:xfrm>
            <a:off x="7051578" y="4674108"/>
            <a:ext cx="4360134"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61306" y="4674108"/>
            <a:ext cx="4140678" cy="483108"/>
          </a:xfrm>
          <a:prstGeom prst="rect">
            <a:avLst/>
          </a:prstGeom>
          <a:noFill/>
        </p:spPr>
        <p:txBody>
          <a:bodyPr wrap="square" anchor="ctr">
            <a:spAutoFit/>
          </a:bodyPr>
          <a:lstStyle/>
          <a:p>
            <a:pPr algn="l">
              <a:spcAft>
                <a:spcPts val="400"/>
              </a:spcAft>
            </a:pPr>
            <a:r>
              <a:rPr sz="1100" b="0">
                <a:solidFill>
                  <a:srgbClr val="5B6372"/>
                </a:solidFill>
                <a:latin typeface="Arial"/>
              </a:rPr>
              <a:t>Find unused lookups — products never sold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Lab 14 runs all six on the SAME pair of tables and records the row count each one returns — that comparison is your reference sheet for every merge.</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3 · CHOOSING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Join Do I Need?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Must every row of my main table survive?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Left Outer</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Keeps all your records. Unmatched rows show null. The XLOOKUP equivalent.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Inner or Anti</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Inner keeps only matched rows. Left Anti keeps only the UNMATCHED ones.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 useful check: Inner rows + Left Anti rows = Left Outer rows. If your merge returns MORE rows than the left table, your key is not unique.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THE COMPARISON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Merge vs XLOOKUP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074920" cy="2852928"/>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074920"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Merge (Power Query)</a:t>
            </a:r>
          </a:p>
        </p:txBody>
      </p:sp>
      <p:sp>
        <p:nvSpPr>
          <p:cNvPr id="10" name="TextBox 9"/>
          <p:cNvSpPr txBox="1"/>
          <p:nvPr/>
        </p:nvSpPr>
        <p:spPr>
          <a:xfrm>
            <a:off x="1033272" y="2395728"/>
            <a:ext cx="4562856" cy="2139696"/>
          </a:xfrm>
          <a:prstGeom prst="rect">
            <a:avLst/>
          </a:prstGeom>
          <a:noFill/>
        </p:spPr>
        <p:txBody>
          <a:bodyPr wrap="square">
            <a:spAutoFit/>
          </a:bodyPr>
          <a:lstStyle/>
          <a:p>
            <a:pPr>
              <a:spcAft>
                <a:spcPts val="900"/>
              </a:spcAft>
            </a:pPr>
            <a:r>
              <a:rPr sz="1250">
                <a:solidFill>
                  <a:srgbClr val="161B26"/>
                </a:solidFill>
                <a:latin typeface="Arial"/>
              </a:rPr>
              <a:t>•  Runs on Refresh, no dragging down</a:t>
            </a:r>
          </a:p>
          <a:p>
            <a:pPr>
              <a:spcAft>
                <a:spcPts val="900"/>
              </a:spcAft>
            </a:pPr>
            <a:r>
              <a:rPr sz="1250">
                <a:solidFill>
                  <a:srgbClr val="161B26"/>
                </a:solidFill>
                <a:latin typeface="Arial"/>
              </a:rPr>
              <a:t>•  Handles hundreds of thousands of rows</a:t>
            </a:r>
          </a:p>
          <a:p>
            <a:pPr>
              <a:spcAft>
                <a:spcPts val="900"/>
              </a:spcAft>
            </a:pPr>
            <a:r>
              <a:rPr sz="1250">
                <a:solidFill>
                  <a:srgbClr val="161B26"/>
                </a:solidFill>
                <a:latin typeface="Arial"/>
              </a:rPr>
              <a:t>•  Unmatched rows return null</a:t>
            </a:r>
          </a:p>
          <a:p>
            <a:pPr>
              <a:spcAft>
                <a:spcPts val="900"/>
              </a:spcAft>
            </a:pPr>
            <a:r>
              <a:rPr sz="1250">
                <a:solidFill>
                  <a:srgbClr val="161B26"/>
                </a:solidFill>
                <a:latin typeface="Arial"/>
              </a:rPr>
              <a:t>•  Can match on MULTIPLE columns</a:t>
            </a:r>
          </a:p>
          <a:p>
            <a:pPr>
              <a:spcAft>
                <a:spcPts val="900"/>
              </a:spcAft>
            </a:pPr>
            <a:r>
              <a:rPr sz="1250">
                <a:solidFill>
                  <a:srgbClr val="161B26"/>
                </a:solidFill>
                <a:latin typeface="Arial"/>
              </a:rPr>
              <a:t>•  Fuzzy matching available</a:t>
            </a:r>
          </a:p>
        </p:txBody>
      </p:sp>
      <p:sp>
        <p:nvSpPr>
          <p:cNvPr id="11" name="Rectangle 10"/>
          <p:cNvSpPr/>
          <p:nvPr/>
        </p:nvSpPr>
        <p:spPr>
          <a:xfrm>
            <a:off x="6355080" y="1783080"/>
            <a:ext cx="5074920" cy="2852928"/>
          </a:xfrm>
          <a:prstGeom prst="rect">
            <a:avLst/>
          </a:prstGeom>
          <a:solidFill>
            <a:srgbClr val="FFFFFF"/>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5120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783080"/>
            <a:ext cx="4709160" cy="512064"/>
          </a:xfrm>
          <a:prstGeom prst="rect">
            <a:avLst/>
          </a:prstGeom>
          <a:noFill/>
        </p:spPr>
        <p:txBody>
          <a:bodyPr wrap="square" anchor="ctr">
            <a:spAutoFit/>
          </a:bodyPr>
          <a:lstStyle/>
          <a:p>
            <a:pPr algn="l">
              <a:spcAft>
                <a:spcPts val="400"/>
              </a:spcAft>
            </a:pPr>
            <a:r>
              <a:rPr sz="1400" b="1">
                <a:solidFill>
                  <a:srgbClr val="FFFFFF"/>
                </a:solidFill>
                <a:latin typeface="Arial"/>
              </a:rPr>
              <a:t>✗  XLOOKUP (worksheet)</a:t>
            </a:r>
          </a:p>
        </p:txBody>
      </p:sp>
      <p:sp>
        <p:nvSpPr>
          <p:cNvPr id="14" name="TextBox 13"/>
          <p:cNvSpPr txBox="1"/>
          <p:nvPr/>
        </p:nvSpPr>
        <p:spPr>
          <a:xfrm>
            <a:off x="6611112" y="2395728"/>
            <a:ext cx="4562856" cy="2139696"/>
          </a:xfrm>
          <a:prstGeom prst="rect">
            <a:avLst/>
          </a:prstGeom>
          <a:noFill/>
        </p:spPr>
        <p:txBody>
          <a:bodyPr wrap="square">
            <a:spAutoFit/>
          </a:bodyPr>
          <a:lstStyle/>
          <a:p>
            <a:pPr>
              <a:spcAft>
                <a:spcPts val="900"/>
              </a:spcAft>
            </a:pPr>
            <a:r>
              <a:rPr sz="1250">
                <a:solidFill>
                  <a:srgbClr val="161B26"/>
                </a:solidFill>
                <a:latin typeface="Arial"/>
              </a:rPr>
              <a:t>•  Must be copied down as rows are added</a:t>
            </a:r>
          </a:p>
          <a:p>
            <a:pPr>
              <a:spcAft>
                <a:spcPts val="900"/>
              </a:spcAft>
            </a:pPr>
            <a:r>
              <a:rPr sz="1250">
                <a:solidFill>
                  <a:srgbClr val="161B26"/>
                </a:solidFill>
                <a:latin typeface="Arial"/>
              </a:rPr>
              <a:t>•  Slows the workbook as the range grows</a:t>
            </a:r>
          </a:p>
          <a:p>
            <a:pPr>
              <a:spcAft>
                <a:spcPts val="900"/>
              </a:spcAft>
            </a:pPr>
            <a:r>
              <a:rPr sz="1250">
                <a:solidFill>
                  <a:srgbClr val="161B26"/>
                </a:solidFill>
                <a:latin typeface="Arial"/>
              </a:rPr>
              <a:t>•  Unmatched rows return #N/A</a:t>
            </a:r>
          </a:p>
          <a:p>
            <a:pPr>
              <a:spcAft>
                <a:spcPts val="900"/>
              </a:spcAft>
            </a:pPr>
            <a:r>
              <a:rPr sz="1250">
                <a:solidFill>
                  <a:srgbClr val="161B26"/>
                </a:solidFill>
                <a:latin typeface="Arial"/>
              </a:rPr>
              <a:t>•  Needs a helper column for composite keys</a:t>
            </a:r>
          </a:p>
          <a:p>
            <a:pPr>
              <a:spcAft>
                <a:spcPts val="900"/>
              </a:spcAft>
            </a:pPr>
            <a:r>
              <a:rPr sz="1250">
                <a:solidFill>
                  <a:srgbClr val="161B26"/>
                </a:solidFill>
                <a:latin typeface="Arial"/>
              </a:rPr>
              <a:t>•  Exact or approximate only — no fuzzy</a:t>
            </a:r>
          </a:p>
        </p:txBody>
      </p:sp>
      <p:sp>
        <p:nvSpPr>
          <p:cNvPr id="15" name="Rectangle 14"/>
          <p:cNvSpPr/>
          <p:nvPr/>
        </p:nvSpPr>
        <p:spPr>
          <a:xfrm>
            <a:off x="777240" y="4837176"/>
            <a:ext cx="10652760"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837176"/>
            <a:ext cx="100584"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837176"/>
            <a:ext cx="10149840" cy="640080"/>
          </a:xfrm>
          <a:prstGeom prst="rect">
            <a:avLst/>
          </a:prstGeom>
          <a:noFill/>
        </p:spPr>
        <p:txBody>
          <a:bodyPr wrap="square" anchor="ctr">
            <a:spAutoFit/>
          </a:bodyPr>
          <a:lstStyle/>
          <a:p>
            <a:pPr algn="l">
              <a:spcAft>
                <a:spcPts val="400"/>
              </a:spcAft>
            </a:pPr>
            <a:r>
              <a:rPr sz="1200" b="0">
                <a:solidFill>
                  <a:srgbClr val="5B6372"/>
                </a:solidFill>
                <a:latin typeface="Arial"/>
              </a:rPr>
              <a:t>XLOOKUP is still the right tool for a one-off answer in a small sheet. Lab 15 replaces a column of XLOOKUPs with a single merge.</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14: Walk Through All Six Join Kinds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14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Using one deliberately imperfect pair of tables — some orders reference a missing product, some products were never ordered — the learner runs all six join kinds in turn and records the row count each produces.</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Six merge queries and a completed row-count comparison table.</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Left Outer returns exactly the Orders row count; Inner returns fewer; Left Anti plus Inner equals Left Outer.</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LO3 · A3 · K2, K3 — Compare the six Power Query join kinds on the same pair of tables.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14</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lab-14-six-joins.xlsx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Merge Queries  ·  Full step-by-step: Learner Guide, Lab 14</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15: Left Outer Join versus XLOOKUP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15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The learner replaces a worksheet full of XLOOKUP formulas with a single Left Outer merge, expands only the required column, and compares the two approaches on refresh behaviour, row-count safety and performance on a large table.</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Sales query enriched with product details by merge instead of formulas.</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The merged query has the same row count as Sales, and unmatched rows show null rather than #N/A.</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LO3 · A3 · K2, K3 — Reproduce an XLOOKUP with a merge and expand only the needed column.</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15</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lab-15-merge-vs-xlookup.xlsx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Merge Queries, Expand  ·  Full step-by-step: Learner Guide, Lab 15</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COMPOSITE KEYS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Merging on More Than One Column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128016" cy="1371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828800"/>
            <a:ext cx="10058400" cy="1371600"/>
          </a:xfrm>
          <a:prstGeom prst="rect">
            <a:avLst/>
          </a:prstGeom>
          <a:noFill/>
        </p:spPr>
        <p:txBody>
          <a:bodyPr wrap="square" anchor="ctr">
            <a:spAutoFit/>
          </a:bodyPr>
          <a:lstStyle/>
          <a:p>
            <a:pPr algn="l">
              <a:spcAft>
                <a:spcPts val="400"/>
              </a:spcAft>
            </a:pPr>
            <a:r>
              <a:rPr sz="2000" b="1">
                <a:solidFill>
                  <a:srgbClr val="161B26"/>
                </a:solidFill>
                <a:latin typeface="Arial"/>
              </a:rPr>
              <a:t>When the key is a combination — product AND region — you must select both, in the same order, in both tables.</a:t>
            </a:r>
          </a:p>
        </p:txBody>
      </p:sp>
      <p:sp>
        <p:nvSpPr>
          <p:cNvPr id="10" name="Rectangle 9"/>
          <p:cNvSpPr/>
          <p:nvPr/>
        </p:nvSpPr>
        <p:spPr>
          <a:xfrm>
            <a:off x="777240"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52044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3749039"/>
            <a:ext cx="2926080" cy="457200"/>
          </a:xfrm>
          <a:prstGeom prst="rect">
            <a:avLst/>
          </a:prstGeom>
          <a:noFill/>
        </p:spPr>
        <p:txBody>
          <a:bodyPr wrap="square" anchor="t">
            <a:spAutoFit/>
          </a:bodyPr>
          <a:lstStyle/>
          <a:p>
            <a:pPr algn="l">
              <a:spcAft>
                <a:spcPts val="400"/>
              </a:spcAft>
            </a:pPr>
            <a:r>
              <a:rPr sz="1400" b="1">
                <a:solidFill>
                  <a:srgbClr val="1F6FEB"/>
                </a:solidFill>
                <a:latin typeface="Arial"/>
              </a:rPr>
              <a:t>Ctrl-click to add</a:t>
            </a:r>
          </a:p>
        </p:txBody>
      </p:sp>
      <p:sp>
        <p:nvSpPr>
          <p:cNvPr id="13" name="TextBox 12"/>
          <p:cNvSpPr txBox="1"/>
          <p:nvPr/>
        </p:nvSpPr>
        <p:spPr>
          <a:xfrm>
            <a:off x="1014984"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Click the first column, then Ctrl-click the second. The order is numbered.</a:t>
            </a:r>
          </a:p>
        </p:txBody>
      </p:sp>
      <p:sp>
        <p:nvSpPr>
          <p:cNvPr id="14" name="Rectangle 13"/>
          <p:cNvSpPr/>
          <p:nvPr/>
        </p:nvSpPr>
        <p:spPr>
          <a:xfrm>
            <a:off x="4425696"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352044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749039"/>
            <a:ext cx="2926080" cy="457200"/>
          </a:xfrm>
          <a:prstGeom prst="rect">
            <a:avLst/>
          </a:prstGeom>
          <a:noFill/>
        </p:spPr>
        <p:txBody>
          <a:bodyPr wrap="square" anchor="t">
            <a:spAutoFit/>
          </a:bodyPr>
          <a:lstStyle/>
          <a:p>
            <a:pPr algn="l">
              <a:spcAft>
                <a:spcPts val="400"/>
              </a:spcAft>
            </a:pPr>
            <a:r>
              <a:rPr sz="1400" b="1">
                <a:solidFill>
                  <a:srgbClr val="10B981"/>
                </a:solidFill>
                <a:latin typeface="Arial"/>
              </a:rPr>
              <a:t>Order must match</a:t>
            </a:r>
          </a:p>
        </p:txBody>
      </p:sp>
      <p:sp>
        <p:nvSpPr>
          <p:cNvPr id="17" name="TextBox 16"/>
          <p:cNvSpPr txBox="1"/>
          <p:nvPr/>
        </p:nvSpPr>
        <p:spPr>
          <a:xfrm>
            <a:off x="4663440"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Product-then-Region on the left must meet Product-then-Region on the right.</a:t>
            </a:r>
          </a:p>
        </p:txBody>
      </p:sp>
      <p:sp>
        <p:nvSpPr>
          <p:cNvPr id="18" name="Rectangle 17"/>
          <p:cNvSpPr/>
          <p:nvPr/>
        </p:nvSpPr>
        <p:spPr>
          <a:xfrm>
            <a:off x="8074152" y="3520440"/>
            <a:ext cx="3392424"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352044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1896" y="3749039"/>
            <a:ext cx="2926080" cy="457200"/>
          </a:xfrm>
          <a:prstGeom prst="rect">
            <a:avLst/>
          </a:prstGeom>
          <a:noFill/>
        </p:spPr>
        <p:txBody>
          <a:bodyPr wrap="square" anchor="t">
            <a:spAutoFit/>
          </a:bodyPr>
          <a:lstStyle/>
          <a:p>
            <a:pPr algn="l">
              <a:spcAft>
                <a:spcPts val="400"/>
              </a:spcAft>
            </a:pPr>
            <a:r>
              <a:rPr sz="1400" b="1">
                <a:solidFill>
                  <a:srgbClr val="7C3AED"/>
                </a:solidFill>
                <a:latin typeface="Arial"/>
              </a:rPr>
              <a:t>Watch the row count</a:t>
            </a:r>
          </a:p>
        </p:txBody>
      </p:sp>
      <p:sp>
        <p:nvSpPr>
          <p:cNvPr id="21" name="TextBox 20"/>
          <p:cNvSpPr txBox="1"/>
          <p:nvPr/>
        </p:nvSpPr>
        <p:spPr>
          <a:xfrm>
            <a:off x="8311896" y="4224528"/>
            <a:ext cx="2926080" cy="1463040"/>
          </a:xfrm>
          <a:prstGeom prst="rect">
            <a:avLst/>
          </a:prstGeom>
          <a:noFill/>
        </p:spPr>
        <p:txBody>
          <a:bodyPr wrap="square" anchor="t">
            <a:spAutoFit/>
          </a:bodyPr>
          <a:lstStyle/>
          <a:p>
            <a:pPr algn="l">
              <a:spcAft>
                <a:spcPts val="400"/>
              </a:spcAft>
            </a:pPr>
            <a:r>
              <a:rPr sz="1150" b="0">
                <a:solidFill>
                  <a:srgbClr val="161B26"/>
                </a:solidFill>
                <a:latin typeface="Arial"/>
              </a:rPr>
              <a:t>Matching on too few columns multiplies rows — Lab 16 shows a 5x inflation.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16: Merge on Multiple Fields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16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Prices vary by both product and region, so a single-column match returns the wrong price. The learner Ctrl-clicks two columns in each table to build a composite key, and learns that column selection order determines the pairing.</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correctly priced sales query matched on Product plus Region.</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Row count matches Sales exactly, and a North-region order carries the North price, not the South one.</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LO3 · A3 · K2 — Match on a composite key using more than one column.</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16</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lab-16-multi-field-merge.xlsx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Merge Queries  ·  Full step-by-step: Learner Guide, Lab 16</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3 · APPROXIMATE MATCH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Power Query merges are EXACT match only.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VLOOKUP's approximate match must be rebuilt — with binning or a banding 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BINNING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Ways to Rebuild an Approximate Match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914204"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658172"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2691444" y="1783080"/>
            <a:ext cx="436013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9460" y="1783080"/>
            <a:ext cx="4104102" cy="475488"/>
          </a:xfrm>
          <a:prstGeom prst="rect">
            <a:avLst/>
          </a:prstGeom>
          <a:noFill/>
        </p:spPr>
        <p:txBody>
          <a:bodyPr wrap="square" anchor="ctr">
            <a:spAutoFit/>
          </a:bodyPr>
          <a:lstStyle/>
          <a:p>
            <a:pPr algn="l">
              <a:spcAft>
                <a:spcPts val="400"/>
              </a:spcAft>
            </a:pPr>
            <a:r>
              <a:rPr sz="1300" b="1">
                <a:solidFill>
                  <a:srgbClr val="FFFFFF"/>
                </a:solidFill>
                <a:latin typeface="Arial"/>
              </a:rPr>
              <a:t>Conditional column (binning)</a:t>
            </a:r>
          </a:p>
        </p:txBody>
      </p:sp>
      <p:sp>
        <p:nvSpPr>
          <p:cNvPr id="11" name="Rectangle 10"/>
          <p:cNvSpPr/>
          <p:nvPr/>
        </p:nvSpPr>
        <p:spPr>
          <a:xfrm>
            <a:off x="7051578" y="1783080"/>
            <a:ext cx="4360134"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9594" y="1783080"/>
            <a:ext cx="4104102" cy="475488"/>
          </a:xfrm>
          <a:prstGeom prst="rect">
            <a:avLst/>
          </a:prstGeom>
          <a:noFill/>
        </p:spPr>
        <p:txBody>
          <a:bodyPr wrap="square" anchor="ctr">
            <a:spAutoFit/>
          </a:bodyPr>
          <a:lstStyle/>
          <a:p>
            <a:pPr algn="l">
              <a:spcAft>
                <a:spcPts val="400"/>
              </a:spcAft>
            </a:pPr>
            <a:r>
              <a:rPr sz="1300" b="1">
                <a:solidFill>
                  <a:srgbClr val="FFFFFF"/>
                </a:solidFill>
                <a:latin typeface="Arial"/>
              </a:rPr>
              <a:t>Banding table + merge</a:t>
            </a:r>
          </a:p>
        </p:txBody>
      </p:sp>
      <p:sp>
        <p:nvSpPr>
          <p:cNvPr id="13" name="Rectangle 12"/>
          <p:cNvSpPr/>
          <p:nvPr/>
        </p:nvSpPr>
        <p:spPr>
          <a:xfrm>
            <a:off x="777240" y="2258568"/>
            <a:ext cx="191420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How</a:t>
            </a:r>
          </a:p>
        </p:txBody>
      </p:sp>
      <p:sp>
        <p:nvSpPr>
          <p:cNvPr id="15" name="Rectangle 14"/>
          <p:cNvSpPr/>
          <p:nvPr/>
        </p:nvSpPr>
        <p:spPr>
          <a:xfrm>
            <a:off x="2691444" y="2258568"/>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1172" y="2258568"/>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if/then/else on the thresholds</a:t>
            </a:r>
          </a:p>
        </p:txBody>
      </p:sp>
      <p:sp>
        <p:nvSpPr>
          <p:cNvPr id="17" name="Rectangle 16"/>
          <p:cNvSpPr/>
          <p:nvPr/>
        </p:nvSpPr>
        <p:spPr>
          <a:xfrm>
            <a:off x="7051578" y="2258568"/>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1306" y="2258568"/>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A table of Lower/Upper/Rate rows</a:t>
            </a:r>
          </a:p>
        </p:txBody>
      </p:sp>
      <p:sp>
        <p:nvSpPr>
          <p:cNvPr id="19" name="Rectangle 18"/>
          <p:cNvSpPr/>
          <p:nvPr/>
        </p:nvSpPr>
        <p:spPr>
          <a:xfrm>
            <a:off x="777240" y="2838297"/>
            <a:ext cx="191420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838297"/>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Bands live</a:t>
            </a:r>
          </a:p>
        </p:txBody>
      </p:sp>
      <p:sp>
        <p:nvSpPr>
          <p:cNvPr id="21" name="Rectangle 20"/>
          <p:cNvSpPr/>
          <p:nvPr/>
        </p:nvSpPr>
        <p:spPr>
          <a:xfrm>
            <a:off x="2691444" y="2838297"/>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01172" y="2838297"/>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Inside the query</a:t>
            </a:r>
          </a:p>
        </p:txBody>
      </p:sp>
      <p:sp>
        <p:nvSpPr>
          <p:cNvPr id="23" name="Rectangle 22"/>
          <p:cNvSpPr/>
          <p:nvPr/>
        </p:nvSpPr>
        <p:spPr>
          <a:xfrm>
            <a:off x="7051578" y="2838297"/>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61306" y="2838297"/>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In a worksheet table anyone can edit</a:t>
            </a:r>
          </a:p>
        </p:txBody>
      </p:sp>
      <p:sp>
        <p:nvSpPr>
          <p:cNvPr id="25" name="Rectangle 24"/>
          <p:cNvSpPr/>
          <p:nvPr/>
        </p:nvSpPr>
        <p:spPr>
          <a:xfrm>
            <a:off x="777240" y="3418026"/>
            <a:ext cx="191420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418026"/>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To change a band</a:t>
            </a:r>
          </a:p>
        </p:txBody>
      </p:sp>
      <p:sp>
        <p:nvSpPr>
          <p:cNvPr id="27" name="Rectangle 26"/>
          <p:cNvSpPr/>
          <p:nvPr/>
        </p:nvSpPr>
        <p:spPr>
          <a:xfrm>
            <a:off x="2691444" y="3418026"/>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01172" y="3418026"/>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Edit the query step</a:t>
            </a:r>
          </a:p>
        </p:txBody>
      </p:sp>
      <p:sp>
        <p:nvSpPr>
          <p:cNvPr id="29" name="Rectangle 28"/>
          <p:cNvSpPr/>
          <p:nvPr/>
        </p:nvSpPr>
        <p:spPr>
          <a:xfrm>
            <a:off x="7051578" y="3418026"/>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61306" y="3418026"/>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Edit a cell and Refresh</a:t>
            </a:r>
          </a:p>
        </p:txBody>
      </p:sp>
      <p:sp>
        <p:nvSpPr>
          <p:cNvPr id="31" name="Rectangle 30"/>
          <p:cNvSpPr/>
          <p:nvPr/>
        </p:nvSpPr>
        <p:spPr>
          <a:xfrm>
            <a:off x="777240" y="3997755"/>
            <a:ext cx="191420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97755"/>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33" name="Rectangle 32"/>
          <p:cNvSpPr/>
          <p:nvPr/>
        </p:nvSpPr>
        <p:spPr>
          <a:xfrm>
            <a:off x="2691444" y="3997755"/>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01172" y="3997755"/>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Two or three stable bands</a:t>
            </a:r>
          </a:p>
        </p:txBody>
      </p:sp>
      <p:sp>
        <p:nvSpPr>
          <p:cNvPr id="35" name="Rectangle 34"/>
          <p:cNvSpPr/>
          <p:nvPr/>
        </p:nvSpPr>
        <p:spPr>
          <a:xfrm>
            <a:off x="7051578" y="3997755"/>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61306" y="3997755"/>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Bands that change, or many of them</a:t>
            </a:r>
          </a:p>
        </p:txBody>
      </p:sp>
      <p:sp>
        <p:nvSpPr>
          <p:cNvPr id="37" name="Rectangle 36"/>
          <p:cNvSpPr/>
          <p:nvPr/>
        </p:nvSpPr>
        <p:spPr>
          <a:xfrm>
            <a:off x="777240" y="4577484"/>
            <a:ext cx="191420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577484"/>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Lab 17 builds</a:t>
            </a:r>
          </a:p>
        </p:txBody>
      </p:sp>
      <p:sp>
        <p:nvSpPr>
          <p:cNvPr id="39" name="Rectangle 38"/>
          <p:cNvSpPr/>
          <p:nvPr/>
        </p:nvSpPr>
        <p:spPr>
          <a:xfrm>
            <a:off x="2691444" y="4577484"/>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01172" y="4577484"/>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Rate A — the quick version</a:t>
            </a:r>
          </a:p>
        </p:txBody>
      </p:sp>
      <p:sp>
        <p:nvSpPr>
          <p:cNvPr id="41" name="Rectangle 40"/>
          <p:cNvSpPr/>
          <p:nvPr/>
        </p:nvSpPr>
        <p:spPr>
          <a:xfrm>
            <a:off x="7051578" y="4577484"/>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61306" y="4577484"/>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The data-driven version</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Both must agree at the boundaries. Lab 17 includes reps at exactly 10,000 and exactly 50,000 to prove 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17: Approximate Match: Binning and Conditional Columns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17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Power Query merges are exact-match only, so VLOOKUP's TRUE behaviour must be rebuilt. The learner solves a commission-band lookup twice: once with a conditional column for fixed bands, and once with a banding table plus a merge so the bands stay data-driven.</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commission-rate column produced by both the conditional-column and banding-table methods.</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Both methods return identical rates, including at the exact band boundaries of 10000 and 50000.</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LO3 · A3 · K2, K3 — Reproduce VLOOKUP's approximate match two ways.</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17</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lab-17-approximate-match.xlsx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Conditional Column, Merge Queries  ·  Full step-by-step: Learner Guide, Lab 17</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CROSS JOIN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Cross Join and Drill 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Cross join = every pair</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Add a custom column whose formula is the other query, then expand. 5 regions x 13 products = 65 rows.</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Why you want it</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A report with no gaps — combinations with zero sales still appear, showing 0 instead of vanishing.</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The danger</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1,000 x 1,000 rows is a million-row table. Only cross join small lookup tables.</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Drill Down</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Right-click a single cell &gt; Drill Down. The query now returns ONE value you can reuse as a parameter.</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1F6FEB"/>
                </a:solidFill>
                <a:latin typeface="Arial"/>
              </a:rPr>
              <a:t>LAB 18 COMBINES BOTH</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Build the complete region x product grid with a cross join, fill the gaps with zero, then drill down to a threshold value that drives a filter step.</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18: Cross Join and Drill Down to a Variable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18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A sales matrix must show every region against every product, including combinations with no sales, so the report has no gaps. The learner builds that complete grid with a cross join, then uses Drill Down to turn a single cell into a reusable variable such as a target threshold.</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complete region x product grid plus a drilled-down threshold variable.</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The grid row count equals regions x products, and unsold combinations show 0 rather than being absent.</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LO3 · A3 · K1, K2 — Build a complete grid with a cross join and extract a scalar by drill down.</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18</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lab-18-cross-join-drilldown.xlsx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Custom Column, Drill Down  ·  Full step-by-step: Learner Guide, Lab 18</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3 · FUZZY MATCHING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Real customer names never match exactly.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'Pte Ltd' vs 'Pte. Ltd.' vs a typo — fuzzy matching scores similarity instead of demanding equality.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THRESHOLD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Tuning the Similarity Threshold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91420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1658172" cy="475488"/>
          </a:xfrm>
          <a:prstGeom prst="rect">
            <a:avLst/>
          </a:prstGeom>
          <a:noFill/>
        </p:spPr>
        <p:txBody>
          <a:bodyPr wrap="square" anchor="ctr">
            <a:spAutoFit/>
          </a:bodyPr>
          <a:lstStyle/>
          <a:p>
            <a:pPr algn="l">
              <a:spcAft>
                <a:spcPts val="400"/>
              </a:spcAft>
            </a:pPr>
            <a:r>
              <a:rPr sz="1300" b="1">
                <a:solidFill>
                  <a:srgbClr val="FFFFFF"/>
                </a:solidFill>
                <a:latin typeface="Arial"/>
              </a:rPr>
              <a:t>Threshold</a:t>
            </a:r>
          </a:p>
        </p:txBody>
      </p:sp>
      <p:sp>
        <p:nvSpPr>
          <p:cNvPr id="9" name="Rectangle 8"/>
          <p:cNvSpPr/>
          <p:nvPr/>
        </p:nvSpPr>
        <p:spPr>
          <a:xfrm>
            <a:off x="2691444" y="1783080"/>
            <a:ext cx="436013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19460" y="1783080"/>
            <a:ext cx="4104102" cy="475488"/>
          </a:xfrm>
          <a:prstGeom prst="rect">
            <a:avLst/>
          </a:prstGeom>
          <a:noFill/>
        </p:spPr>
        <p:txBody>
          <a:bodyPr wrap="square" anchor="ctr">
            <a:spAutoFit/>
          </a:bodyPr>
          <a:lstStyle/>
          <a:p>
            <a:pPr algn="l">
              <a:spcAft>
                <a:spcPts val="400"/>
              </a:spcAft>
            </a:pPr>
            <a:r>
              <a:rPr sz="1300" b="1">
                <a:solidFill>
                  <a:srgbClr val="FFFFFF"/>
                </a:solidFill>
                <a:latin typeface="Arial"/>
              </a:rPr>
              <a:t>Behaviour</a:t>
            </a:r>
          </a:p>
        </p:txBody>
      </p:sp>
      <p:sp>
        <p:nvSpPr>
          <p:cNvPr id="11" name="Rectangle 10"/>
          <p:cNvSpPr/>
          <p:nvPr/>
        </p:nvSpPr>
        <p:spPr>
          <a:xfrm>
            <a:off x="7051578" y="1783080"/>
            <a:ext cx="4360134"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9594" y="1783080"/>
            <a:ext cx="4104102" cy="475488"/>
          </a:xfrm>
          <a:prstGeom prst="rect">
            <a:avLst/>
          </a:prstGeom>
          <a:noFill/>
        </p:spPr>
        <p:txBody>
          <a:bodyPr wrap="square" anchor="ctr">
            <a:spAutoFit/>
          </a:bodyPr>
          <a:lstStyle/>
          <a:p>
            <a:pPr algn="l">
              <a:spcAft>
                <a:spcPts val="400"/>
              </a:spcAft>
            </a:pPr>
            <a:r>
              <a:rPr sz="1300" b="1">
                <a:solidFill>
                  <a:srgbClr val="FFFFFF"/>
                </a:solidFill>
                <a:latin typeface="Arial"/>
              </a:rPr>
              <a:t>Risk</a:t>
            </a:r>
          </a:p>
        </p:txBody>
      </p:sp>
      <p:sp>
        <p:nvSpPr>
          <p:cNvPr id="13" name="Rectangle 12"/>
          <p:cNvSpPr/>
          <p:nvPr/>
        </p:nvSpPr>
        <p:spPr>
          <a:xfrm>
            <a:off x="777240" y="2258568"/>
            <a:ext cx="191420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58568"/>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1.00</a:t>
            </a:r>
          </a:p>
        </p:txBody>
      </p:sp>
      <p:sp>
        <p:nvSpPr>
          <p:cNvPr id="15" name="Rectangle 14"/>
          <p:cNvSpPr/>
          <p:nvPr/>
        </p:nvSpPr>
        <p:spPr>
          <a:xfrm>
            <a:off x="2691444" y="2258568"/>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1172" y="2258568"/>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Exact match only — fuzzy is effectively off</a:t>
            </a:r>
          </a:p>
        </p:txBody>
      </p:sp>
      <p:sp>
        <p:nvSpPr>
          <p:cNvPr id="17" name="Rectangle 16"/>
          <p:cNvSpPr/>
          <p:nvPr/>
        </p:nvSpPr>
        <p:spPr>
          <a:xfrm>
            <a:off x="7051578" y="2258568"/>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1306" y="2258568"/>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Misses every variant</a:t>
            </a:r>
          </a:p>
        </p:txBody>
      </p:sp>
      <p:sp>
        <p:nvSpPr>
          <p:cNvPr id="19" name="Rectangle 18"/>
          <p:cNvSpPr/>
          <p:nvPr/>
        </p:nvSpPr>
        <p:spPr>
          <a:xfrm>
            <a:off x="777240" y="2838297"/>
            <a:ext cx="191420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838297"/>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0.90</a:t>
            </a:r>
          </a:p>
        </p:txBody>
      </p:sp>
      <p:sp>
        <p:nvSpPr>
          <p:cNvPr id="21" name="Rectangle 20"/>
          <p:cNvSpPr/>
          <p:nvPr/>
        </p:nvSpPr>
        <p:spPr>
          <a:xfrm>
            <a:off x="2691444" y="2838297"/>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01172" y="2838297"/>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Very close spellings only</a:t>
            </a:r>
          </a:p>
        </p:txBody>
      </p:sp>
      <p:sp>
        <p:nvSpPr>
          <p:cNvPr id="23" name="Rectangle 22"/>
          <p:cNvSpPr/>
          <p:nvPr/>
        </p:nvSpPr>
        <p:spPr>
          <a:xfrm>
            <a:off x="7051578" y="2838297"/>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61306" y="2838297"/>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Still misses common abbreviations</a:t>
            </a:r>
          </a:p>
        </p:txBody>
      </p:sp>
      <p:sp>
        <p:nvSpPr>
          <p:cNvPr id="25" name="Rectangle 24"/>
          <p:cNvSpPr/>
          <p:nvPr/>
        </p:nvSpPr>
        <p:spPr>
          <a:xfrm>
            <a:off x="777240" y="3418026"/>
            <a:ext cx="191420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418026"/>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0.80</a:t>
            </a:r>
          </a:p>
        </p:txBody>
      </p:sp>
      <p:sp>
        <p:nvSpPr>
          <p:cNvPr id="27" name="Rectangle 26"/>
          <p:cNvSpPr/>
          <p:nvPr/>
        </p:nvSpPr>
        <p:spPr>
          <a:xfrm>
            <a:off x="2691444" y="3418026"/>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01172" y="3418026"/>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The recommended starting point</a:t>
            </a:r>
          </a:p>
        </p:txBody>
      </p:sp>
      <p:sp>
        <p:nvSpPr>
          <p:cNvPr id="29" name="Rectangle 28"/>
          <p:cNvSpPr/>
          <p:nvPr/>
        </p:nvSpPr>
        <p:spPr>
          <a:xfrm>
            <a:off x="7051578" y="3418026"/>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61306" y="3418026"/>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Balanced — few false matches</a:t>
            </a:r>
          </a:p>
        </p:txBody>
      </p:sp>
      <p:sp>
        <p:nvSpPr>
          <p:cNvPr id="31" name="Rectangle 30"/>
          <p:cNvSpPr/>
          <p:nvPr/>
        </p:nvSpPr>
        <p:spPr>
          <a:xfrm>
            <a:off x="777240" y="3997755"/>
            <a:ext cx="191420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97755"/>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0.60</a:t>
            </a:r>
          </a:p>
        </p:txBody>
      </p:sp>
      <p:sp>
        <p:nvSpPr>
          <p:cNvPr id="33" name="Rectangle 32"/>
          <p:cNvSpPr/>
          <p:nvPr/>
        </p:nvSpPr>
        <p:spPr>
          <a:xfrm>
            <a:off x="2691444" y="3997755"/>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01172" y="3997755"/>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Loosely similar text matches</a:t>
            </a:r>
          </a:p>
        </p:txBody>
      </p:sp>
      <p:sp>
        <p:nvSpPr>
          <p:cNvPr id="35" name="Rectangle 34"/>
          <p:cNvSpPr/>
          <p:nvPr/>
        </p:nvSpPr>
        <p:spPr>
          <a:xfrm>
            <a:off x="7051578" y="3997755"/>
            <a:ext cx="4360134"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61306" y="3997755"/>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False matches appear</a:t>
            </a:r>
          </a:p>
        </p:txBody>
      </p:sp>
      <p:sp>
        <p:nvSpPr>
          <p:cNvPr id="37" name="Rectangle 36"/>
          <p:cNvSpPr/>
          <p:nvPr/>
        </p:nvSpPr>
        <p:spPr>
          <a:xfrm>
            <a:off x="777240" y="4577484"/>
            <a:ext cx="191420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4577484"/>
            <a:ext cx="1694748" cy="579729"/>
          </a:xfrm>
          <a:prstGeom prst="rect">
            <a:avLst/>
          </a:prstGeom>
          <a:noFill/>
        </p:spPr>
        <p:txBody>
          <a:bodyPr wrap="square" anchor="ctr">
            <a:spAutoFit/>
          </a:bodyPr>
          <a:lstStyle/>
          <a:p>
            <a:pPr algn="l">
              <a:spcAft>
                <a:spcPts val="400"/>
              </a:spcAft>
            </a:pPr>
            <a:r>
              <a:rPr sz="1150" b="1">
                <a:solidFill>
                  <a:srgbClr val="161B26"/>
                </a:solidFill>
                <a:latin typeface="Arial"/>
              </a:rPr>
              <a:t>0.40</a:t>
            </a:r>
          </a:p>
        </p:txBody>
      </p:sp>
      <p:sp>
        <p:nvSpPr>
          <p:cNvPr id="39" name="Rectangle 38"/>
          <p:cNvSpPr/>
          <p:nvPr/>
        </p:nvSpPr>
        <p:spPr>
          <a:xfrm>
            <a:off x="2691444" y="4577484"/>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01172" y="4577484"/>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Almost anything matches</a:t>
            </a:r>
          </a:p>
        </p:txBody>
      </p:sp>
      <p:sp>
        <p:nvSpPr>
          <p:cNvPr id="41" name="Rectangle 40"/>
          <p:cNvSpPr/>
          <p:nvPr/>
        </p:nvSpPr>
        <p:spPr>
          <a:xfrm>
            <a:off x="7051578" y="4577484"/>
            <a:ext cx="4360134"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61306" y="4577484"/>
            <a:ext cx="4140678" cy="579729"/>
          </a:xfrm>
          <a:prstGeom prst="rect">
            <a:avLst/>
          </a:prstGeom>
          <a:noFill/>
        </p:spPr>
        <p:txBody>
          <a:bodyPr wrap="square" anchor="ctr">
            <a:spAutoFit/>
          </a:bodyPr>
          <a:lstStyle/>
          <a:p>
            <a:pPr algn="l">
              <a:spcAft>
                <a:spcPts val="400"/>
              </a:spcAft>
            </a:pPr>
            <a:r>
              <a:rPr sz="1100" b="0">
                <a:solidFill>
                  <a:srgbClr val="5B6372"/>
                </a:solidFill>
                <a:latin typeface="Arial"/>
              </a:rPr>
              <a:t>Unusable — wrong data, silently</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Lower the threshold and you catch more real matches but also more wrong ones. Start at 0.80, inspect the result, and adjust deliberately.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OPTIONS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Fuzzy Matching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Similarity threshold</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0 to 1. How alike two values must be before they pair. 0.80 is the sensible default.</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Ignore case</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Treats EVERGREEN FOODS and Evergreen Foods as the same.</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Ignore space</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Handles double spaces and stray padding.</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Transformation table</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A two-column From/To table teaching pairs no score can catch — 'ABC Group' means 'ABC Holdings'.</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7C3AED"/>
                </a:solidFill>
                <a:latin typeface="Arial"/>
              </a:rPr>
              <a:t>WHY THE TRANSFORMATION TABLE IS ESSENTIAL</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No similarity score will ever link 'ABC Holdings' to 'ABC Group' — the words are genuinely different. Only an explicit mapping can. Lab 19 supplies one.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19: Fuzzy Matching and Transformation Tables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384048"/>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384048"/>
            <a:ext cx="1783080" cy="457200"/>
          </a:xfrm>
          <a:prstGeom prst="rect">
            <a:avLst/>
          </a:prstGeom>
          <a:noFill/>
        </p:spPr>
        <p:txBody>
          <a:bodyPr wrap="square" anchor="ctr">
            <a:spAutoFit/>
          </a:bodyPr>
          <a:lstStyle/>
          <a:p>
            <a:pPr algn="ctr">
              <a:spcAft>
                <a:spcPts val="400"/>
              </a:spcAft>
            </a:pPr>
            <a:r>
              <a:rPr sz="1050" b="1">
                <a:solidFill>
                  <a:srgbClr val="FFFFFF"/>
                </a:solidFill>
                <a:latin typeface="Arial"/>
              </a:rPr>
              <a:t>LAB 19  ·  30 MIN</a:t>
            </a:r>
          </a:p>
        </p:txBody>
      </p:sp>
      <p:sp>
        <p:nvSpPr>
          <p:cNvPr id="9" name="TextBox 8"/>
          <p:cNvSpPr txBox="1"/>
          <p:nvPr/>
        </p:nvSpPr>
        <p:spPr>
          <a:xfrm>
            <a:off x="777240" y="1755648"/>
            <a:ext cx="10634472" cy="868680"/>
          </a:xfrm>
          <a:prstGeom prst="rect">
            <a:avLst/>
          </a:prstGeom>
          <a:noFill/>
        </p:spPr>
        <p:txBody>
          <a:bodyPr wrap="square" anchor="t">
            <a:spAutoFit/>
          </a:bodyPr>
          <a:lstStyle/>
          <a:p>
            <a:pPr algn="l">
              <a:spcAft>
                <a:spcPts val="400"/>
              </a:spcAft>
            </a:pPr>
            <a:r>
              <a:rPr sz="1350" b="0">
                <a:solidFill>
                  <a:srgbClr val="5B6372"/>
                </a:solidFill>
                <a:latin typeface="Arial"/>
              </a:rPr>
              <a:t>Customer names arrive spelled inconsistently across two systems — 'Pte Ltd' versus 'Pte. Ltd.', typos, and abbreviations.</a:t>
            </a:r>
          </a:p>
        </p:txBody>
      </p:sp>
      <p:sp>
        <p:nvSpPr>
          <p:cNvPr id="10" name="Rectangle 9"/>
          <p:cNvSpPr/>
          <p:nvPr/>
        </p:nvSpPr>
        <p:spPr>
          <a:xfrm>
            <a:off x="777240" y="274320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16352"/>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13" name="TextBox 12"/>
          <p:cNvSpPr txBox="1"/>
          <p:nvPr/>
        </p:nvSpPr>
        <p:spPr>
          <a:xfrm>
            <a:off x="1051560" y="3090672"/>
            <a:ext cx="10149840" cy="438912"/>
          </a:xfrm>
          <a:prstGeom prst="rect">
            <a:avLst/>
          </a:prstGeom>
          <a:noFill/>
        </p:spPr>
        <p:txBody>
          <a:bodyPr wrap="square" anchor="t">
            <a:spAutoFit/>
          </a:bodyPr>
          <a:lstStyle/>
          <a:p>
            <a:pPr algn="l">
              <a:spcAft>
                <a:spcPts val="400"/>
              </a:spcAft>
            </a:pPr>
            <a:r>
              <a:rPr sz="1300" b="0">
                <a:solidFill>
                  <a:srgbClr val="161B26"/>
                </a:solidFill>
                <a:latin typeface="Arial"/>
              </a:rPr>
              <a:t>A reconciled customer query matched by fuzzy logic plus a transformation table.</a:t>
            </a:r>
          </a:p>
        </p:txBody>
      </p:sp>
      <p:sp>
        <p:nvSpPr>
          <p:cNvPr id="14" name="Rectangle 13"/>
          <p:cNvSpPr/>
          <p:nvPr/>
        </p:nvSpPr>
        <p:spPr>
          <a:xfrm>
            <a:off x="777240" y="3675887"/>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75887"/>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49039"/>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HOW YOU'LL KNOW IT WORKED</a:t>
            </a:r>
          </a:p>
        </p:txBody>
      </p:sp>
      <p:sp>
        <p:nvSpPr>
          <p:cNvPr id="17" name="TextBox 16"/>
          <p:cNvSpPr txBox="1"/>
          <p:nvPr/>
        </p:nvSpPr>
        <p:spPr>
          <a:xfrm>
            <a:off x="1051560" y="4023360"/>
            <a:ext cx="10149840" cy="438912"/>
          </a:xfrm>
          <a:prstGeom prst="rect">
            <a:avLst/>
          </a:prstGeom>
          <a:noFill/>
        </p:spPr>
        <p:txBody>
          <a:bodyPr wrap="square" anchor="t">
            <a:spAutoFit/>
          </a:bodyPr>
          <a:lstStyle/>
          <a:p>
            <a:pPr algn="l">
              <a:spcAft>
                <a:spcPts val="400"/>
              </a:spcAft>
            </a:pPr>
            <a:r>
              <a:rPr sz="1250" b="0">
                <a:solidFill>
                  <a:srgbClr val="161B26"/>
                </a:solidFill>
                <a:latin typeface="Arial"/>
              </a:rPr>
              <a:t>All customers reconcile at threshold 0.8 with the transformation table applied, and no false match is introduced.</a:t>
            </a:r>
          </a:p>
        </p:txBody>
      </p:sp>
      <p:sp>
        <p:nvSpPr>
          <p:cNvPr id="18" name="Rectangle 17"/>
          <p:cNvSpPr/>
          <p:nvPr/>
        </p:nvSpPr>
        <p:spPr>
          <a:xfrm>
            <a:off x="777240" y="4608576"/>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08576"/>
            <a:ext cx="100584"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700016"/>
            <a:ext cx="10149840" cy="457200"/>
          </a:xfrm>
          <a:prstGeom prst="rect">
            <a:avLst/>
          </a:prstGeom>
          <a:noFill/>
        </p:spPr>
        <p:txBody>
          <a:bodyPr wrap="square" anchor="t">
            <a:spAutoFit/>
          </a:bodyPr>
          <a:lstStyle/>
          <a:p>
            <a:pPr algn="l">
              <a:spcAft>
                <a:spcPts val="400"/>
              </a:spcAft>
            </a:pPr>
            <a:r>
              <a:rPr sz="1100" b="1">
                <a:solidFill>
                  <a:srgbClr val="7C3AED"/>
                </a:solidFill>
                <a:latin typeface="Arial"/>
              </a:rPr>
              <a:t>MAPS TO  </a:t>
            </a:r>
            <a:r>
              <a:rPr sz="1150" b="0">
                <a:solidFill>
                  <a:srgbClr val="161B26"/>
                </a:solidFill>
                <a:latin typeface="Arial"/>
              </a:rPr>
              <a:t>LO3 · A3 · K2, K3 — Match inconsistent text with fuzzy matching and a transformation table.</a:t>
            </a:r>
          </a:p>
        </p:txBody>
      </p:sp>
      <p:sp>
        <p:nvSpPr>
          <p:cNvPr id="21" name="Rectangle 20"/>
          <p:cNvSpPr/>
          <p:nvPr/>
        </p:nvSpPr>
        <p:spPr>
          <a:xfrm>
            <a:off x="777240" y="5431536"/>
            <a:ext cx="10634472" cy="7863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559552"/>
            <a:ext cx="10515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59552"/>
            <a:ext cx="1051560" cy="457200"/>
          </a:xfrm>
          <a:prstGeom prst="rect">
            <a:avLst/>
          </a:prstGeom>
          <a:noFill/>
        </p:spPr>
        <p:txBody>
          <a:bodyPr wrap="square" anchor="ctr">
            <a:spAutoFit/>
          </a:bodyPr>
          <a:lstStyle/>
          <a:p>
            <a:pPr algn="ctr">
              <a:spcAft>
                <a:spcPts val="400"/>
              </a:spcAft>
            </a:pPr>
            <a:r>
              <a:rPr sz="1200" b="1">
                <a:solidFill>
                  <a:srgbClr val="FFFFFF"/>
                </a:solidFill>
                <a:latin typeface="Arial"/>
              </a:rPr>
              <a:t>LAB 19</a:t>
            </a:r>
          </a:p>
        </p:txBody>
      </p:sp>
      <p:sp>
        <p:nvSpPr>
          <p:cNvPr id="24" name="TextBox 23"/>
          <p:cNvSpPr txBox="1"/>
          <p:nvPr/>
        </p:nvSpPr>
        <p:spPr>
          <a:xfrm>
            <a:off x="2148840" y="5504688"/>
            <a:ext cx="9144000" cy="310896"/>
          </a:xfrm>
          <a:prstGeom prst="rect">
            <a:avLst/>
          </a:prstGeom>
          <a:noFill/>
        </p:spPr>
        <p:txBody>
          <a:bodyPr wrap="square" anchor="t">
            <a:spAutoFit/>
          </a:bodyPr>
          <a:lstStyle/>
          <a:p>
            <a:pPr algn="l">
              <a:spcAft>
                <a:spcPts val="400"/>
              </a:spcAft>
            </a:pPr>
            <a:r>
              <a:rPr sz="1300" b="1">
                <a:solidFill>
                  <a:srgbClr val="161B26"/>
                </a:solidFill>
                <a:latin typeface="Arial"/>
              </a:rPr>
              <a:t>lab-19-fuzzy-matching.xlsx</a:t>
            </a:r>
          </a:p>
        </p:txBody>
      </p:sp>
      <p:sp>
        <p:nvSpPr>
          <p:cNvPr id="25" name="TextBox 24"/>
          <p:cNvSpPr txBox="1"/>
          <p:nvPr/>
        </p:nvSpPr>
        <p:spPr>
          <a:xfrm>
            <a:off x="2148840" y="5815584"/>
            <a:ext cx="9144000" cy="310896"/>
          </a:xfrm>
          <a:prstGeom prst="rect">
            <a:avLst/>
          </a:prstGeom>
          <a:noFill/>
        </p:spPr>
        <p:txBody>
          <a:bodyPr wrap="square" anchor="t">
            <a:spAutoFit/>
          </a:bodyPr>
          <a:lstStyle/>
          <a:p>
            <a:pPr algn="l">
              <a:spcAft>
                <a:spcPts val="400"/>
              </a:spcAft>
            </a:pPr>
            <a:r>
              <a:rPr sz="1050" b="0">
                <a:solidFill>
                  <a:srgbClr val="5B6372"/>
                </a:solidFill>
                <a:latin typeface="Arial"/>
              </a:rPr>
              <a:t>Excel, Power Query Editor, Fuzzy Merge, Transformation Table  ·  Full step-by-step: Learner Guide, Lab 19</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3 ·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930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Six join kinds</a:t>
            </a:r>
          </a:p>
          <a:p>
            <a:pPr algn="l">
              <a:spcAft>
                <a:spcPts val="300"/>
              </a:spcAft>
            </a:pPr>
            <a:r>
              <a:rPr sz="1200" b="0">
                <a:solidFill>
                  <a:srgbClr val="5B6372"/>
                </a:solidFill>
                <a:latin typeface="Arial"/>
              </a:rPr>
              <a:t>Left/Right/Full Outer, Inner, Left/Right Anti</a:t>
            </a:r>
          </a:p>
        </p:txBody>
      </p:sp>
      <p:sp>
        <p:nvSpPr>
          <p:cNvPr id="12" name="Rectangle 11"/>
          <p:cNvSpPr/>
          <p:nvPr/>
        </p:nvSpPr>
        <p:spPr>
          <a:xfrm>
            <a:off x="6231636"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930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Left Outer is the default</a:t>
            </a:r>
          </a:p>
          <a:p>
            <a:pPr algn="l">
              <a:spcAft>
                <a:spcPts val="300"/>
              </a:spcAft>
            </a:pPr>
            <a:r>
              <a:rPr sz="1200" b="0">
                <a:solidFill>
                  <a:srgbClr val="5B6372"/>
                </a:solidFill>
                <a:latin typeface="Arial"/>
              </a:rPr>
              <a:t>It keeps every row of your main table</a:t>
            </a:r>
          </a:p>
        </p:txBody>
      </p:sp>
      <p:sp>
        <p:nvSpPr>
          <p:cNvPr id="17" name="Rectangle 16"/>
          <p:cNvSpPr/>
          <p:nvPr/>
        </p:nvSpPr>
        <p:spPr>
          <a:xfrm>
            <a:off x="777240"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91440"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7261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Anti joins find problems</a:t>
            </a:r>
          </a:p>
          <a:p>
            <a:pPr algn="l">
              <a:spcAft>
                <a:spcPts val="300"/>
              </a:spcAft>
            </a:pPr>
            <a:r>
              <a:rPr sz="1200" b="0">
                <a:solidFill>
                  <a:srgbClr val="5B6372"/>
                </a:solidFill>
                <a:latin typeface="Arial"/>
              </a:rPr>
              <a:t>Orphan records and unused lookups</a:t>
            </a:r>
          </a:p>
        </p:txBody>
      </p:sp>
      <p:sp>
        <p:nvSpPr>
          <p:cNvPr id="22" name="Rectangle 21"/>
          <p:cNvSpPr/>
          <p:nvPr/>
        </p:nvSpPr>
        <p:spPr>
          <a:xfrm>
            <a:off x="6231636"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6224"/>
            <a:ext cx="91440" cy="1368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7261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Composite keys</a:t>
            </a:r>
          </a:p>
          <a:p>
            <a:pPr algn="l">
              <a:spcAft>
                <a:spcPts val="300"/>
              </a:spcAft>
            </a:pPr>
            <a:r>
              <a:rPr sz="1200" b="0">
                <a:solidFill>
                  <a:srgbClr val="5B6372"/>
                </a:solidFill>
                <a:latin typeface="Arial"/>
              </a:rPr>
              <a:t>Ctrl-click both columns, same order, both tables</a:t>
            </a:r>
          </a:p>
        </p:txBody>
      </p:sp>
      <p:sp>
        <p:nvSpPr>
          <p:cNvPr id="27" name="Rectangle 26"/>
          <p:cNvSpPr/>
          <p:nvPr/>
        </p:nvSpPr>
        <p:spPr>
          <a:xfrm>
            <a:off x="777240"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Approximate match</a:t>
            </a:r>
          </a:p>
          <a:p>
            <a:pPr algn="l">
              <a:spcAft>
                <a:spcPts val="300"/>
              </a:spcAft>
            </a:pPr>
            <a:r>
              <a:rPr sz="1200" b="0">
                <a:solidFill>
                  <a:srgbClr val="5B6372"/>
                </a:solidFill>
                <a:latin typeface="Arial"/>
              </a:rPr>
              <a:t>Rebuild with binning or a banding table</a:t>
            </a:r>
          </a:p>
        </p:txBody>
      </p:sp>
      <p:sp>
        <p:nvSpPr>
          <p:cNvPr id="32" name="Rectangle 31"/>
          <p:cNvSpPr/>
          <p:nvPr/>
        </p:nvSpPr>
        <p:spPr>
          <a:xfrm>
            <a:off x="6231636"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9368"/>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Fuzzy + transformation table</a:t>
            </a:r>
          </a:p>
          <a:p>
            <a:pPr algn="l">
              <a:spcAft>
                <a:spcPts val="300"/>
              </a:spcAft>
            </a:pPr>
            <a:r>
              <a:rPr sz="1200" b="0">
                <a:solidFill>
                  <a:srgbClr val="5B6372"/>
                </a:solidFill>
                <a:latin typeface="Arial"/>
              </a:rPr>
              <a:t>Score similarity, then teach the exceptions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REVISION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Putting It All Together</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full pipeline, from raw file to answered business question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REVISION · END TO END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Complete Workflow You Have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Get</a:t>
            </a:r>
          </a:p>
        </p:txBody>
      </p:sp>
      <p:sp>
        <p:nvSpPr>
          <p:cNvPr id="12" name="TextBox 11"/>
          <p:cNvSpPr txBox="1"/>
          <p:nvPr/>
        </p:nvSpPr>
        <p:spPr>
          <a:xfrm>
            <a:off x="85039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Table, workbook, folder</a:t>
            </a:r>
          </a:p>
        </p:txBody>
      </p:sp>
      <p:cxnSp>
        <p:nvCxnSpPr>
          <p:cNvPr id="13" name="Connector 12"/>
          <p:cNvCxnSpPr/>
          <p:nvPr/>
        </p:nvCxnSpPr>
        <p:spPr>
          <a:xfrm>
            <a:off x="228447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Clean</a:t>
            </a:r>
          </a:p>
        </p:txBody>
      </p:sp>
      <p:sp>
        <p:nvSpPr>
          <p:cNvPr id="19" name="TextBox 18"/>
          <p:cNvSpPr txBox="1"/>
          <p:nvPr/>
        </p:nvSpPr>
        <p:spPr>
          <a:xfrm>
            <a:off x="268681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Types, fill, split, trim</a:t>
            </a:r>
          </a:p>
        </p:txBody>
      </p:sp>
      <p:cxnSp>
        <p:nvCxnSpPr>
          <p:cNvPr id="20" name="Connector 19"/>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Enrich</a:t>
            </a:r>
          </a:p>
        </p:txBody>
      </p:sp>
      <p:sp>
        <p:nvSpPr>
          <p:cNvPr id="26" name="TextBox 25"/>
          <p:cNvSpPr txBox="1"/>
          <p:nvPr/>
        </p:nvSpPr>
        <p:spPr>
          <a:xfrm>
            <a:off x="452323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Conditional and custom columns</a:t>
            </a:r>
          </a:p>
        </p:txBody>
      </p:sp>
      <p:cxnSp>
        <p:nvCxnSpPr>
          <p:cNvPr id="27" name="Connector 26"/>
          <p:cNvCxnSpPr/>
          <p:nvPr/>
        </p:nvCxnSpPr>
        <p:spPr>
          <a:xfrm>
            <a:off x="595731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Combine</a:t>
            </a:r>
          </a:p>
        </p:txBody>
      </p:sp>
      <p:sp>
        <p:nvSpPr>
          <p:cNvPr id="33" name="TextBox 32"/>
          <p:cNvSpPr txBox="1"/>
          <p:nvPr/>
        </p:nvSpPr>
        <p:spPr>
          <a:xfrm>
            <a:off x="635965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Merge and append</a:t>
            </a:r>
          </a:p>
        </p:txBody>
      </p:sp>
      <p:cxnSp>
        <p:nvCxnSpPr>
          <p:cNvPr id="34" name="Connector 33"/>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Model</a:t>
            </a:r>
          </a:p>
        </p:txBody>
      </p:sp>
      <p:sp>
        <p:nvSpPr>
          <p:cNvPr id="40" name="TextBox 39"/>
          <p:cNvSpPr txBox="1"/>
          <p:nvPr/>
        </p:nvSpPr>
        <p:spPr>
          <a:xfrm>
            <a:off x="819607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Relationships and DAX</a:t>
            </a:r>
          </a:p>
        </p:txBody>
      </p:sp>
      <p:cxnSp>
        <p:nvCxnSpPr>
          <p:cNvPr id="41" name="Connector 40"/>
          <p:cNvCxnSpPr/>
          <p:nvPr/>
        </p:nvCxnSpPr>
        <p:spPr>
          <a:xfrm>
            <a:off x="963015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Report</a:t>
            </a:r>
          </a:p>
        </p:txBody>
      </p:sp>
      <p:sp>
        <p:nvSpPr>
          <p:cNvPr id="47" name="TextBox 46"/>
          <p:cNvSpPr txBox="1"/>
          <p:nvPr/>
        </p:nvSpPr>
        <p:spPr>
          <a:xfrm>
            <a:off x="1003249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PivotTable and refresh</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WHAT YOU CAN NOW DO</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Take a messy monthly extract and turn it into a refreshable, auditable report that rebuilds itself with one click next month.</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REVISION · COMMON ERRORS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Pitfalls That Cost Most Marks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930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Wrong data type</a:t>
            </a:r>
          </a:p>
          <a:p>
            <a:pPr algn="l">
              <a:spcAft>
                <a:spcPts val="300"/>
              </a:spcAft>
            </a:pPr>
            <a:r>
              <a:rPr sz="1200" b="0">
                <a:solidFill>
                  <a:srgbClr val="5B6372"/>
                </a:solidFill>
                <a:latin typeface="Arial"/>
              </a:rPr>
              <a:t>Set every type explicitly, first</a:t>
            </a:r>
          </a:p>
        </p:txBody>
      </p:sp>
      <p:sp>
        <p:nvSpPr>
          <p:cNvPr id="12" name="Rectangle 11"/>
          <p:cNvSpPr/>
          <p:nvPr/>
        </p:nvSpPr>
        <p:spPr>
          <a:xfrm>
            <a:off x="6231636" y="1783080"/>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930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930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Capitalised If/Then</a:t>
            </a:r>
          </a:p>
          <a:p>
            <a:pPr algn="l">
              <a:spcAft>
                <a:spcPts val="300"/>
              </a:spcAft>
            </a:pPr>
            <a:r>
              <a:rPr sz="1200" b="0">
                <a:solidFill>
                  <a:srgbClr val="5B6372"/>
                </a:solidFill>
                <a:latin typeface="Arial"/>
              </a:rPr>
              <a:t>M keywords are always lowercase</a:t>
            </a:r>
          </a:p>
        </p:txBody>
      </p:sp>
      <p:sp>
        <p:nvSpPr>
          <p:cNvPr id="17" name="Rectangle 16"/>
          <p:cNvSpPr/>
          <p:nvPr/>
        </p:nvSpPr>
        <p:spPr>
          <a:xfrm>
            <a:off x="777240"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91440" cy="13685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7261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Missing else</a:t>
            </a:r>
          </a:p>
          <a:p>
            <a:pPr algn="l">
              <a:spcAft>
                <a:spcPts val="300"/>
              </a:spcAft>
            </a:pPr>
            <a:r>
              <a:rPr sz="1200" b="0">
                <a:solidFill>
                  <a:srgbClr val="5B6372"/>
                </a:solidFill>
                <a:latin typeface="Arial"/>
              </a:rPr>
              <a:t>Every if in M needs one</a:t>
            </a:r>
          </a:p>
        </p:txBody>
      </p:sp>
      <p:sp>
        <p:nvSpPr>
          <p:cNvPr id="22" name="Rectangle 21"/>
          <p:cNvSpPr/>
          <p:nvPr/>
        </p:nvSpPr>
        <p:spPr>
          <a:xfrm>
            <a:off x="6231636" y="3316224"/>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6224"/>
            <a:ext cx="91440" cy="13685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72618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7261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4240"/>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Unpivot Only Selected</a:t>
            </a:r>
          </a:p>
          <a:p>
            <a:pPr algn="l">
              <a:spcAft>
                <a:spcPts val="300"/>
              </a:spcAft>
            </a:pPr>
            <a:r>
              <a:rPr sz="1200" b="0">
                <a:solidFill>
                  <a:srgbClr val="5B6372"/>
                </a:solidFill>
                <a:latin typeface="Arial"/>
              </a:rPr>
              <a:t>Use Unpivot Other Columns instead</a:t>
            </a:r>
          </a:p>
        </p:txBody>
      </p:sp>
      <p:sp>
        <p:nvSpPr>
          <p:cNvPr id="27" name="Rectangle 26"/>
          <p:cNvSpPr/>
          <p:nvPr/>
        </p:nvSpPr>
        <p:spPr>
          <a:xfrm>
            <a:off x="777240"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91440" cy="13685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5932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Merging on too few columns</a:t>
            </a:r>
          </a:p>
          <a:p>
            <a:pPr algn="l">
              <a:spcAft>
                <a:spcPts val="300"/>
              </a:spcAft>
            </a:pPr>
            <a:r>
              <a:rPr sz="1200" b="0">
                <a:solidFill>
                  <a:srgbClr val="5B6372"/>
                </a:solidFill>
                <a:latin typeface="Arial"/>
              </a:rPr>
              <a:t>Row count inflates silently</a:t>
            </a:r>
          </a:p>
        </p:txBody>
      </p:sp>
      <p:sp>
        <p:nvSpPr>
          <p:cNvPr id="32" name="Rectangle 31"/>
          <p:cNvSpPr/>
          <p:nvPr/>
        </p:nvSpPr>
        <p:spPr>
          <a:xfrm>
            <a:off x="6231636" y="4849368"/>
            <a:ext cx="5180076" cy="136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9368"/>
            <a:ext cx="91440" cy="136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5932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593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77384"/>
            <a:ext cx="3973068" cy="1185672"/>
          </a:xfrm>
          <a:prstGeom prst="rect">
            <a:avLst/>
          </a:prstGeom>
          <a:noFill/>
        </p:spPr>
        <p:txBody>
          <a:bodyPr wrap="square" anchor="ctr">
            <a:spAutoFit/>
          </a:bodyPr>
          <a:lstStyle/>
          <a:p>
            <a:pPr algn="l">
              <a:spcAft>
                <a:spcPts val="300"/>
              </a:spcAft>
            </a:pPr>
            <a:r>
              <a:rPr sz="1600" b="1">
                <a:solidFill>
                  <a:srgbClr val="161B26"/>
                </a:solidFill>
                <a:latin typeface="Arial"/>
              </a:rPr>
              <a:t>Forgetting to expand</a:t>
            </a:r>
          </a:p>
          <a:p>
            <a:pPr algn="l">
              <a:spcAft>
                <a:spcPts val="300"/>
              </a:spcAft>
            </a:pPr>
            <a:r>
              <a:rPr sz="1200" b="0">
                <a:solidFill>
                  <a:srgbClr val="5B6372"/>
                </a:solidFill>
                <a:latin typeface="Arial"/>
              </a:rPr>
              <a:t>A merge yields a column of tables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REVISION · RECOMMENDED COURSES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to Go Next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98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580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915668"/>
          </a:xfrm>
          <a:prstGeom prst="rect">
            <a:avLst/>
          </a:prstGeom>
          <a:noFill/>
        </p:spPr>
        <p:txBody>
          <a:bodyPr wrap="square" anchor="ctr">
            <a:spAutoFit/>
          </a:bodyPr>
          <a:lstStyle/>
          <a:p>
            <a:pPr algn="l">
              <a:spcAft>
                <a:spcPts val="300"/>
              </a:spcAft>
            </a:pPr>
            <a:r>
              <a:rPr sz="1600" b="1">
                <a:solidFill>
                  <a:srgbClr val="161B26"/>
                </a:solidFill>
                <a:latin typeface="Arial"/>
              </a:rPr>
              <a:t>WSQ - Data Analytics with Excel</a:t>
            </a:r>
          </a:p>
          <a:p>
            <a:pPr algn="l">
              <a:spcAft>
                <a:spcPts val="300"/>
              </a:spcAft>
            </a:pPr>
            <a:r>
              <a:rPr sz="1200" b="0">
                <a:solidFill>
                  <a:srgbClr val="5B6372"/>
                </a:solidFill>
                <a:latin typeface="Arial"/>
              </a:rPr>
              <a:t>PivotTables, charts and dashboards on the clean data you now know how to build.</a:t>
            </a:r>
          </a:p>
        </p:txBody>
      </p:sp>
      <p:sp>
        <p:nvSpPr>
          <p:cNvPr id="12" name="Rectangle 11"/>
          <p:cNvSpPr/>
          <p:nvPr/>
        </p:nvSpPr>
        <p:spPr>
          <a:xfrm>
            <a:off x="6231636"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985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580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915668"/>
          </a:xfrm>
          <a:prstGeom prst="rect">
            <a:avLst/>
          </a:prstGeom>
          <a:noFill/>
        </p:spPr>
        <p:txBody>
          <a:bodyPr wrap="square" anchor="ctr">
            <a:spAutoFit/>
          </a:bodyPr>
          <a:lstStyle/>
          <a:p>
            <a:pPr algn="l">
              <a:spcAft>
                <a:spcPts val="300"/>
              </a:spcAft>
            </a:pPr>
            <a:r>
              <a:rPr sz="1600" b="1">
                <a:solidFill>
                  <a:srgbClr val="161B26"/>
                </a:solidFill>
                <a:latin typeface="Arial"/>
              </a:rPr>
              <a:t>WSQ - Statistical Data Analysis with Excel for Beginners</a:t>
            </a:r>
          </a:p>
          <a:p>
            <a:pPr algn="l">
              <a:spcAft>
                <a:spcPts val="300"/>
              </a:spcAft>
            </a:pPr>
            <a:r>
              <a:rPr sz="1200" b="0">
                <a:solidFill>
                  <a:srgbClr val="5B6372"/>
                </a:solidFill>
                <a:latin typeface="Arial"/>
              </a:rPr>
              <a:t>Add descriptive statistics and significance testing to your analysis.</a:t>
            </a:r>
          </a:p>
        </p:txBody>
      </p:sp>
      <p:sp>
        <p:nvSpPr>
          <p:cNvPr id="17" name="Rectangle 16"/>
          <p:cNvSpPr/>
          <p:nvPr/>
        </p:nvSpPr>
        <p:spPr>
          <a:xfrm>
            <a:off x="777240"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19372"/>
            <a:ext cx="91440" cy="20985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9432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47388"/>
            <a:ext cx="3973068" cy="1915668"/>
          </a:xfrm>
          <a:prstGeom prst="rect">
            <a:avLst/>
          </a:prstGeom>
          <a:noFill/>
        </p:spPr>
        <p:txBody>
          <a:bodyPr wrap="square" anchor="ctr">
            <a:spAutoFit/>
          </a:bodyPr>
          <a:lstStyle/>
          <a:p>
            <a:pPr algn="l">
              <a:spcAft>
                <a:spcPts val="300"/>
              </a:spcAft>
            </a:pPr>
            <a:r>
              <a:rPr sz="1600" b="1">
                <a:solidFill>
                  <a:srgbClr val="161B26"/>
                </a:solidFill>
                <a:latin typeface="Arial"/>
              </a:rPr>
              <a:t>WSQ - Software Automation with Excel VBA Programming</a:t>
            </a:r>
          </a:p>
          <a:p>
            <a:pPr algn="l">
              <a:spcAft>
                <a:spcPts val="300"/>
              </a:spcAft>
            </a:pPr>
            <a:r>
              <a:rPr sz="1200" b="0">
                <a:solidFill>
                  <a:srgbClr val="5B6372"/>
                </a:solidFill>
                <a:latin typeface="Arial"/>
              </a:rPr>
              <a:t>Automate the steps Power Query cannot reach, with macros and VBA.</a:t>
            </a:r>
          </a:p>
        </p:txBody>
      </p:sp>
      <p:sp>
        <p:nvSpPr>
          <p:cNvPr id="22" name="Rectangle 21"/>
          <p:cNvSpPr/>
          <p:nvPr/>
        </p:nvSpPr>
        <p:spPr>
          <a:xfrm>
            <a:off x="6231636"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119372"/>
            <a:ext cx="91440" cy="20985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9432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47388"/>
            <a:ext cx="3973068" cy="1915668"/>
          </a:xfrm>
          <a:prstGeom prst="rect">
            <a:avLst/>
          </a:prstGeom>
          <a:noFill/>
        </p:spPr>
        <p:txBody>
          <a:bodyPr wrap="square" anchor="ctr">
            <a:spAutoFit/>
          </a:bodyPr>
          <a:lstStyle/>
          <a:p>
            <a:pPr algn="l">
              <a:spcAft>
                <a:spcPts val="300"/>
              </a:spcAft>
            </a:pPr>
            <a:r>
              <a:rPr sz="1600" b="1">
                <a:solidFill>
                  <a:srgbClr val="161B26"/>
                </a:solidFill>
                <a:latin typeface="Arial"/>
              </a:rPr>
              <a:t>WSQ - Create Interactive Dashboard Using Excel</a:t>
            </a:r>
          </a:p>
          <a:p>
            <a:pPr algn="l">
              <a:spcAft>
                <a:spcPts val="300"/>
              </a:spcAft>
            </a:pPr>
            <a:r>
              <a:rPr sz="1200" b="0">
                <a:solidFill>
                  <a:srgbClr val="5B6372"/>
                </a:solidFill>
                <a:latin typeface="Arial"/>
              </a:rPr>
              <a:t>Turn your Data Model into a slicer-driven interactive dashboard.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82296" cy="3529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1901952"/>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847088"/>
            <a:ext cx="1602486" cy="548640"/>
          </a:xfrm>
          <a:prstGeom prst="rect">
            <a:avLst/>
          </a:prstGeom>
          <a:noFill/>
        </p:spPr>
        <p:txBody>
          <a:bodyPr wrap="square" anchor="ctr">
            <a:spAutoFit/>
          </a:bodyPr>
          <a:lstStyle/>
          <a:p>
            <a:pPr algn="l">
              <a:spcAft>
                <a:spcPts val="400"/>
              </a:spcAft>
            </a:pPr>
            <a:r>
              <a:rPr sz="1400" b="1">
                <a:solidFill>
                  <a:srgbClr val="1F6FEB"/>
                </a:solidFill>
                <a:latin typeface="Arial"/>
              </a:rPr>
              <a:t>Written Assessment (WA)</a:t>
            </a:r>
          </a:p>
        </p:txBody>
      </p:sp>
      <p:sp>
        <p:nvSpPr>
          <p:cNvPr id="12" name="TextBox 11"/>
          <p:cNvSpPr txBox="1"/>
          <p:nvPr/>
        </p:nvSpPr>
        <p:spPr>
          <a:xfrm>
            <a:off x="914400"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Short-Answer Questions · 1 hour · open book.</a:t>
            </a:r>
          </a:p>
        </p:txBody>
      </p:sp>
      <p:sp>
        <p:nvSpPr>
          <p:cNvPr id="13" name="Rectangle 12"/>
          <p:cNvSpPr/>
          <p:nvPr/>
        </p:nvSpPr>
        <p:spPr>
          <a:xfrm>
            <a:off x="3431286"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31286" y="1719072"/>
            <a:ext cx="82296" cy="3529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50742" y="190195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0742"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181094" y="1847088"/>
            <a:ext cx="1602486" cy="548640"/>
          </a:xfrm>
          <a:prstGeom prst="rect">
            <a:avLst/>
          </a:prstGeom>
          <a:noFill/>
        </p:spPr>
        <p:txBody>
          <a:bodyPr wrap="square" anchor="ctr">
            <a:spAutoFit/>
          </a:bodyPr>
          <a:lstStyle/>
          <a:p>
            <a:pPr algn="l">
              <a:spcAft>
                <a:spcPts val="400"/>
              </a:spcAft>
            </a:pPr>
            <a:r>
              <a:rPr sz="1400" b="1">
                <a:solidFill>
                  <a:srgbClr val="10B981"/>
                </a:solidFill>
                <a:latin typeface="Arial"/>
              </a:rPr>
              <a:t>Practical Performance (PP)</a:t>
            </a:r>
          </a:p>
        </p:txBody>
      </p:sp>
      <p:sp>
        <p:nvSpPr>
          <p:cNvPr id="18" name="TextBox 17"/>
          <p:cNvSpPr txBox="1"/>
          <p:nvPr/>
        </p:nvSpPr>
        <p:spPr>
          <a:xfrm>
            <a:off x="3687318"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Hands-on Excel tasks · 1 hour · open book.</a:t>
            </a:r>
          </a:p>
        </p:txBody>
      </p:sp>
      <p:sp>
        <p:nvSpPr>
          <p:cNvPr id="19" name="Rectangle 18"/>
          <p:cNvSpPr/>
          <p:nvPr/>
        </p:nvSpPr>
        <p:spPr>
          <a:xfrm>
            <a:off x="6204204"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4204" y="1719072"/>
            <a:ext cx="82296" cy="3529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3660" y="190195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60"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6954012" y="1847088"/>
            <a:ext cx="1602486" cy="548640"/>
          </a:xfrm>
          <a:prstGeom prst="rect">
            <a:avLst/>
          </a:prstGeom>
          <a:noFill/>
        </p:spPr>
        <p:txBody>
          <a:bodyPr wrap="square" anchor="ctr">
            <a:spAutoFit/>
          </a:bodyPr>
          <a:lstStyle/>
          <a:p>
            <a:pPr algn="l">
              <a:spcAft>
                <a:spcPts val="400"/>
              </a:spcAft>
            </a:pPr>
            <a:r>
              <a:rPr sz="1400" b="1">
                <a:solidFill>
                  <a:srgbClr val="7C3AED"/>
                </a:solidFill>
                <a:latin typeface="Arial"/>
              </a:rPr>
              <a:t>Open book means</a:t>
            </a:r>
          </a:p>
        </p:txBody>
      </p:sp>
      <p:sp>
        <p:nvSpPr>
          <p:cNvPr id="24" name="TextBox 23"/>
          <p:cNvSpPr txBox="1"/>
          <p:nvPr/>
        </p:nvSpPr>
        <p:spPr>
          <a:xfrm>
            <a:off x="6460236"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Slides, Learner Guide and approved materials — no internet, no AI tools, no discussion.</a:t>
            </a:r>
          </a:p>
        </p:txBody>
      </p:sp>
      <p:sp>
        <p:nvSpPr>
          <p:cNvPr id="25" name="Rectangle 24"/>
          <p:cNvSpPr/>
          <p:nvPr/>
        </p:nvSpPr>
        <p:spPr>
          <a:xfrm>
            <a:off x="8977122" y="1719072"/>
            <a:ext cx="2516886" cy="3529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7122" y="1719072"/>
            <a:ext cx="82296" cy="3529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96578" y="1901952"/>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96578" y="190195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26930" y="1847088"/>
            <a:ext cx="1602486" cy="548640"/>
          </a:xfrm>
          <a:prstGeom prst="rect">
            <a:avLst/>
          </a:prstGeom>
          <a:noFill/>
        </p:spPr>
        <p:txBody>
          <a:bodyPr wrap="square" anchor="ctr">
            <a:spAutoFit/>
          </a:bodyPr>
          <a:lstStyle/>
          <a:p>
            <a:pPr algn="l">
              <a:spcAft>
                <a:spcPts val="400"/>
              </a:spcAft>
            </a:pPr>
            <a:r>
              <a:rPr sz="1400" b="1">
                <a:solidFill>
                  <a:srgbClr val="F59E0B"/>
                </a:solidFill>
                <a:latin typeface="Arial"/>
              </a:rPr>
              <a:t>Outcome</a:t>
            </a:r>
          </a:p>
        </p:txBody>
      </p:sp>
      <p:sp>
        <p:nvSpPr>
          <p:cNvPr id="30" name="TextBox 29"/>
          <p:cNvSpPr txBox="1"/>
          <p:nvPr/>
        </p:nvSpPr>
        <p:spPr>
          <a:xfrm>
            <a:off x="9233154" y="2432304"/>
            <a:ext cx="2023110" cy="2706624"/>
          </a:xfrm>
          <a:prstGeom prst="rect">
            <a:avLst/>
          </a:prstGeom>
          <a:noFill/>
        </p:spPr>
        <p:txBody>
          <a:bodyPr wrap="square" anchor="t">
            <a:spAutoFit/>
          </a:bodyPr>
          <a:lstStyle/>
          <a:p>
            <a:pPr algn="l">
              <a:spcAft>
                <a:spcPts val="400"/>
              </a:spcAft>
            </a:pPr>
            <a:r>
              <a:rPr sz="1100" b="0">
                <a:solidFill>
                  <a:srgbClr val="161B26"/>
                </a:solidFill>
                <a:latin typeface="Arial"/>
              </a:rPr>
              <a:t>Competent / Not Yet Competent, with one re-assessment opportunity.</a:t>
            </a:r>
          </a:p>
        </p:txBody>
      </p:sp>
      <p:sp>
        <p:nvSpPr>
          <p:cNvPr id="31" name="Rectangle 30"/>
          <p:cNvSpPr/>
          <p:nvPr/>
        </p:nvSpPr>
        <p:spPr>
          <a:xfrm>
            <a:off x="658368" y="5394960"/>
            <a:ext cx="10835640"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394960"/>
            <a:ext cx="100584" cy="8778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5486400"/>
            <a:ext cx="10287000" cy="274320"/>
          </a:xfrm>
          <a:prstGeom prst="rect">
            <a:avLst/>
          </a:prstGeom>
          <a:noFill/>
        </p:spPr>
        <p:txBody>
          <a:bodyPr wrap="square" anchor="t">
            <a:spAutoFit/>
          </a:bodyPr>
          <a:lstStyle/>
          <a:p>
            <a:pPr algn="l">
              <a:spcAft>
                <a:spcPts val="400"/>
              </a:spcAft>
            </a:pPr>
            <a:r>
              <a:rPr sz="1100" b="1">
                <a:solidFill>
                  <a:srgbClr val="F59E0B"/>
                </a:solidFill>
                <a:latin typeface="Arial"/>
              </a:rPr>
              <a:t>BEFORE YOU START</a:t>
            </a:r>
          </a:p>
        </p:txBody>
      </p:sp>
      <p:sp>
        <p:nvSpPr>
          <p:cNvPr id="34" name="TextBox 33"/>
          <p:cNvSpPr txBox="1"/>
          <p:nvPr/>
        </p:nvSpPr>
        <p:spPr>
          <a:xfrm>
            <a:off x="932688" y="5760720"/>
            <a:ext cx="10287000" cy="457200"/>
          </a:xfrm>
          <a:prstGeom prst="rect">
            <a:avLst/>
          </a:prstGeom>
          <a:noFill/>
        </p:spPr>
        <p:txBody>
          <a:bodyPr wrap="square" anchor="t">
            <a:spAutoFit/>
          </a:bodyPr>
          <a:lstStyle/>
          <a:p>
            <a:pPr algn="l">
              <a:spcAft>
                <a:spcPts val="400"/>
              </a:spcAft>
            </a:pPr>
            <a:r>
              <a:rPr sz="1200" b="0">
                <a:solidFill>
                  <a:srgbClr val="161B26"/>
                </a:solidFill>
                <a:latin typeface="Arial"/>
              </a:rPr>
              <a:t>Clear your desk, silence your phone, and use a black or blue pen for the hard-copy script.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996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9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Briefing</a:t>
            </a:r>
          </a:p>
        </p:txBody>
      </p:sp>
      <p:sp>
        <p:nvSpPr>
          <p:cNvPr id="12" name="TextBox 11"/>
          <p:cNvSpPr txBox="1"/>
          <p:nvPr/>
        </p:nvSpPr>
        <p:spPr>
          <a:xfrm>
            <a:off x="85039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Rules explained</a:t>
            </a:r>
          </a:p>
        </p:txBody>
      </p:sp>
      <p:cxnSp>
        <p:nvCxnSpPr>
          <p:cNvPr id="13" name="Connector 12"/>
          <p:cNvCxnSpPr/>
          <p:nvPr/>
        </p:nvCxnSpPr>
        <p:spPr>
          <a:xfrm>
            <a:off x="228447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1366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1366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638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5638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274167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268681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Assessment scan</a:t>
            </a:r>
          </a:p>
        </p:txBody>
      </p:sp>
      <p:cxnSp>
        <p:nvCxnSpPr>
          <p:cNvPr id="20" name="Connector 19"/>
          <p:cNvCxnSpPr/>
          <p:nvPr/>
        </p:nvCxnSpPr>
        <p:spPr>
          <a:xfrm>
            <a:off x="412089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5008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5008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9280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9280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457809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Written Assessment</a:t>
            </a:r>
          </a:p>
        </p:txBody>
      </p:sp>
      <p:sp>
        <p:nvSpPr>
          <p:cNvPr id="26" name="TextBox 25"/>
          <p:cNvSpPr txBox="1"/>
          <p:nvPr/>
        </p:nvSpPr>
        <p:spPr>
          <a:xfrm>
            <a:off x="452323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SAQ · 1 hour</a:t>
            </a:r>
          </a:p>
        </p:txBody>
      </p:sp>
      <p:cxnSp>
        <p:nvCxnSpPr>
          <p:cNvPr id="27" name="Connector 26"/>
          <p:cNvCxnSpPr/>
          <p:nvPr/>
        </p:nvCxnSpPr>
        <p:spPr>
          <a:xfrm>
            <a:off x="595731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8650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8650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2922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922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641451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Practical Performance</a:t>
            </a:r>
          </a:p>
        </p:txBody>
      </p:sp>
      <p:sp>
        <p:nvSpPr>
          <p:cNvPr id="33" name="TextBox 32"/>
          <p:cNvSpPr txBox="1"/>
          <p:nvPr/>
        </p:nvSpPr>
        <p:spPr>
          <a:xfrm>
            <a:off x="635965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Excel tasks · 1 hour</a:t>
            </a:r>
          </a:p>
        </p:txBody>
      </p:sp>
      <p:cxnSp>
        <p:nvCxnSpPr>
          <p:cNvPr id="34" name="Connector 33"/>
          <p:cNvCxnSpPr/>
          <p:nvPr/>
        </p:nvCxnSpPr>
        <p:spPr>
          <a:xfrm>
            <a:off x="779373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12292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2292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6564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564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825093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Marking &amp; Feedback</a:t>
            </a:r>
          </a:p>
        </p:txBody>
      </p:sp>
      <p:sp>
        <p:nvSpPr>
          <p:cNvPr id="40" name="TextBox 39"/>
          <p:cNvSpPr txBox="1"/>
          <p:nvPr/>
        </p:nvSpPr>
        <p:spPr>
          <a:xfrm>
            <a:off x="819607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Assessor reviews</a:t>
            </a:r>
          </a:p>
        </p:txBody>
      </p:sp>
      <p:cxnSp>
        <p:nvCxnSpPr>
          <p:cNvPr id="41" name="Connector 40"/>
          <p:cNvCxnSpPr/>
          <p:nvPr/>
        </p:nvCxnSpPr>
        <p:spPr>
          <a:xfrm>
            <a:off x="9630156" y="3223260"/>
            <a:ext cx="274320"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959340" y="2148840"/>
            <a:ext cx="145237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59340" y="2148840"/>
            <a:ext cx="1452372" cy="1005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402062" y="245973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0206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6</a:t>
            </a:r>
          </a:p>
        </p:txBody>
      </p:sp>
      <p:sp>
        <p:nvSpPr>
          <p:cNvPr id="46" name="TextBox 45"/>
          <p:cNvSpPr txBox="1"/>
          <p:nvPr/>
        </p:nvSpPr>
        <p:spPr>
          <a:xfrm>
            <a:off x="10087356" y="3118104"/>
            <a:ext cx="1196340" cy="859536"/>
          </a:xfrm>
          <a:prstGeom prst="rect">
            <a:avLst/>
          </a:prstGeom>
          <a:noFill/>
        </p:spPr>
        <p:txBody>
          <a:bodyPr wrap="square" anchor="ctr">
            <a:spAutoFit/>
          </a:bodyPr>
          <a:lstStyle/>
          <a:p>
            <a:pPr algn="ctr">
              <a:spcAft>
                <a:spcPts val="0"/>
              </a:spcAft>
            </a:pPr>
            <a:r>
              <a:rPr sz="1300" b="1">
                <a:solidFill>
                  <a:srgbClr val="161B26"/>
                </a:solidFill>
                <a:latin typeface="Arial"/>
              </a:rPr>
              <a:t>Sign-off</a:t>
            </a:r>
          </a:p>
        </p:txBody>
      </p:sp>
      <p:sp>
        <p:nvSpPr>
          <p:cNvPr id="47" name="TextBox 46"/>
          <p:cNvSpPr txBox="1"/>
          <p:nvPr/>
        </p:nvSpPr>
        <p:spPr>
          <a:xfrm>
            <a:off x="10032492" y="3730752"/>
            <a:ext cx="1306068" cy="512064"/>
          </a:xfrm>
          <a:prstGeom prst="rect">
            <a:avLst/>
          </a:prstGeom>
          <a:noFill/>
        </p:spPr>
        <p:txBody>
          <a:bodyPr wrap="square" anchor="ctr">
            <a:spAutoFit/>
          </a:bodyPr>
          <a:lstStyle/>
          <a:p>
            <a:pPr algn="ctr">
              <a:spcAft>
                <a:spcPts val="0"/>
              </a:spcAft>
            </a:pPr>
            <a:r>
              <a:rPr sz="900" b="0">
                <a:solidFill>
                  <a:srgbClr val="5B6372"/>
                </a:solidFill>
                <a:latin typeface="Arial"/>
              </a:rPr>
              <a:t>Competent / NYC</a:t>
            </a:r>
          </a:p>
        </p:txBody>
      </p:sp>
      <p:sp>
        <p:nvSpPr>
          <p:cNvPr id="48" name="Rectangle 47"/>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4608576"/>
            <a:ext cx="100584"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F59E0B"/>
                </a:solidFill>
                <a:latin typeface="Arial"/>
              </a:rPr>
              <a:t>SIGN-OFF</a:t>
            </a:r>
          </a:p>
        </p:txBody>
      </p:sp>
      <p:sp>
        <p:nvSpPr>
          <p:cNvPr id="51" name="TextBox 50"/>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assessor records the outcome, you sign the assessment record, and the result is released through the LMS/TMS portal.</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COURSE ADMIN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1783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30551"/>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3055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1" name="TextBox 10"/>
          <p:cNvSpPr txBox="1"/>
          <p:nvPr/>
        </p:nvSpPr>
        <p:spPr>
          <a:xfrm>
            <a:off x="1645920" y="2148839"/>
            <a:ext cx="4114800" cy="411480"/>
          </a:xfrm>
          <a:prstGeom prst="rect">
            <a:avLst/>
          </a:prstGeom>
          <a:noFill/>
        </p:spPr>
        <p:txBody>
          <a:bodyPr wrap="square" anchor="t">
            <a:spAutoFit/>
          </a:bodyPr>
          <a:lstStyle/>
          <a:p>
            <a:pPr algn="l">
              <a:spcAft>
                <a:spcPts val="400"/>
              </a:spcAft>
            </a:pPr>
            <a:r>
              <a:rPr sz="1500" b="1">
                <a:solidFill>
                  <a:srgbClr val="1F6FEB"/>
                </a:solidFill>
                <a:latin typeface="Arial"/>
              </a:rPr>
              <a:t>AM Attendance</a:t>
            </a:r>
          </a:p>
        </p:txBody>
      </p:sp>
      <p:sp>
        <p:nvSpPr>
          <p:cNvPr id="12" name="TextBox 11"/>
          <p:cNvSpPr txBox="1"/>
          <p:nvPr/>
        </p:nvSpPr>
        <p:spPr>
          <a:xfrm>
            <a:off x="1069848" y="271576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Scan at the start of each training day.</a:t>
            </a:r>
          </a:p>
        </p:txBody>
      </p:sp>
      <p:sp>
        <p:nvSpPr>
          <p:cNvPr id="13" name="Rectangle 12"/>
          <p:cNvSpPr/>
          <p:nvPr/>
        </p:nvSpPr>
        <p:spPr>
          <a:xfrm>
            <a:off x="6217920" y="187451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74519"/>
            <a:ext cx="91440" cy="1783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73952" y="2130551"/>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213055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17" name="TextBox 16"/>
          <p:cNvSpPr txBox="1"/>
          <p:nvPr/>
        </p:nvSpPr>
        <p:spPr>
          <a:xfrm>
            <a:off x="7086600" y="2148839"/>
            <a:ext cx="4114800" cy="411480"/>
          </a:xfrm>
          <a:prstGeom prst="rect">
            <a:avLst/>
          </a:prstGeom>
          <a:noFill/>
        </p:spPr>
        <p:txBody>
          <a:bodyPr wrap="square" anchor="t">
            <a:spAutoFit/>
          </a:bodyPr>
          <a:lstStyle/>
          <a:p>
            <a:pPr algn="l">
              <a:spcAft>
                <a:spcPts val="400"/>
              </a:spcAft>
            </a:pPr>
            <a:r>
              <a:rPr sz="1500" b="1">
                <a:solidFill>
                  <a:srgbClr val="10B981"/>
                </a:solidFill>
                <a:latin typeface="Arial"/>
              </a:rPr>
              <a:t>PM Attendance</a:t>
            </a:r>
          </a:p>
        </p:txBody>
      </p:sp>
      <p:sp>
        <p:nvSpPr>
          <p:cNvPr id="18" name="TextBox 17"/>
          <p:cNvSpPr txBox="1"/>
          <p:nvPr/>
        </p:nvSpPr>
        <p:spPr>
          <a:xfrm>
            <a:off x="6510528" y="271576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Scan after the lunch break.</a:t>
            </a:r>
          </a:p>
        </p:txBody>
      </p:sp>
      <p:sp>
        <p:nvSpPr>
          <p:cNvPr id="19" name="Rectangle 18"/>
          <p:cNvSpPr/>
          <p:nvPr/>
        </p:nvSpPr>
        <p:spPr>
          <a:xfrm>
            <a:off x="777240" y="402335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23359"/>
            <a:ext cx="91440" cy="1783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33272" y="4279391"/>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 y="427939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23" name="TextBox 22"/>
          <p:cNvSpPr txBox="1"/>
          <p:nvPr/>
        </p:nvSpPr>
        <p:spPr>
          <a:xfrm>
            <a:off x="1645920" y="4297679"/>
            <a:ext cx="4114800" cy="411480"/>
          </a:xfrm>
          <a:prstGeom prst="rect">
            <a:avLst/>
          </a:prstGeom>
          <a:noFill/>
        </p:spPr>
        <p:txBody>
          <a:bodyPr wrap="square" anchor="t">
            <a:spAutoFit/>
          </a:bodyPr>
          <a:lstStyle/>
          <a:p>
            <a:pPr algn="l">
              <a:spcAft>
                <a:spcPts val="400"/>
              </a:spcAft>
            </a:pPr>
            <a:r>
              <a:rPr sz="1500" b="1">
                <a:solidFill>
                  <a:srgbClr val="7C3AED"/>
                </a:solidFill>
                <a:latin typeface="Arial"/>
              </a:rPr>
              <a:t>Assessment Attendance</a:t>
            </a:r>
          </a:p>
        </p:txBody>
      </p:sp>
      <p:sp>
        <p:nvSpPr>
          <p:cNvPr id="24" name="TextBox 23"/>
          <p:cNvSpPr txBox="1"/>
          <p:nvPr/>
        </p:nvSpPr>
        <p:spPr>
          <a:xfrm>
            <a:off x="1069848" y="486460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Scan before the final assessment begins.</a:t>
            </a:r>
          </a:p>
        </p:txBody>
      </p:sp>
      <p:sp>
        <p:nvSpPr>
          <p:cNvPr id="25" name="Rectangle 24"/>
          <p:cNvSpPr/>
          <p:nvPr/>
        </p:nvSpPr>
        <p:spPr>
          <a:xfrm>
            <a:off x="6217920" y="4023359"/>
            <a:ext cx="5193792"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4023359"/>
            <a:ext cx="91440" cy="1783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73952" y="4279391"/>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3952" y="4279391"/>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29" name="TextBox 28"/>
          <p:cNvSpPr txBox="1"/>
          <p:nvPr/>
        </p:nvSpPr>
        <p:spPr>
          <a:xfrm>
            <a:off x="7086600" y="4297679"/>
            <a:ext cx="4114800" cy="411480"/>
          </a:xfrm>
          <a:prstGeom prst="rect">
            <a:avLst/>
          </a:prstGeom>
          <a:noFill/>
        </p:spPr>
        <p:txBody>
          <a:bodyPr wrap="square" anchor="t">
            <a:spAutoFit/>
          </a:bodyPr>
          <a:lstStyle/>
          <a:p>
            <a:pPr algn="l">
              <a:spcAft>
                <a:spcPts val="400"/>
              </a:spcAft>
            </a:pPr>
            <a:r>
              <a:rPr sz="1500" b="1">
                <a:solidFill>
                  <a:srgbClr val="F59E0B"/>
                </a:solidFill>
                <a:latin typeface="Arial"/>
              </a:rPr>
              <a:t>75% Minimum</a:t>
            </a:r>
          </a:p>
        </p:txBody>
      </p:sp>
      <p:sp>
        <p:nvSpPr>
          <p:cNvPr id="30" name="TextBox 29"/>
          <p:cNvSpPr txBox="1"/>
          <p:nvPr/>
        </p:nvSpPr>
        <p:spPr>
          <a:xfrm>
            <a:off x="6510528" y="4864607"/>
            <a:ext cx="4663440" cy="914400"/>
          </a:xfrm>
          <a:prstGeom prst="rect">
            <a:avLst/>
          </a:prstGeom>
          <a:noFill/>
        </p:spPr>
        <p:txBody>
          <a:bodyPr wrap="square" anchor="t">
            <a:spAutoFit/>
          </a:bodyPr>
          <a:lstStyle/>
          <a:p>
            <a:pPr algn="l">
              <a:spcAft>
                <a:spcPts val="400"/>
              </a:spcAft>
            </a:pPr>
            <a:r>
              <a:rPr sz="1250" b="0">
                <a:solidFill>
                  <a:srgbClr val="161B26"/>
                </a:solidFill>
                <a:latin typeface="Arial"/>
              </a:rPr>
              <a:t>Attendance below 75% forfeits funding and certification.</a:t>
            </a:r>
          </a:p>
        </p:txBody>
      </p:sp>
      <p:sp>
        <p:nvSpPr>
          <p:cNvPr id="31" name="TextBox 30"/>
          <p:cNvSpPr txBox="1"/>
          <p:nvPr/>
        </p:nvSpPr>
        <p:spPr>
          <a:xfrm>
            <a:off x="777240" y="5943600"/>
            <a:ext cx="10634472" cy="457200"/>
          </a:xfrm>
          <a:prstGeom prst="rect">
            <a:avLst/>
          </a:prstGeom>
          <a:noFill/>
        </p:spPr>
        <p:txBody>
          <a:bodyPr wrap="square" anchor="t">
            <a:spAutoFit/>
          </a:bodyPr>
          <a:lstStyle/>
          <a:p>
            <a:pPr algn="l">
              <a:spcAft>
                <a:spcPts val="400"/>
              </a:spcAft>
            </a:pPr>
            <a:r>
              <a:rPr sz="1200" b="0">
                <a:solidFill>
                  <a:srgbClr val="5B6372"/>
                </a:solidFill>
                <a:latin typeface="Arial"/>
              </a:rPr>
              <a:t>The trainer will display the SSG digital attendance QR code — scan it with your phone camera and submit.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CLOSING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Certificate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640080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0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883664"/>
            <a:ext cx="4937760" cy="2926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883664"/>
            <a:ext cx="4754880" cy="292608"/>
          </a:xfrm>
          <a:prstGeom prst="rect">
            <a:avLst/>
          </a:prstGeom>
          <a:noFill/>
        </p:spPr>
        <p:txBody>
          <a:bodyPr wrap="square" anchor="ctr">
            <a:spAutoFit/>
          </a:bodyPr>
          <a:lstStyle/>
          <a:p>
            <a:pPr algn="l">
              <a:spcAft>
                <a:spcPts val="400"/>
              </a:spcAft>
            </a:pPr>
            <a:r>
              <a:rPr sz="1050" b="0">
                <a:solidFill>
                  <a:srgbClr val="5B6372"/>
                </a:solidFill>
                <a:latin typeface="Arial"/>
              </a:rPr>
              <a:t>https://lms-tms.tertiaryinfotech.com</a:t>
            </a:r>
          </a:p>
        </p:txBody>
      </p:sp>
      <p:sp>
        <p:nvSpPr>
          <p:cNvPr id="14" name="Rectangle 13"/>
          <p:cNvSpPr/>
          <p:nvPr/>
        </p:nvSpPr>
        <p:spPr>
          <a:xfrm>
            <a:off x="1051560" y="2468880"/>
            <a:ext cx="58521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468880"/>
            <a:ext cx="5486400" cy="457200"/>
          </a:xfrm>
          <a:prstGeom prst="rect">
            <a:avLst/>
          </a:prstGeom>
          <a:noFill/>
        </p:spPr>
        <p:txBody>
          <a:bodyPr wrap="square" anchor="ctr">
            <a:spAutoFit/>
          </a:bodyPr>
          <a:lstStyle/>
          <a:p>
            <a:pPr algn="l">
              <a:spcAft>
                <a:spcPts val="400"/>
              </a:spcAft>
            </a:pPr>
            <a:r>
              <a:rPr sz="1200" b="1">
                <a:solidFill>
                  <a:srgbClr val="FFFFFF"/>
                </a:solidFill>
                <a:latin typeface="Arial"/>
              </a:rPr>
              <a:t>Excel Power Query and Power Pivot</a:t>
            </a:r>
          </a:p>
        </p:txBody>
      </p:sp>
      <p:sp>
        <p:nvSpPr>
          <p:cNvPr id="16" name="Rectangle 15"/>
          <p:cNvSpPr/>
          <p:nvPr/>
        </p:nvSpPr>
        <p:spPr>
          <a:xfrm>
            <a:off x="1051560" y="3081528"/>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51560" y="3081528"/>
            <a:ext cx="64008"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3081528"/>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Trainer Slides (PPT)</a:t>
            </a:r>
          </a:p>
        </p:txBody>
      </p:sp>
      <p:sp>
        <p:nvSpPr>
          <p:cNvPr id="19" name="Rectangle 18"/>
          <p:cNvSpPr/>
          <p:nvPr/>
        </p:nvSpPr>
        <p:spPr>
          <a:xfrm>
            <a:off x="1051560" y="3648456"/>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1560" y="3648456"/>
            <a:ext cx="64008"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3648456"/>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Learner Guide (PDF)</a:t>
            </a:r>
          </a:p>
        </p:txBody>
      </p:sp>
      <p:sp>
        <p:nvSpPr>
          <p:cNvPr id="22" name="Rectangle 21"/>
          <p:cNvSpPr/>
          <p:nvPr/>
        </p:nvSpPr>
        <p:spPr>
          <a:xfrm>
            <a:off x="1051560" y="4215384"/>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51560" y="4215384"/>
            <a:ext cx="64008"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4215384"/>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Lesson Plan (PDF)</a:t>
            </a:r>
          </a:p>
        </p:txBody>
      </p:sp>
      <p:sp>
        <p:nvSpPr>
          <p:cNvPr id="25" name="Rectangle 24"/>
          <p:cNvSpPr/>
          <p:nvPr/>
        </p:nvSpPr>
        <p:spPr>
          <a:xfrm>
            <a:off x="1051560" y="4782312"/>
            <a:ext cx="585216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1560" y="4782312"/>
            <a:ext cx="64008"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0160" y="4782312"/>
            <a:ext cx="5486400" cy="457200"/>
          </a:xfrm>
          <a:prstGeom prst="rect">
            <a:avLst/>
          </a:prstGeom>
          <a:noFill/>
        </p:spPr>
        <p:txBody>
          <a:bodyPr wrap="square" anchor="ctr">
            <a:spAutoFit/>
          </a:bodyPr>
          <a:lstStyle/>
          <a:p>
            <a:pPr algn="l">
              <a:spcAft>
                <a:spcPts val="400"/>
              </a:spcAft>
            </a:pPr>
            <a:r>
              <a:rPr sz="1100" b="0">
                <a:solidFill>
                  <a:srgbClr val="161B26"/>
                </a:solidFill>
                <a:latin typeface="Arial"/>
              </a:rPr>
              <a:t>Activities / Lab Files</a:t>
            </a:r>
          </a:p>
        </p:txBody>
      </p:sp>
      <p:sp>
        <p:nvSpPr>
          <p:cNvPr id="28" name="Rectangle 27"/>
          <p:cNvSpPr/>
          <p:nvPr/>
        </p:nvSpPr>
        <p:spPr>
          <a:xfrm>
            <a:off x="7452360" y="1783080"/>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452360" y="1783080"/>
            <a:ext cx="8229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71816" y="191109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71816" y="191109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32" name="TextBox 31"/>
          <p:cNvSpPr txBox="1"/>
          <p:nvPr/>
        </p:nvSpPr>
        <p:spPr>
          <a:xfrm>
            <a:off x="8147304" y="1874520"/>
            <a:ext cx="3090672" cy="310896"/>
          </a:xfrm>
          <a:prstGeom prst="rect">
            <a:avLst/>
          </a:prstGeom>
          <a:noFill/>
        </p:spPr>
        <p:txBody>
          <a:bodyPr wrap="square" anchor="t">
            <a:spAutoFit/>
          </a:bodyPr>
          <a:lstStyle/>
          <a:p>
            <a:pPr algn="l">
              <a:spcAft>
                <a:spcPts val="400"/>
              </a:spcAft>
            </a:pPr>
            <a:r>
              <a:rPr sz="1200" b="1">
                <a:solidFill>
                  <a:srgbClr val="1F6FEB"/>
                </a:solidFill>
                <a:latin typeface="Arial"/>
              </a:rPr>
              <a:t>Log in to the portal</a:t>
            </a:r>
          </a:p>
        </p:txBody>
      </p:sp>
      <p:sp>
        <p:nvSpPr>
          <p:cNvPr id="33" name="TextBox 32"/>
          <p:cNvSpPr txBox="1"/>
          <p:nvPr/>
        </p:nvSpPr>
        <p:spPr>
          <a:xfrm>
            <a:off x="7726680" y="2203704"/>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Use your course account.</a:t>
            </a:r>
          </a:p>
        </p:txBody>
      </p:sp>
      <p:sp>
        <p:nvSpPr>
          <p:cNvPr id="34" name="Rectangle 33"/>
          <p:cNvSpPr/>
          <p:nvPr/>
        </p:nvSpPr>
        <p:spPr>
          <a:xfrm>
            <a:off x="7452360" y="2770632"/>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52360" y="2770632"/>
            <a:ext cx="82296"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71816" y="289864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71816" y="28986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38" name="TextBox 37"/>
          <p:cNvSpPr txBox="1"/>
          <p:nvPr/>
        </p:nvSpPr>
        <p:spPr>
          <a:xfrm>
            <a:off x="8147304" y="2862072"/>
            <a:ext cx="3090672" cy="310896"/>
          </a:xfrm>
          <a:prstGeom prst="rect">
            <a:avLst/>
          </a:prstGeom>
          <a:noFill/>
        </p:spPr>
        <p:txBody>
          <a:bodyPr wrap="square" anchor="t">
            <a:spAutoFit/>
          </a:bodyPr>
          <a:lstStyle/>
          <a:p>
            <a:pPr algn="l">
              <a:spcAft>
                <a:spcPts val="400"/>
              </a:spcAft>
            </a:pPr>
            <a:r>
              <a:rPr sz="1200" b="1">
                <a:solidFill>
                  <a:srgbClr val="10B981"/>
                </a:solidFill>
                <a:latin typeface="Arial"/>
              </a:rPr>
              <a:t>Complete the TRAQOM survey</a:t>
            </a:r>
          </a:p>
        </p:txBody>
      </p:sp>
      <p:sp>
        <p:nvSpPr>
          <p:cNvPr id="39" name="TextBox 38"/>
          <p:cNvSpPr txBox="1"/>
          <p:nvPr/>
        </p:nvSpPr>
        <p:spPr>
          <a:xfrm>
            <a:off x="7726680" y="3191256"/>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Mandatory SSG course-quality feedback.</a:t>
            </a:r>
          </a:p>
        </p:txBody>
      </p:sp>
      <p:sp>
        <p:nvSpPr>
          <p:cNvPr id="40" name="Rectangle 39"/>
          <p:cNvSpPr/>
          <p:nvPr/>
        </p:nvSpPr>
        <p:spPr>
          <a:xfrm>
            <a:off x="7452360" y="3758184"/>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52360" y="3758184"/>
            <a:ext cx="82296"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671816" y="388620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71816" y="38862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44" name="TextBox 43"/>
          <p:cNvSpPr txBox="1"/>
          <p:nvPr/>
        </p:nvSpPr>
        <p:spPr>
          <a:xfrm>
            <a:off x="8147304" y="3849624"/>
            <a:ext cx="3090672" cy="310896"/>
          </a:xfrm>
          <a:prstGeom prst="rect">
            <a:avLst/>
          </a:prstGeom>
          <a:noFill/>
        </p:spPr>
        <p:txBody>
          <a:bodyPr wrap="square" anchor="t">
            <a:spAutoFit/>
          </a:bodyPr>
          <a:lstStyle/>
          <a:p>
            <a:pPr algn="l">
              <a:spcAft>
                <a:spcPts val="400"/>
              </a:spcAft>
            </a:pPr>
            <a:r>
              <a:rPr sz="1200" b="1">
                <a:solidFill>
                  <a:srgbClr val="7C3AED"/>
                </a:solidFill>
                <a:latin typeface="Arial"/>
              </a:rPr>
              <a:t>Download your certificate</a:t>
            </a:r>
          </a:p>
        </p:txBody>
      </p:sp>
      <p:sp>
        <p:nvSpPr>
          <p:cNvPr id="45" name="TextBox 44"/>
          <p:cNvSpPr txBox="1"/>
          <p:nvPr/>
        </p:nvSpPr>
        <p:spPr>
          <a:xfrm>
            <a:off x="7726680" y="4178808"/>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Issued once assessed Competent.</a:t>
            </a:r>
          </a:p>
        </p:txBody>
      </p:sp>
      <p:sp>
        <p:nvSpPr>
          <p:cNvPr id="46" name="Rectangle 45"/>
          <p:cNvSpPr/>
          <p:nvPr/>
        </p:nvSpPr>
        <p:spPr>
          <a:xfrm>
            <a:off x="7452360" y="4745736"/>
            <a:ext cx="395935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52360" y="4745736"/>
            <a:ext cx="82296"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671816" y="487375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71816" y="487375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50" name="TextBox 49"/>
          <p:cNvSpPr txBox="1"/>
          <p:nvPr/>
        </p:nvSpPr>
        <p:spPr>
          <a:xfrm>
            <a:off x="8147304" y="4837176"/>
            <a:ext cx="3090672" cy="310896"/>
          </a:xfrm>
          <a:prstGeom prst="rect">
            <a:avLst/>
          </a:prstGeom>
          <a:noFill/>
        </p:spPr>
        <p:txBody>
          <a:bodyPr wrap="square" anchor="t">
            <a:spAutoFit/>
          </a:bodyPr>
          <a:lstStyle/>
          <a:p>
            <a:pPr algn="l">
              <a:spcAft>
                <a:spcPts val="400"/>
              </a:spcAft>
            </a:pPr>
            <a:r>
              <a:rPr sz="1200" b="1">
                <a:solidFill>
                  <a:srgbClr val="F59E0B"/>
                </a:solidFill>
                <a:latin typeface="Arial"/>
              </a:rPr>
              <a:t>Keep the courseware</a:t>
            </a:r>
          </a:p>
        </p:txBody>
      </p:sp>
      <p:sp>
        <p:nvSpPr>
          <p:cNvPr id="51" name="TextBox 50"/>
          <p:cNvSpPr txBox="1"/>
          <p:nvPr/>
        </p:nvSpPr>
        <p:spPr>
          <a:xfrm>
            <a:off x="7726680" y="5166360"/>
            <a:ext cx="3456432" cy="457200"/>
          </a:xfrm>
          <a:prstGeom prst="rect">
            <a:avLst/>
          </a:prstGeom>
          <a:noFill/>
        </p:spPr>
        <p:txBody>
          <a:bodyPr wrap="square" anchor="t">
            <a:spAutoFit/>
          </a:bodyPr>
          <a:lstStyle/>
          <a:p>
            <a:pPr algn="l">
              <a:spcAft>
                <a:spcPts val="400"/>
              </a:spcAft>
            </a:pPr>
            <a:r>
              <a:rPr sz="1050" b="0">
                <a:solidFill>
                  <a:srgbClr val="161B26"/>
                </a:solidFill>
                <a:latin typeface="Arial"/>
              </a:rPr>
              <a:t>Slides, guide and labs stay available to you.</a:t>
            </a:r>
          </a:p>
        </p:txBody>
      </p:sp>
      <p:sp>
        <p:nvSpPr>
          <p:cNvPr id="52" name="Rectangle 51"/>
          <p:cNvSpPr/>
          <p:nvPr/>
        </p:nvSpPr>
        <p:spPr>
          <a:xfrm>
            <a:off x="777240" y="585216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1560" y="5907024"/>
            <a:ext cx="10149840" cy="438912"/>
          </a:xfrm>
          <a:prstGeom prst="rect">
            <a:avLst/>
          </a:prstGeom>
          <a:noFill/>
        </p:spPr>
        <p:txBody>
          <a:bodyPr wrap="square" anchor="t">
            <a:spAutoFit/>
          </a:bodyPr>
          <a:lstStyle/>
          <a:p>
            <a:pPr algn="l">
              <a:spcAft>
                <a:spcPts val="400"/>
              </a:spcAft>
            </a:pPr>
            <a:r>
              <a:rPr sz="1200" b="0">
                <a:solidFill>
                  <a:srgbClr val="5B6372"/>
                </a:solidFill>
                <a:latin typeface="Arial"/>
              </a:rPr>
              <a:t>The TRAQOM survey is mandatory for WSQ funded courses — please complete it before you leave.</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CLOSING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98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580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985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580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580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19372"/>
            <a:ext cx="91440" cy="20985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9432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119372"/>
            <a:ext cx="5180076" cy="20985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119372"/>
            <a:ext cx="91440" cy="20985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9432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9432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47388"/>
            <a:ext cx="3973068" cy="1915668"/>
          </a:xfrm>
          <a:prstGeom prst="rect">
            <a:avLst/>
          </a:prstGeom>
          <a:noFill/>
        </p:spPr>
        <p:txBody>
          <a:bodyPr wrap="square" anchor="ctr">
            <a:spAutoFit/>
          </a:bodyPr>
          <a:lstStyle/>
          <a:p>
            <a:pPr algn="l">
              <a:spcAft>
                <a:spcPts val="300"/>
              </a:spcAft>
            </a:pPr>
            <a:r>
              <a:rPr sz="1700" b="1">
                <a:solidFill>
                  <a:srgbClr val="161B26"/>
                </a:solidFill>
                <a:latin typeface="Arial"/>
              </a:rPr>
              <a:t>LMS / TMS</a:t>
            </a:r>
          </a:p>
          <a:p>
            <a:pPr algn="l">
              <a:spcAft>
                <a:spcPts val="300"/>
              </a:spcAft>
            </a:pPr>
            <a:r>
              <a:rPr sz="1300" b="0">
                <a:solidFill>
                  <a:srgbClr val="5B6372"/>
                </a:solidFill>
                <a:latin typeface="Arial"/>
              </a:rPr>
              <a:t>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377440"/>
            <a:ext cx="10241280" cy="1463040"/>
          </a:xfrm>
          <a:prstGeom prst="rect">
            <a:avLst/>
          </a:prstGeom>
          <a:noFill/>
        </p:spPr>
        <p:txBody>
          <a:bodyPr wrap="square" anchor="t">
            <a:spAutoFit/>
          </a:bodyPr>
          <a:lstStyle/>
          <a:p>
            <a:pPr algn="l">
              <a:spcAft>
                <a:spcPts val="400"/>
              </a:spcAft>
            </a:pPr>
            <a:r>
              <a:rPr sz="5400" b="1">
                <a:solidFill>
                  <a:srgbClr val="161B26"/>
                </a:solidFill>
                <a:latin typeface="Arial"/>
              </a:rPr>
              <a:t>Thank You!</a:t>
            </a:r>
          </a:p>
        </p:txBody>
      </p:sp>
      <p:sp>
        <p:nvSpPr>
          <p:cNvPr id="6" name="TextBox 5"/>
          <p:cNvSpPr txBox="1"/>
          <p:nvPr/>
        </p:nvSpPr>
        <p:spPr>
          <a:xfrm>
            <a:off x="1024128" y="3749039"/>
            <a:ext cx="10241280" cy="640080"/>
          </a:xfrm>
          <a:prstGeom prst="rect">
            <a:avLst/>
          </a:prstGeom>
          <a:noFill/>
        </p:spPr>
        <p:txBody>
          <a:bodyPr wrap="square" anchor="t">
            <a:spAutoFit/>
          </a:bodyPr>
          <a:lstStyle/>
          <a:p>
            <a:pPr algn="l">
              <a:spcAft>
                <a:spcPts val="400"/>
              </a:spcAft>
            </a:pPr>
            <a:r>
              <a:rPr sz="2000" b="0">
                <a:solidFill>
                  <a:srgbClr val="5B6372"/>
                </a:solidFill>
                <a:latin typeface="Arial"/>
              </a:rPr>
              <a:t>We hope Power Query and Power Pivot save you many hours a month.</a:t>
            </a:r>
          </a:p>
        </p:txBody>
      </p:sp>
      <p:sp>
        <p:nvSpPr>
          <p:cNvPr id="7" name="Rectangle 6"/>
          <p:cNvSpPr/>
          <p:nvPr/>
        </p:nvSpPr>
        <p:spPr>
          <a:xfrm>
            <a:off x="102412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846320"/>
            <a:ext cx="10241280" cy="914400"/>
          </a:xfrm>
          <a:prstGeom prst="rect">
            <a:avLst/>
          </a:prstGeom>
          <a:noFill/>
        </p:spPr>
        <p:txBody>
          <a:bodyPr wrap="square" anchor="t">
            <a:spAutoFit/>
          </a:bodyPr>
          <a:lstStyle/>
          <a:p>
            <a:pPr algn="l">
              <a:spcAft>
                <a:spcPts val="600"/>
              </a:spcAft>
            </a:pPr>
            <a:r>
              <a:rPr sz="1400" b="0">
                <a:solidFill>
                  <a:srgbClr val="5B6372"/>
                </a:solidFill>
                <a:latin typeface="Arial"/>
              </a:rPr>
              <a:t>Tertiary Infotech Academy Pte Ltd  ·  UEN: 201200696W</a:t>
            </a:r>
          </a:p>
          <a:p>
            <a:pPr algn="l">
              <a:spcAft>
                <a:spcPts val="600"/>
              </a:spcAft>
            </a:pPr>
            <a:r>
              <a:rPr sz="1300" b="0">
                <a:solidFill>
                  <a:srgbClr val="5B6372"/>
                </a:solidFill>
                <a:latin typeface="Arial"/>
              </a:rPr>
              <a:t>www.tertiarycourses.com.sg  ·  enquiry@tertiaryinfotech.com  ·  +65 6100 0613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Excel Power Query and Power Pivot  ·  TGS-2026064177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